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E2A33"/>
                </a:solidFill>
                <a:latin typeface="Calibri"/>
              </a:defRPr>
            </a:pPr>
            <a:r>
              <a:rPr sz="1150" b="0" i="0" u="none" strike="noStrike">
                <a:solidFill>
                  <a:srgbClr val="0E2A33"/>
                </a:solidFill>
                <a:latin typeface="Calibri"/>
              </a:rPr>
              <a:t>Network demand, weekly units</a:t>
            </a:r>
          </a:p>
        </c:rich>
      </c:tx>
      <c:layout/>
      <c:overlay val="0"/>
    </c:title>
    <c:autoTitleDeleted val="0"/>
    <c:plotArea>
      <c:layout/>
      <c:lineChart>
        <c:varyColors val="0"/>
        <c:ser>
          <c:idx val="0"/>
          <c:order val="0"/>
          <c:tx>
            <c:strRef>
              <c:f>Sheet1!$B$1</c:f>
              <c:strCache>
                <c:ptCount val="1"/>
                <c:pt idx="0">
                  <c:v>Actual</c:v>
                </c:pt>
              </c:strCache>
            </c:strRef>
          </c:tx>
          <c:spPr>
            <a:solidFill>
              <a:srgbClr val="61737C"/>
            </a:solidFill>
            <a:ln w="30480" cap="flat">
              <a:solidFill>
                <a:srgbClr val="61737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1737C"/>
              </a:solidFill>
              <a:ln w="9525" cap="flat">
                <a:solidFill>
                  <a:srgbClr val="61737C"/>
                </a:solidFill>
                <a:prstDash val="solid"/>
                <a:round/>
              </a:ln>
              <a:effectLst/>
            </c:spPr>
          </c:marker>
          <c:cat>
            <c:multiLvlStrRef>
              <c:f>Sheet1!$A$2:$A$31</c:f>
              <c:multiLvlStrCache>
                <c:ptCount val="30"/>
                <c:lvl>
                  <c:pt idx="0">
                    <c:v>03-18</c:v>
                  </c:pt>
                  <c:pt idx="1">
                    <c:v>03-25</c:v>
                  </c:pt>
                  <c:pt idx="2">
                    <c:v>04-01</c:v>
                  </c:pt>
                  <c:pt idx="3">
                    <c:v>04-08</c:v>
                  </c:pt>
                  <c:pt idx="4">
                    <c:v>04-15</c:v>
                  </c:pt>
                  <c:pt idx="5">
                    <c:v>04-22</c:v>
                  </c:pt>
                  <c:pt idx="6">
                    <c:v>04-29</c:v>
                  </c:pt>
                  <c:pt idx="7">
                    <c:v>05-06</c:v>
                  </c:pt>
                  <c:pt idx="8">
                    <c:v>05-13</c:v>
                  </c:pt>
                  <c:pt idx="9">
                    <c:v>05-20</c:v>
                  </c:pt>
                  <c:pt idx="10">
                    <c:v>05-27</c:v>
                  </c:pt>
                  <c:pt idx="11">
                    <c:v>06-03</c:v>
                  </c:pt>
                  <c:pt idx="12">
                    <c:v>06-10</c:v>
                  </c:pt>
                  <c:pt idx="13">
                    <c:v>06-17</c:v>
                  </c:pt>
                  <c:pt idx="14">
                    <c:v>06-24</c:v>
                  </c:pt>
                  <c:pt idx="15">
                    <c:v>07-01</c:v>
                  </c:pt>
                  <c:pt idx="16">
                    <c:v>07-08</c:v>
                  </c:pt>
                  <c:pt idx="17">
                    <c:v>07-15</c:v>
                  </c:pt>
                  <c:pt idx="18">
                    <c:v>07-22</c:v>
                  </c:pt>
                  <c:pt idx="19">
                    <c:v>07-29</c:v>
                  </c:pt>
                  <c:pt idx="20">
                    <c:v>08-05</c:v>
                  </c:pt>
                  <c:pt idx="21">
                    <c:v>08-12</c:v>
                  </c:pt>
                  <c:pt idx="22">
                    <c:v>08-19</c:v>
                  </c:pt>
                  <c:pt idx="23">
                    <c:v>08-26</c:v>
                  </c:pt>
                  <c:pt idx="24">
                    <c:v>09-02</c:v>
                  </c:pt>
                  <c:pt idx="25">
                    <c:v>09-09</c:v>
                  </c:pt>
                  <c:pt idx="26">
                    <c:v>09-16</c:v>
                  </c:pt>
                  <c:pt idx="27">
                    <c:v>09-23</c:v>
                  </c:pt>
                  <c:pt idx="28">
                    <c:v>09-30</c:v>
                  </c:pt>
                  <c:pt idx="29">
                    <c:v>10-07</c:v>
                  </c:pt>
                </c:lvl>
              </c:multiLvlStrCache>
            </c:multiLvlStrRef>
          </c:cat>
          <c:val>
            <c:numRef>
              <c:f>Sheet1!$B$2:$B$31</c:f>
              <c:numCache>
                <c:formatCode>General</c:formatCode>
                <c:ptCount val="30"/>
                <c:pt idx="0">
                  <c:v>24504</c:v>
                </c:pt>
                <c:pt idx="1">
                  <c:v>24666</c:v>
                </c:pt>
                <c:pt idx="2">
                  <c:v>26793</c:v>
                </c:pt>
                <c:pt idx="3">
                  <c:v>25805</c:v>
                </c:pt>
                <c:pt idx="4">
                  <c:v>25864</c:v>
                </c:pt>
                <c:pt idx="5">
                  <c:v>25703</c:v>
                </c:pt>
                <c:pt idx="6">
                  <c:v>26771</c:v>
                </c:pt>
                <c:pt idx="7">
                  <c:v>28887</c:v>
                </c:pt>
                <c:pt idx="8">
                  <c:v>28420</c:v>
                </c:pt>
                <c:pt idx="9">
                  <c:v>31094</c:v>
                </c:pt>
                <c:pt idx="10">
                  <c:v>28956</c:v>
                </c:pt>
                <c:pt idx="11">
                  <c:v>31489</c:v>
                </c:pt>
                <c:pt idx="12">
                  <c:v>28858</c:v>
                </c:pt>
                <c:pt idx="13">
                  <c:v>31436</c:v>
                </c:pt>
                <c:pt idx="14">
                  <c:v>31757</c:v>
                </c:pt>
                <c:pt idx="15">
                  <c:v>33276</c:v>
                </c:pt>
                <c:pt idx="16">
                  <c:v>32911</c:v>
                </c:pt>
                <c:pt idx="17">
                  <c:v>35664</c:v>
                </c:pt>
                <c:pt idx="18">
                  <c:v>34479</c:v>
                </c:pt>
                <c:pt idx="19">
                  <c:v>33788</c:v>
                </c:pt>
                <c:pt idx="20">
                  <c:v>35207</c:v>
                </c:pt>
                <c:pt idx="21">
                  <c:v>36758</c:v>
                </c:pt>
                <c:pt idx="22">
                  <c:v>35755</c:v>
                </c:pt>
                <c:pt idx="23">
                  <c:v>40610</c:v>
                </c:pt>
                <c:pt idx="24">
                  <c:v>37815</c:v>
                </c:pt>
                <c:pt idx="25">
                  <c:v>34329</c:v>
                </c:pt>
                <c:pt idx="26">
                  <c:v/>
                </c:pt>
                <c:pt idx="27">
                  <c:v/>
                </c:pt>
                <c:pt idx="28">
                  <c:v/>
                </c:pt>
                <c:pt idx="29">
                  <c:v/>
                </c:pt>
              </c:numCache>
            </c:numRef>
          </c:val>
          <c:smooth val="0"/>
        </c:ser>
        <c:ser>
          <c:idx val="1"/>
          <c:order val="1"/>
          <c:tx>
            <c:strRef>
              <c:f>Sheet1!$C$1</c:f>
              <c:strCache>
                <c:ptCount val="1"/>
                <c:pt idx="0">
                  <c:v>Forecast</c:v>
                </c:pt>
              </c:strCache>
            </c:strRef>
          </c:tx>
          <c:spPr>
            <a:solidFill>
              <a:srgbClr val="0F8A7E"/>
            </a:solidFill>
            <a:ln w="30480" cap="flat">
              <a:solidFill>
                <a:srgbClr val="0F8A7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8A7E"/>
              </a:solidFill>
              <a:ln w="9525" cap="flat">
                <a:solidFill>
                  <a:srgbClr val="0F8A7E"/>
                </a:solidFill>
                <a:prstDash val="solid"/>
                <a:round/>
              </a:ln>
              <a:effectLst/>
            </c:spPr>
          </c:marker>
          <c:cat>
            <c:multiLvlStrRef>
              <c:f>Sheet1!$A$2:$A$31</c:f>
              <c:multiLvlStrCache>
                <c:ptCount val="30"/>
                <c:lvl>
                  <c:pt idx="0">
                    <c:v>03-18</c:v>
                  </c:pt>
                  <c:pt idx="1">
                    <c:v>03-25</c:v>
                  </c:pt>
                  <c:pt idx="2">
                    <c:v>04-01</c:v>
                  </c:pt>
                  <c:pt idx="3">
                    <c:v>04-08</c:v>
                  </c:pt>
                  <c:pt idx="4">
                    <c:v>04-15</c:v>
                  </c:pt>
                  <c:pt idx="5">
                    <c:v>04-22</c:v>
                  </c:pt>
                  <c:pt idx="6">
                    <c:v>04-29</c:v>
                  </c:pt>
                  <c:pt idx="7">
                    <c:v>05-06</c:v>
                  </c:pt>
                  <c:pt idx="8">
                    <c:v>05-13</c:v>
                  </c:pt>
                  <c:pt idx="9">
                    <c:v>05-20</c:v>
                  </c:pt>
                  <c:pt idx="10">
                    <c:v>05-27</c:v>
                  </c:pt>
                  <c:pt idx="11">
                    <c:v>06-03</c:v>
                  </c:pt>
                  <c:pt idx="12">
                    <c:v>06-10</c:v>
                  </c:pt>
                  <c:pt idx="13">
                    <c:v>06-17</c:v>
                  </c:pt>
                  <c:pt idx="14">
                    <c:v>06-24</c:v>
                  </c:pt>
                  <c:pt idx="15">
                    <c:v>07-01</c:v>
                  </c:pt>
                  <c:pt idx="16">
                    <c:v>07-08</c:v>
                  </c:pt>
                  <c:pt idx="17">
                    <c:v>07-15</c:v>
                  </c:pt>
                  <c:pt idx="18">
                    <c:v>07-22</c:v>
                  </c:pt>
                  <c:pt idx="19">
                    <c:v>07-29</c:v>
                  </c:pt>
                  <c:pt idx="20">
                    <c:v>08-05</c:v>
                  </c:pt>
                  <c:pt idx="21">
                    <c:v>08-12</c:v>
                  </c:pt>
                  <c:pt idx="22">
                    <c:v>08-19</c:v>
                  </c:pt>
                  <c:pt idx="23">
                    <c:v>08-26</c:v>
                  </c:pt>
                  <c:pt idx="24">
                    <c:v>09-02</c:v>
                  </c:pt>
                  <c:pt idx="25">
                    <c:v>09-09</c:v>
                  </c:pt>
                  <c:pt idx="26">
                    <c:v>09-16</c:v>
                  </c:pt>
                  <c:pt idx="27">
                    <c:v>09-23</c:v>
                  </c:pt>
                  <c:pt idx="28">
                    <c:v>09-30</c:v>
                  </c:pt>
                  <c:pt idx="29">
                    <c:v>10-07</c:v>
                  </c:pt>
                </c:lvl>
              </c:multiLvlStrCache>
            </c:multiLvlStrRef>
          </c:cat>
          <c:val>
            <c:numRef>
              <c:f>Sheet1!$C$2:$C$31</c:f>
              <c:numCache>
                <c:formatCode>General</c:formatCode>
                <c:ptCount val="30"/>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34329</c:v>
                </c:pt>
                <c:pt idx="26">
                  <c:v>37043</c:v>
                </c:pt>
                <c:pt idx="27">
                  <c:v>40474</c:v>
                </c:pt>
                <c:pt idx="28">
                  <c:v>39515</c:v>
                </c:pt>
                <c:pt idx="29">
                  <c:v>38501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1000" b="0" i="0" u="none" strike="noStrike">
                <a:solidFill>
                  <a:srgbClr val="61737C"/>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1737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1737C"/>
              </a:solidFill>
            </a:defRPr>
          </a:pPr>
          <a:endParaRPr lang="en-US"/>
        </a:p>
      </c:txPr>
    </c:legend>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E2A33"/>
                </a:solidFill>
                <a:latin typeface="Calibri"/>
              </a:defRPr>
            </a:pPr>
            <a:r>
              <a:rPr sz="1150" b="0" i="0" u="none" strike="noStrike">
                <a:solidFill>
                  <a:srgbClr val="0E2A33"/>
                </a:solidFill>
                <a:latin typeface="Calibri"/>
              </a:rPr>
              <a:t>WAPE by category — lower is better</a:t>
            </a:r>
          </a:p>
        </c:rich>
      </c:tx>
      <c:layout/>
      <c:overlay val="0"/>
    </c:title>
    <c:autoTitleDeleted val="0"/>
    <c:plotArea>
      <c:layout/>
      <c:barChart>
        <c:barDir val="col"/>
        <c:grouping val="clustered"/>
        <c:varyColors val="0"/>
        <c:ser>
          <c:idx val="0"/>
          <c:order val="0"/>
          <c:tx>
            <c:strRef>
              <c:f>Sheet1!$B$1</c:f>
              <c:strCache>
                <c:ptCount val="1"/>
                <c:pt idx="0">
                  <c:v>Seasonal naive</c:v>
                </c:pt>
              </c:strCache>
            </c:strRef>
          </c:tx>
          <c:spPr>
            <a:solidFill>
              <a:srgbClr val="D98E37"/>
            </a:solidFill>
            <a:ln w="9525" cap="flat">
              <a:solidFill>
                <a:srgbClr val="FFFFFF"/>
              </a:solidFill>
              <a:prstDash val="solid"/>
              <a:round/>
            </a:ln>
            <a:effectLst/>
          </c:spPr>
          <c:invertIfNegative val="0"/>
          <c:dLbls>
            <c:numFmt formatCode="0%" sourceLinked="0"/>
            <c:txPr>
              <a:bodyPr/>
              <a:lstStyle/>
              <a:p>
                <a:pPr>
                  <a:defRPr b="0" i="0" strike="noStrike" sz="900" u="none">
                    <a:solidFill>
                      <a:srgbClr val="61737C"/>
                    </a:solidFill>
                    <a:latin typeface="Arial"/>
                  </a:defRPr>
                </a:pPr>
              </a:p>
            </c:txPr>
            <c:showLegendKey val="0"/>
            <c:showVal val="1"/>
            <c:showCatName val="0"/>
            <c:showSerName val="0"/>
            <c:showPercent val="0"/>
            <c:showBubbleSize val="0"/>
            <c:showLeaderLines val="0"/>
          </c:dLbls>
          <c:cat>
            <c:multiLvlStrRef>
              <c:f>Sheet1!$A$2:$A$6</c:f>
              <c:multiLvlStrCache>
                <c:ptCount val="5"/>
                <c:lvl>
                  <c:pt idx="0">
                    <c:v>Beverages</c:v>
                  </c:pt>
                  <c:pt idx="1">
                    <c:v>Electronics</c:v>
                  </c:pt>
                  <c:pt idx="2">
                    <c:v>Household</c:v>
                  </c:pt>
                  <c:pt idx="3">
                    <c:v>Seasonal</c:v>
                  </c:pt>
                  <c:pt idx="4">
                    <c:v>Snacks</c:v>
                  </c:pt>
                </c:lvl>
              </c:multiLvlStrCache>
            </c:multiLvlStrRef>
          </c:cat>
          <c:val>
            <c:numRef>
              <c:f>Sheet1!$B$2:$B$6</c:f>
              <c:numCache>
                <c:formatCode>General</c:formatCode>
                <c:ptCount val="5"/>
                <c:pt idx="0">
                  <c:v>0.3726</c:v>
                </c:pt>
                <c:pt idx="1">
                  <c:v>0.5907</c:v>
                </c:pt>
                <c:pt idx="2">
                  <c:v>0.3869</c:v>
                </c:pt>
                <c:pt idx="3">
                  <c:v>0.5191</c:v>
                </c:pt>
                <c:pt idx="4">
                  <c:v>0.3757</c:v>
                </c:pt>
              </c:numCache>
            </c:numRef>
          </c:val>
        </c:ser>
        <c:ser>
          <c:idx val="1"/>
          <c:order val="1"/>
          <c:tx>
            <c:strRef>
              <c:f>Sheet1!$C$1</c:f>
              <c:strCache>
                <c:ptCount val="1"/>
                <c:pt idx="0">
                  <c:v>Ridge model</c:v>
                </c:pt>
              </c:strCache>
            </c:strRef>
          </c:tx>
          <c:spPr>
            <a:solidFill>
              <a:srgbClr val="0F8A7E"/>
            </a:solidFill>
            <a:ln w="9525" cap="flat">
              <a:solidFill>
                <a:srgbClr val="FFFFFF"/>
              </a:solidFill>
              <a:prstDash val="solid"/>
              <a:round/>
            </a:ln>
            <a:effectLst/>
          </c:spPr>
          <c:invertIfNegative val="0"/>
          <c:dLbls>
            <c:numFmt formatCode="0%" sourceLinked="0"/>
            <c:txPr>
              <a:bodyPr/>
              <a:lstStyle/>
              <a:p>
                <a:pPr>
                  <a:defRPr b="0" i="0" strike="noStrike" sz="900" u="none">
                    <a:solidFill>
                      <a:srgbClr val="61737C"/>
                    </a:solidFill>
                    <a:latin typeface="Arial"/>
                  </a:defRPr>
                </a:pPr>
              </a:p>
            </c:txPr>
            <c:showLegendKey val="0"/>
            <c:showVal val="1"/>
            <c:showCatName val="0"/>
            <c:showSerName val="0"/>
            <c:showPercent val="0"/>
            <c:showBubbleSize val="0"/>
            <c:showLeaderLines val="0"/>
          </c:dLbls>
          <c:cat>
            <c:multiLvlStrRef>
              <c:f>Sheet1!$A$2:$A$6</c:f>
              <c:multiLvlStrCache>
                <c:ptCount val="5"/>
                <c:lvl>
                  <c:pt idx="0">
                    <c:v>Beverages</c:v>
                  </c:pt>
                  <c:pt idx="1">
                    <c:v>Electronics</c:v>
                  </c:pt>
                  <c:pt idx="2">
                    <c:v>Household</c:v>
                  </c:pt>
                  <c:pt idx="3">
                    <c:v>Seasonal</c:v>
                  </c:pt>
                  <c:pt idx="4">
                    <c:v>Snacks</c:v>
                  </c:pt>
                </c:lvl>
              </c:multiLvlStrCache>
            </c:multiLvlStrRef>
          </c:cat>
          <c:val>
            <c:numRef>
              <c:f>Sheet1!$C$2:$C$6</c:f>
              <c:numCache>
                <c:formatCode>General</c:formatCode>
                <c:ptCount val="5"/>
                <c:pt idx="0">
                  <c:v>0.2834</c:v>
                </c:pt>
                <c:pt idx="1">
                  <c:v>0.4846</c:v>
                </c:pt>
                <c:pt idx="2">
                  <c:v>0.3135</c:v>
                </c:pt>
                <c:pt idx="3">
                  <c:v>0.4338</c:v>
                </c:pt>
                <c:pt idx="4">
                  <c:v>0.2844</c:v>
                </c:pt>
              </c:numCache>
            </c:numRef>
          </c:val>
        </c:ser>
        <c:dLbls>
          <c:numFmt formatCode="0%" sourceLinked="0"/>
          <c:txPr>
            <a:bodyPr/>
            <a:lstStyle/>
            <a:p>
              <a:pPr>
                <a:defRPr b="0" i="0" strike="noStrike" sz="900" u="none">
                  <a:solidFill>
                    <a:srgbClr val="61737C"/>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1737C"/>
                </a:solidFill>
                <a:latin typeface="Calibri"/>
              </a:defRPr>
            </a:pPr>
            <a:endParaRPr lang="en-US"/>
          </a:p>
        </c:txPr>
        <c:crossAx val="2094734552"/>
        <c:crosses val="autoZero"/>
        <c:auto val="1"/>
        <c:lblAlgn val="ctr"/>
        <c:noMultiLvlLbl val="1"/>
      </c:catAx>
      <c:valAx>
        <c:axId val="2094734552"/>
        <c:scaling>
          <c:orientation val="minMax"/>
          <c:max val="0.7"/>
        </c:scaling>
        <c:delete val="0"/>
        <c:axPos val="l"/>
        <c:majorGridlines>
          <c:spPr>
            <a:ln w="12700" cap="flat">
              <a:solidFill>
                <a:srgbClr val="E4EA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1737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1737C"/>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E2A33"/>
                </a:solidFill>
                <a:latin typeface="Calibri"/>
              </a:defRPr>
            </a:pPr>
            <a:r>
              <a:rPr sz="1150" b="0" i="0" u="none" strike="noStrike">
                <a:solidFill>
                  <a:srgbClr val="0E2A33"/>
                </a:solidFill>
                <a:latin typeface="Calibri"/>
              </a:rPr>
              <a:t>Annual cost across service levels ($9/unit stockout penalty)</a:t>
            </a:r>
          </a:p>
        </c:rich>
      </c:tx>
      <c:layout/>
      <c:overlay val="0"/>
    </c:title>
    <c:autoTitleDeleted val="0"/>
    <c:plotArea>
      <c:layout/>
      <c:lineChart>
        <c:varyColors val="0"/>
        <c:ser>
          <c:idx val="0"/>
          <c:order val="0"/>
          <c:tx>
            <c:strRef>
              <c:f>Sheet1!$B$1</c:f>
              <c:strCache>
                <c:ptCount val="1"/>
                <c:pt idx="0">
                  <c:v>Total cost</c:v>
                </c:pt>
              </c:strCache>
            </c:strRef>
          </c:tx>
          <c:spPr>
            <a:solidFill>
              <a:srgbClr val="0E2A33"/>
            </a:solidFill>
            <a:ln w="30480" cap="flat">
              <a:solidFill>
                <a:srgbClr val="0E2A3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2A33"/>
              </a:solidFill>
              <a:ln w="9525" cap="flat">
                <a:solidFill>
                  <a:srgbClr val="0E2A33"/>
                </a:solidFill>
                <a:prstDash val="solid"/>
                <a:round/>
              </a:ln>
              <a:effectLst/>
            </c:spPr>
          </c:marker>
          <c:cat>
            <c:multiLvlStrRef>
              <c:f>Sheet1!$A$2:$A$17</c:f>
              <c:multiLvlStrCache>
                <c:ptCount val="16"/>
                <c:lvl>
                  <c:pt idx="0">
                    <c:v>50%</c:v>
                  </c:pt>
                  <c:pt idx="1">
                    <c:v>53%</c:v>
                  </c:pt>
                  <c:pt idx="2">
                    <c:v>57%</c:v>
                  </c:pt>
                  <c:pt idx="3">
                    <c:v>60%</c:v>
                  </c:pt>
                  <c:pt idx="4">
                    <c:v>63%</c:v>
                  </c:pt>
                  <c:pt idx="5">
                    <c:v>67%</c:v>
                  </c:pt>
                  <c:pt idx="6">
                    <c:v>70%</c:v>
                  </c:pt>
                  <c:pt idx="7">
                    <c:v>73%</c:v>
                  </c:pt>
                  <c:pt idx="8">
                    <c:v>76%</c:v>
                  </c:pt>
                  <c:pt idx="9">
                    <c:v>80%</c:v>
                  </c:pt>
                  <c:pt idx="10">
                    <c:v>83%</c:v>
                  </c:pt>
                  <c:pt idx="11">
                    <c:v>86%</c:v>
                  </c:pt>
                  <c:pt idx="12">
                    <c:v>90%</c:v>
                  </c:pt>
                  <c:pt idx="13">
                    <c:v>93%</c:v>
                  </c:pt>
                  <c:pt idx="14">
                    <c:v>96%</c:v>
                  </c:pt>
                  <c:pt idx="15">
                    <c:v>99.5%</c:v>
                  </c:pt>
                </c:lvl>
              </c:multiLvlStrCache>
            </c:multiLvlStrRef>
          </c:cat>
          <c:val>
            <c:numRef>
              <c:f>Sheet1!$B$2:$B$17</c:f>
              <c:numCache>
                <c:formatCode>General</c:formatCode>
                <c:ptCount val="16"/>
                <c:pt idx="0">
                  <c:v>513898</c:v>
                </c:pt>
                <c:pt idx="1">
                  <c:v>481554</c:v>
                </c:pt>
                <c:pt idx="2">
                  <c:v>451254</c:v>
                </c:pt>
                <c:pt idx="3">
                  <c:v>422828</c:v>
                </c:pt>
                <c:pt idx="4">
                  <c:v>396135</c:v>
                </c:pt>
                <c:pt idx="5">
                  <c:v>371060</c:v>
                </c:pt>
                <c:pt idx="6">
                  <c:v>347511</c:v>
                </c:pt>
                <c:pt idx="7">
                  <c:v>325417</c:v>
                </c:pt>
                <c:pt idx="8">
                  <c:v>304725</c:v>
                </c:pt>
                <c:pt idx="9">
                  <c:v>285407</c:v>
                </c:pt>
                <c:pt idx="10">
                  <c:v>267458</c:v>
                </c:pt>
                <c:pt idx="11">
                  <c:v>250911</c:v>
                </c:pt>
                <c:pt idx="12">
                  <c:v>235859</c:v>
                </c:pt>
                <c:pt idx="13">
                  <c:v>222521</c:v>
                </c:pt>
                <c:pt idx="14">
                  <c:v>211481</c:v>
                </c:pt>
                <c:pt idx="15">
                  <c:v>206415</c:v>
                </c:pt>
              </c:numCache>
            </c:numRef>
          </c:val>
          <c:smooth val="0"/>
        </c:ser>
        <c:ser>
          <c:idx val="1"/>
          <c:order val="1"/>
          <c:tx>
            <c:strRef>
              <c:f>Sheet1!$C$1</c:f>
              <c:strCache>
                <c:ptCount val="1"/>
                <c:pt idx="0">
                  <c:v>Expected shortage cost</c:v>
                </c:pt>
              </c:strCache>
            </c:strRef>
          </c:tx>
          <c:spPr>
            <a:solidFill>
              <a:srgbClr val="B4544A"/>
            </a:solidFill>
            <a:ln w="30480" cap="flat">
              <a:solidFill>
                <a:srgbClr val="B454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4544A"/>
              </a:solidFill>
              <a:ln w="9525" cap="flat">
                <a:solidFill>
                  <a:srgbClr val="B4544A"/>
                </a:solidFill>
                <a:prstDash val="solid"/>
                <a:round/>
              </a:ln>
              <a:effectLst/>
            </c:spPr>
          </c:marker>
          <c:cat>
            <c:multiLvlStrRef>
              <c:f>Sheet1!$A$2:$A$17</c:f>
              <c:multiLvlStrCache>
                <c:ptCount val="16"/>
                <c:lvl>
                  <c:pt idx="0">
                    <c:v>50%</c:v>
                  </c:pt>
                  <c:pt idx="1">
                    <c:v>53%</c:v>
                  </c:pt>
                  <c:pt idx="2">
                    <c:v>57%</c:v>
                  </c:pt>
                  <c:pt idx="3">
                    <c:v>60%</c:v>
                  </c:pt>
                  <c:pt idx="4">
                    <c:v>63%</c:v>
                  </c:pt>
                  <c:pt idx="5">
                    <c:v>67%</c:v>
                  </c:pt>
                  <c:pt idx="6">
                    <c:v>70%</c:v>
                  </c:pt>
                  <c:pt idx="7">
                    <c:v>73%</c:v>
                  </c:pt>
                  <c:pt idx="8">
                    <c:v>76%</c:v>
                  </c:pt>
                  <c:pt idx="9">
                    <c:v>80%</c:v>
                  </c:pt>
                  <c:pt idx="10">
                    <c:v>83%</c:v>
                  </c:pt>
                  <c:pt idx="11">
                    <c:v>86%</c:v>
                  </c:pt>
                  <c:pt idx="12">
                    <c:v>90%</c:v>
                  </c:pt>
                  <c:pt idx="13">
                    <c:v>93%</c:v>
                  </c:pt>
                  <c:pt idx="14">
                    <c:v>96%</c:v>
                  </c:pt>
                  <c:pt idx="15">
                    <c:v>99.5%</c:v>
                  </c:pt>
                </c:lvl>
              </c:multiLvlStrCache>
            </c:multiLvlStrRef>
          </c:cat>
          <c:val>
            <c:numRef>
              <c:f>Sheet1!$C$2:$C$17</c:f>
              <c:numCache>
                <c:formatCode>General</c:formatCode>
                <c:ptCount val="16"/>
                <c:pt idx="0">
                  <c:v>328619</c:v>
                </c:pt>
                <c:pt idx="1">
                  <c:v>295637</c:v>
                </c:pt>
                <c:pt idx="2">
                  <c:v>264696</c:v>
                </c:pt>
                <c:pt idx="3">
                  <c:v>235618</c:v>
                </c:pt>
                <c:pt idx="4">
                  <c:v>208260</c:v>
                </c:pt>
                <c:pt idx="5">
                  <c:v>182500</c:v>
                </c:pt>
                <c:pt idx="6">
                  <c:v>158239</c:v>
                </c:pt>
                <c:pt idx="7">
                  <c:v>135396</c:v>
                </c:pt>
                <c:pt idx="8">
                  <c:v>113908</c:v>
                </c:pt>
                <c:pt idx="9">
                  <c:v>93729</c:v>
                </c:pt>
                <c:pt idx="10">
                  <c:v>74832</c:v>
                </c:pt>
                <c:pt idx="11">
                  <c:v>57209</c:v>
                </c:pt>
                <c:pt idx="12">
                  <c:v>40885</c:v>
                </c:pt>
                <c:pt idx="13">
                  <c:v>25935</c:v>
                </c:pt>
                <c:pt idx="14">
                  <c:v>12539</c:v>
                </c:pt>
                <c:pt idx="15">
                  <c:v>1302</c:v>
                </c:pt>
              </c:numCache>
            </c:numRef>
          </c:val>
          <c:smooth val="0"/>
        </c:ser>
        <c:ser>
          <c:idx val="2"/>
          <c:order val="2"/>
          <c:tx>
            <c:strRef>
              <c:f>Sheet1!$D$1</c:f>
              <c:strCache>
                <c:ptCount val="1"/>
                <c:pt idx="0">
                  <c:v>Safety stock holding</c:v>
                </c:pt>
              </c:strCache>
            </c:strRef>
          </c:tx>
          <c:spPr>
            <a:solidFill>
              <a:srgbClr val="6B5BA8"/>
            </a:solidFill>
            <a:ln w="30480" cap="flat">
              <a:solidFill>
                <a:srgbClr val="6B5B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B5BA8"/>
              </a:solidFill>
              <a:ln w="9525" cap="flat">
                <a:solidFill>
                  <a:srgbClr val="6B5BA8"/>
                </a:solidFill>
                <a:prstDash val="solid"/>
                <a:round/>
              </a:ln>
              <a:effectLst/>
            </c:spPr>
          </c:marker>
          <c:cat>
            <c:multiLvlStrRef>
              <c:f>Sheet1!$A$2:$A$17</c:f>
              <c:multiLvlStrCache>
                <c:ptCount val="16"/>
                <c:lvl>
                  <c:pt idx="0">
                    <c:v>50%</c:v>
                  </c:pt>
                  <c:pt idx="1">
                    <c:v>53%</c:v>
                  </c:pt>
                  <c:pt idx="2">
                    <c:v>57%</c:v>
                  </c:pt>
                  <c:pt idx="3">
                    <c:v>60%</c:v>
                  </c:pt>
                  <c:pt idx="4">
                    <c:v>63%</c:v>
                  </c:pt>
                  <c:pt idx="5">
                    <c:v>67%</c:v>
                  </c:pt>
                  <c:pt idx="6">
                    <c:v>70%</c:v>
                  </c:pt>
                  <c:pt idx="7">
                    <c:v>73%</c:v>
                  </c:pt>
                  <c:pt idx="8">
                    <c:v>76%</c:v>
                  </c:pt>
                  <c:pt idx="9">
                    <c:v>80%</c:v>
                  </c:pt>
                  <c:pt idx="10">
                    <c:v>83%</c:v>
                  </c:pt>
                  <c:pt idx="11">
                    <c:v>86%</c:v>
                  </c:pt>
                  <c:pt idx="12">
                    <c:v>90%</c:v>
                  </c:pt>
                  <c:pt idx="13">
                    <c:v>93%</c:v>
                  </c:pt>
                  <c:pt idx="14">
                    <c:v>96%</c:v>
                  </c:pt>
                  <c:pt idx="15">
                    <c:v>99.5%</c:v>
                  </c:pt>
                </c:lvl>
              </c:multiLvlStrCache>
            </c:multiLvlStrRef>
          </c:cat>
          <c:val>
            <c:numRef>
              <c:f>Sheet1!$D$2:$D$17</c:f>
              <c:numCache>
                <c:formatCode>General</c:formatCode>
                <c:ptCount val="16"/>
                <c:pt idx="0">
                  <c:v>0</c:v>
                </c:pt>
                <c:pt idx="1">
                  <c:v>638</c:v>
                </c:pt>
                <c:pt idx="2">
                  <c:v>1280</c:v>
                </c:pt>
                <c:pt idx="3">
                  <c:v>1931</c:v>
                </c:pt>
                <c:pt idx="4">
                  <c:v>2596</c:v>
                </c:pt>
                <c:pt idx="5">
                  <c:v>3281</c:v>
                </c:pt>
                <c:pt idx="6">
                  <c:v>3994</c:v>
                </c:pt>
                <c:pt idx="7">
                  <c:v>4742</c:v>
                </c:pt>
                <c:pt idx="8">
                  <c:v>5538</c:v>
                </c:pt>
                <c:pt idx="9">
                  <c:v>6399</c:v>
                </c:pt>
                <c:pt idx="10">
                  <c:v>7347</c:v>
                </c:pt>
                <c:pt idx="11">
                  <c:v>8423</c:v>
                </c:pt>
                <c:pt idx="12">
                  <c:v>9695</c:v>
                </c:pt>
                <c:pt idx="13">
                  <c:v>11307</c:v>
                </c:pt>
                <c:pt idx="14">
                  <c:v>13663</c:v>
                </c:pt>
                <c:pt idx="15">
                  <c:v>19834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1737C"/>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EC"/>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1737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61737C"/>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E2A33"/>
                </a:solidFill>
                <a:latin typeface="Calibri"/>
              </a:defRPr>
            </a:pPr>
            <a:r>
              <a:rPr sz="1150" b="0" i="0" u="none" strike="noStrike">
                <a:solidFill>
                  <a:srgbClr val="0E2A33"/>
                </a:solidFill>
                <a:latin typeface="Calibri"/>
              </a:rPr>
              <a:t>Annual revenue by SKU, ranked</a:t>
            </a:r>
          </a:p>
        </c:rich>
      </c:tx>
      <c:layout/>
      <c:overlay val="0"/>
    </c:title>
    <c:autoTitleDeleted val="0"/>
    <c:plotArea>
      <c:layout/>
      <c:barChart>
        <c:barDir val="col"/>
        <c:grouping val="clustered"/>
        <c:varyColors val="0"/>
        <c:ser>
          <c:idx val="0"/>
          <c:order val="0"/>
          <c:tx>
            <c:strRef>
              <c:f>Sheet1!$B$1</c:f>
              <c:strCache>
                <c:ptCount val="1"/>
                <c:pt idx="0">
                  <c:v>Annual revenue</c:v>
                </c:pt>
              </c:strCache>
            </c:strRef>
          </c:tx>
          <c:spPr>
            <a:solidFill>
              <a:srgbClr val="0F8A7E"/>
            </a:solidFill>
            <a:ln w="9525" cap="flat">
              <a:solidFill>
                <a:srgbClr val="FFFF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0F8A7E"/>
              </a:solidFill>
              <a:effectLst/>
            </c:spPr>
          </c:dPt>
          <c:dPt>
            <c:idx val="1"/>
            <c:invertIfNegative val="0"/>
            <c:bubble3D val="0"/>
            <c:spPr>
              <a:solidFill>
                <a:srgbClr val="0F8A7E"/>
              </a:solidFill>
              <a:effectLst/>
            </c:spPr>
          </c:dPt>
          <c:dPt>
            <c:idx val="2"/>
            <c:invertIfNegative val="0"/>
            <c:bubble3D val="0"/>
            <c:spPr>
              <a:solidFill>
                <a:srgbClr val="0F8A7E"/>
              </a:solidFill>
              <a:effectLst/>
            </c:spPr>
          </c:dPt>
          <c:dPt>
            <c:idx val="3"/>
            <c:invertIfNegative val="0"/>
            <c:bubble3D val="0"/>
            <c:spPr>
              <a:solidFill>
                <a:srgbClr val="0F8A7E"/>
              </a:solidFill>
              <a:effectLst/>
            </c:spPr>
          </c:dPt>
          <c:dPt>
            <c:idx val="4"/>
            <c:invertIfNegative val="0"/>
            <c:bubble3D val="0"/>
            <c:spPr>
              <a:solidFill>
                <a:srgbClr val="0F8A7E"/>
              </a:solidFill>
              <a:effectLst/>
            </c:spPr>
          </c:dPt>
          <c:dPt>
            <c:idx val="5"/>
            <c:invertIfNegative val="0"/>
            <c:bubble3D val="0"/>
            <c:spPr>
              <a:solidFill>
                <a:srgbClr val="39B7A4"/>
              </a:solidFill>
              <a:effectLst/>
            </c:spPr>
          </c:dPt>
          <c:dPt>
            <c:idx val="6"/>
            <c:invertIfNegative val="0"/>
            <c:bubble3D val="0"/>
            <c:spPr>
              <a:solidFill>
                <a:srgbClr val="39B7A4"/>
              </a:solidFill>
              <a:effectLst/>
            </c:spPr>
          </c:dPt>
          <c:dPt>
            <c:idx val="7"/>
            <c:invertIfNegative val="0"/>
            <c:bubble3D val="0"/>
            <c:spPr>
              <a:solidFill>
                <a:srgbClr val="39B7A4"/>
              </a:solidFill>
              <a:effectLst/>
            </c:spPr>
          </c:dPt>
          <c:dPt>
            <c:idx val="8"/>
            <c:invertIfNegative val="0"/>
            <c:bubble3D val="0"/>
            <c:spPr>
              <a:solidFill>
                <a:srgbClr val="39B7A4"/>
              </a:solidFill>
              <a:effectLst/>
            </c:spPr>
          </c:dPt>
          <c:dPt>
            <c:idx val="9"/>
            <c:invertIfNegative val="0"/>
            <c:bubble3D val="0"/>
            <c:spPr>
              <a:solidFill>
                <a:srgbClr val="AFC0C6"/>
              </a:solidFill>
              <a:effectLst/>
            </c:spPr>
          </c:dPt>
          <c:dPt>
            <c:idx val="10"/>
            <c:invertIfNegative val="0"/>
            <c:bubble3D val="0"/>
            <c:spPr>
              <a:solidFill>
                <a:srgbClr val="AFC0C6"/>
              </a:solidFill>
              <a:effectLst/>
            </c:spPr>
          </c:dPt>
          <c:dPt>
            <c:idx val="11"/>
            <c:invertIfNegative val="0"/>
            <c:bubble3D val="0"/>
            <c:spPr>
              <a:solidFill>
                <a:srgbClr val="AFC0C6"/>
              </a:solidFill>
              <a:effectLst/>
            </c:spPr>
          </c:dPt>
          <c:dPt>
            <c:idx val="12"/>
            <c:invertIfNegative val="0"/>
            <c:bubble3D val="0"/>
            <c:spPr>
              <a:solidFill>
                <a:srgbClr val="AFC0C6"/>
              </a:solidFill>
              <a:effectLst/>
            </c:spPr>
          </c:dPt>
          <c:dPt>
            <c:idx val="13"/>
            <c:invertIfNegative val="0"/>
            <c:bubble3D val="0"/>
            <c:spPr>
              <a:solidFill>
                <a:srgbClr val="AFC0C6"/>
              </a:solidFill>
              <a:effectLst/>
            </c:spPr>
          </c:dPt>
          <c:dPt>
            <c:idx val="14"/>
            <c:invertIfNegative val="0"/>
            <c:bubble3D val="0"/>
            <c:spPr>
              <a:solidFill>
                <a:srgbClr val="AFC0C6"/>
              </a:solidFill>
              <a:effectLst/>
            </c:spPr>
          </c:dPt>
          <c:cat>
            <c:multiLvlStrRef>
              <c:f>Sheet1!$A$2:$A$16</c:f>
              <c:multiLvlStrCache>
                <c:ptCount val="15"/>
                <c:lvl>
                  <c:pt idx="0">
                    <c:v>K201</c:v>
                  </c:pt>
                  <c:pt idx="1">
                    <c:v>K102</c:v>
                  </c:pt>
                  <c:pt idx="2">
                    <c:v>K101</c:v>
                  </c:pt>
                  <c:pt idx="3">
                    <c:v>K202</c:v>
                  </c:pt>
                  <c:pt idx="4">
                    <c:v>K301</c:v>
                  </c:pt>
                  <c:pt idx="5">
                    <c:v>K503</c:v>
                  </c:pt>
                  <c:pt idx="6">
                    <c:v>K302</c:v>
                  </c:pt>
                  <c:pt idx="7">
                    <c:v>K103</c:v>
                  </c:pt>
                  <c:pt idx="8">
                    <c:v>K402</c:v>
                  </c:pt>
                  <c:pt idx="9">
                    <c:v>K203</c:v>
                  </c:pt>
                  <c:pt idx="10">
                    <c:v>K401</c:v>
                  </c:pt>
                  <c:pt idx="11">
                    <c:v>K502</c:v>
                  </c:pt>
                  <c:pt idx="12">
                    <c:v>K303</c:v>
                  </c:pt>
                  <c:pt idx="13">
                    <c:v>K403</c:v>
                  </c:pt>
                  <c:pt idx="14">
                    <c:v>K501</c:v>
                  </c:pt>
                </c:lvl>
              </c:multiLvlStrCache>
            </c:multiLvlStrRef>
          </c:cat>
          <c:val>
            <c:numRef>
              <c:f>Sheet1!$B$2:$B$16</c:f>
              <c:numCache>
                <c:formatCode>General</c:formatCode>
                <c:ptCount val="15"/>
                <c:pt idx="0">
                  <c:v>3036075</c:v>
                </c:pt>
                <c:pt idx="1">
                  <c:v>2311212</c:v>
                </c:pt>
                <c:pt idx="2">
                  <c:v>1830238</c:v>
                </c:pt>
                <c:pt idx="3">
                  <c:v>1500554</c:v>
                </c:pt>
                <c:pt idx="4">
                  <c:v>1189409</c:v>
                </c:pt>
                <c:pt idx="5">
                  <c:v>964610</c:v>
                </c:pt>
                <c:pt idx="6">
                  <c:v>748462</c:v>
                </c:pt>
                <c:pt idx="7">
                  <c:v>560583</c:v>
                </c:pt>
                <c:pt idx="8">
                  <c:v>430932</c:v>
                </c:pt>
                <c:pt idx="9">
                  <c:v>298753</c:v>
                </c:pt>
                <c:pt idx="10">
                  <c:v>229464</c:v>
                </c:pt>
                <c:pt idx="11">
                  <c:v>181283</c:v>
                </c:pt>
                <c:pt idx="12">
                  <c:v>119724</c:v>
                </c:pt>
                <c:pt idx="13">
                  <c:v>83930</c:v>
                </c:pt>
                <c:pt idx="14">
                  <c:v>54521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1737C"/>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AEC"/>
              </a:solidFill>
              <a:prstDash val="solid"/>
              <a:round/>
            </a:ln>
          </c:spPr>
        </c:majorGridlines>
        <c:numFmt formatCode="$#,##0,,&quot;M&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1737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line: it forecasts retail demand and turns the forecast into an inventory policy. Both the pipeline and the dashboard were built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forecasting is the visible half, inventory policy is the half that actually saves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idea the whole project is built on. Make it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are deliberately sequential — that ordering is the project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question "why not a real dataset" — the answer is verifiability.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a neural network: with known-in-advance drivers a regularised linear model is competitive, trains in under a second, and stays explainable.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formulas are standard operations-research results; the contribution here is feeding them the right σ and exposing the trade-off interactively.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question in a viva is usually "where does the computation live" — this slide answers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to explain why Electronics WAPE is high: low-volume series, where percentage error is inflated by small denominators.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answer to "what service level should we run" is: it depends on the penalty, and here is the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ABC is the bridge between the statistics and how a team actually spends its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this live if the room has a projector and a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the limitations before the panel does is usually the strongest move in a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to run the live feed during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3"/>
        </a:solidFill>
      </p:bgPr>
    </p:bg>
    <p:spTree>
      <p:nvGrpSpPr>
        <p:cNvPr id="1" name=""/>
        <p:cNvGrpSpPr/>
        <p:nvPr/>
      </p:nvGrpSpPr>
      <p:grpSpPr>
        <a:xfrm>
          <a:off x="0" y="0"/>
          <a:ext cx="0" cy="0"/>
          <a:chOff x="0" y="0"/>
          <a:chExt cx="0" cy="0"/>
        </a:xfrm>
      </p:grpSpPr>
      <p:sp>
        <p:nvSpPr>
          <p:cNvPr id="2" name="Shape 0"/>
          <p:cNvSpPr/>
          <p:nvPr/>
        </p:nvSpPr>
        <p:spPr>
          <a:xfrm>
            <a:off x="8686800" y="-1554480"/>
            <a:ext cx="5303520" cy="5303520"/>
          </a:xfrm>
          <a:prstGeom prst="ellipse">
            <a:avLst/>
          </a:prstGeom>
          <a:solidFill>
            <a:srgbClr val="0F8A7E">
              <a:alpha val="20000"/>
            </a:srgbClr>
          </a:solidFill>
          <a:ln/>
        </p:spPr>
      </p:sp>
      <p:sp>
        <p:nvSpPr>
          <p:cNvPr id="3" name="Shape 1"/>
          <p:cNvSpPr/>
          <p:nvPr/>
        </p:nvSpPr>
        <p:spPr>
          <a:xfrm>
            <a:off x="10332720" y="3474720"/>
            <a:ext cx="2926080" cy="2926080"/>
          </a:xfrm>
          <a:prstGeom prst="ellipse">
            <a:avLst/>
          </a:prstGeom>
          <a:solidFill>
            <a:srgbClr val="39B7A4">
              <a:alpha val="13000"/>
            </a:srgbClr>
          </a:solidFill>
          <a:ln/>
        </p:spPr>
      </p:sp>
      <p:sp>
        <p:nvSpPr>
          <p:cNvPr id="4" name="Text 2"/>
          <p:cNvSpPr txBox="1"/>
          <p:nvPr/>
        </p:nvSpPr>
        <p:spPr>
          <a:xfrm>
            <a:off x="566928" y="1051560"/>
            <a:ext cx="8229600" cy="274320"/>
          </a:xfrm>
          <a:prstGeom prst="rect">
            <a:avLst/>
          </a:prstGeom>
          <a:noFill/>
          <a:ln/>
        </p:spPr>
        <p:txBody>
          <a:bodyPr wrap="square" lIns="0" tIns="0" rIns="0" bIns="0" rtlCol="0" anchor="ctr"/>
          <a:lstStyle/>
          <a:p>
            <a:pPr indent="0" marL="0">
              <a:buNone/>
            </a:pPr>
            <a:r>
              <a:rPr lang="en-US" sz="1200" b="1" spc="200" kern="0" dirty="0">
                <a:solidFill>
                  <a:srgbClr val="39B7A4"/>
                </a:solidFill>
                <a:latin typeface="Calibri" pitchFamily="34" charset="0"/>
                <a:ea typeface="Calibri" pitchFamily="34" charset="-122"/>
                <a:cs typeface="Calibri" pitchFamily="34" charset="-120"/>
              </a:rPr>
              <a:t>PROJECT PRESENTATION</a:t>
            </a:r>
            <a:endParaRPr lang="en-US" sz="1200" dirty="0"/>
          </a:p>
        </p:txBody>
      </p:sp>
      <p:sp>
        <p:nvSpPr>
          <p:cNvPr id="5" name="Text 3"/>
          <p:cNvSpPr txBox="1"/>
          <p:nvPr/>
        </p:nvSpPr>
        <p:spPr>
          <a:xfrm>
            <a:off x="566928" y="1463040"/>
            <a:ext cx="8595360" cy="1554480"/>
          </a:xfrm>
          <a:prstGeom prst="rect">
            <a:avLst/>
          </a:prstGeom>
          <a:noFill/>
          <a:ln/>
        </p:spPr>
        <p:txBody>
          <a:bodyPr wrap="square" lIns="0" tIns="0" rIns="0" bIns="0" rtlCol="0" anchor="ctr"/>
          <a:lstStyle/>
          <a:p>
            <a:pPr indent="0" marL="0">
              <a:lnSpc>
                <a:spcPts val="4200"/>
              </a:lnSpc>
              <a:buNone/>
            </a:pPr>
            <a:r>
              <a:rPr lang="en-US" sz="3600" b="1" dirty="0">
                <a:solidFill>
                  <a:srgbClr val="FFFFFF"/>
                </a:solidFill>
                <a:latin typeface="Cambria" pitchFamily="34" charset="0"/>
                <a:ea typeface="Cambria" pitchFamily="34" charset="-122"/>
                <a:cs typeface="Cambria" pitchFamily="34" charset="-120"/>
              </a:rPr>
              <a:t>Retail Demand Forecasting</a:t>
            </a:r>
            <a:endParaRPr lang="en-US" sz="3600" dirty="0"/>
          </a:p>
          <a:p>
            <a:pPr indent="0" marL="0">
              <a:lnSpc>
                <a:spcPts val="4200"/>
              </a:lnSpc>
              <a:buNone/>
            </a:pPr>
            <a:r>
              <a:rPr lang="en-US" sz="3600" b="1" dirty="0">
                <a:solidFill>
                  <a:srgbClr val="FFFFFF"/>
                </a:solidFill>
                <a:latin typeface="Cambria" pitchFamily="34" charset="0"/>
                <a:ea typeface="Cambria" pitchFamily="34" charset="-122"/>
                <a:cs typeface="Cambria" pitchFamily="34" charset="-120"/>
              </a:rPr>
              <a:t>&amp; Inventory Optimization Dashboard</a:t>
            </a:r>
            <a:endParaRPr lang="en-US" sz="3600" dirty="0"/>
          </a:p>
        </p:txBody>
      </p:sp>
      <p:sp>
        <p:nvSpPr>
          <p:cNvPr id="6" name="Text 4"/>
          <p:cNvSpPr txBox="1"/>
          <p:nvPr/>
        </p:nvSpPr>
        <p:spPr>
          <a:xfrm>
            <a:off x="566928" y="3108960"/>
            <a:ext cx="7863840" cy="658368"/>
          </a:xfrm>
          <a:prstGeom prst="rect">
            <a:avLst/>
          </a:prstGeom>
          <a:noFill/>
          <a:ln/>
        </p:spPr>
        <p:txBody>
          <a:bodyPr wrap="square" lIns="0" tIns="0" rIns="0" bIns="0" rtlCol="0" anchor="ctr"/>
          <a:lstStyle/>
          <a:p>
            <a:pPr indent="0" marL="0">
              <a:lnSpc>
                <a:spcPts val="2000"/>
              </a:lnSpc>
              <a:buNone/>
            </a:pPr>
            <a:r>
              <a:rPr lang="en-US" sz="1400" dirty="0">
                <a:solidFill>
                  <a:srgbClr val="B9CBD1"/>
                </a:solidFill>
                <a:latin typeface="Calibri" pitchFamily="34" charset="0"/>
                <a:ea typeface="Calibri" pitchFamily="34" charset="-122"/>
                <a:cs typeface="Calibri" pitchFamily="34" charset="-120"/>
              </a:rPr>
              <a:t>Forecasting daily demand for 90 store × SKU lines, and converting that forecast into safety stock, reorder points and order quantities that a planner can act on.</a:t>
            </a:r>
            <a:endParaRPr lang="en-US" sz="1400" dirty="0"/>
          </a:p>
        </p:txBody>
      </p:sp>
      <p:sp>
        <p:nvSpPr>
          <p:cNvPr id="7" name="Shape 5"/>
          <p:cNvSpPr/>
          <p:nvPr/>
        </p:nvSpPr>
        <p:spPr>
          <a:xfrm>
            <a:off x="566928" y="4041648"/>
            <a:ext cx="2011680" cy="0"/>
          </a:xfrm>
          <a:prstGeom prst="line">
            <a:avLst/>
          </a:prstGeom>
          <a:noFill/>
          <a:ln w="25400">
            <a:solidFill>
              <a:srgbClr val="39B7A4"/>
            </a:solidFill>
            <a:prstDash val="solid"/>
          </a:ln>
        </p:spPr>
      </p:sp>
      <p:sp>
        <p:nvSpPr>
          <p:cNvPr id="8" name="Text 6"/>
          <p:cNvSpPr txBox="1"/>
          <p:nvPr/>
        </p:nvSpPr>
        <p:spPr>
          <a:xfrm>
            <a:off x="566928" y="4224528"/>
            <a:ext cx="4572000" cy="219456"/>
          </a:xfrm>
          <a:prstGeom prst="rect">
            <a:avLst/>
          </a:prstGeom>
          <a:noFill/>
          <a:ln/>
        </p:spPr>
        <p:txBody>
          <a:bodyPr wrap="square" lIns="0" tIns="0" rIns="0" bIns="0" rtlCol="0" anchor="ctr"/>
          <a:lstStyle/>
          <a:p>
            <a:pPr indent="0" marL="0">
              <a:buNone/>
            </a:pPr>
            <a:r>
              <a:rPr lang="en-US" sz="1100" b="1" spc="150" kern="0" dirty="0">
                <a:solidFill>
                  <a:srgbClr val="7C959D"/>
                </a:solidFill>
                <a:latin typeface="Calibri" pitchFamily="34" charset="0"/>
                <a:ea typeface="Calibri" pitchFamily="34" charset="-122"/>
                <a:cs typeface="Calibri" pitchFamily="34" charset="-120"/>
              </a:rPr>
              <a:t>PRESENTED BY</a:t>
            </a:r>
            <a:endParaRPr lang="en-US" sz="1100" dirty="0"/>
          </a:p>
        </p:txBody>
      </p:sp>
      <p:sp>
        <p:nvSpPr>
          <p:cNvPr id="9" name="Text 7"/>
          <p:cNvSpPr txBox="1"/>
          <p:nvPr/>
        </p:nvSpPr>
        <p:spPr>
          <a:xfrm>
            <a:off x="566928" y="4498848"/>
            <a:ext cx="2743200" cy="347472"/>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Arnav Mishra</a:t>
            </a:r>
            <a:endParaRPr lang="en-US" sz="1900" dirty="0"/>
          </a:p>
        </p:txBody>
      </p:sp>
      <p:sp>
        <p:nvSpPr>
          <p:cNvPr id="10" name="Text 8"/>
          <p:cNvSpPr txBox="1"/>
          <p:nvPr/>
        </p:nvSpPr>
        <p:spPr>
          <a:xfrm>
            <a:off x="3493008" y="4498848"/>
            <a:ext cx="2743200" cy="347472"/>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Ritesh Rana</a:t>
            </a:r>
            <a:endParaRPr lang="en-US" sz="1900" dirty="0"/>
          </a:p>
        </p:txBody>
      </p:sp>
      <p:sp>
        <p:nvSpPr>
          <p:cNvPr id="11" name="Text 9"/>
          <p:cNvSpPr txBox="1"/>
          <p:nvPr/>
        </p:nvSpPr>
        <p:spPr>
          <a:xfrm>
            <a:off x="566928" y="5349240"/>
            <a:ext cx="8229600" cy="640080"/>
          </a:xfrm>
          <a:prstGeom prst="rect">
            <a:avLst/>
          </a:prstGeom>
          <a:noFill/>
          <a:ln/>
        </p:spPr>
        <p:txBody>
          <a:bodyPr wrap="square" lIns="0" tIns="0" rIns="0" bIns="0" rtlCol="0" anchor="ctr"/>
          <a:lstStyle/>
          <a:p>
            <a:pPr indent="0" marL="0">
              <a:lnSpc>
                <a:spcPts val="1900"/>
              </a:lnSpc>
              <a:buNone/>
            </a:pPr>
            <a:r>
              <a:rPr lang="en-US" sz="1200" dirty="0">
                <a:solidFill>
                  <a:srgbClr val="6F8992"/>
                </a:solidFill>
                <a:latin typeface="Calibri" pitchFamily="34" charset="0"/>
                <a:ea typeface="Calibri" pitchFamily="34" charset="-122"/>
                <a:cs typeface="Calibri" pitchFamily="34" charset="-120"/>
              </a:rPr>
              <a:t>Live dashboard   </a:t>
            </a:r>
            <a:pPr indent="0" marL="0">
              <a:lnSpc>
                <a:spcPts val="1900"/>
              </a:lnSpc>
              <a:buNone/>
            </a:pPr>
            <a:r>
              <a:rPr lang="en-US" sz="1200" b="1" dirty="0">
                <a:solidFill>
                  <a:srgbClr val="FFFFFF"/>
                </a:solidFill>
                <a:latin typeface="Calibri" pitchFamily="34" charset="0"/>
                <a:ea typeface="Calibri" pitchFamily="34" charset="-122"/>
                <a:cs typeface="Calibri" pitchFamily="34" charset="-120"/>
              </a:rPr>
              <a:t>retail-demand-forecasting.netlify.app
</a:t>
            </a:r>
            <a:pPr indent="0" marL="0">
              <a:lnSpc>
                <a:spcPts val="1900"/>
              </a:lnSpc>
              <a:buNone/>
            </a:pPr>
            <a:r>
              <a:rPr lang="en-US" sz="1200" dirty="0">
                <a:solidFill>
                  <a:srgbClr val="6F8992"/>
                </a:solidFill>
                <a:latin typeface="Calibri" pitchFamily="34" charset="0"/>
                <a:ea typeface="Calibri" pitchFamily="34" charset="-122"/>
                <a:cs typeface="Calibri" pitchFamily="34" charset="-120"/>
              </a:rPr>
              <a:t>Source code      </a:t>
            </a:r>
            <a:pPr indent="0" marL="0">
              <a:lnSpc>
                <a:spcPts val="1900"/>
              </a:lnSpc>
              <a:buNone/>
            </a:pPr>
            <a:r>
              <a:rPr lang="en-US" sz="1200" b="1" dirty="0">
                <a:solidFill>
                  <a:srgbClr val="FFFFFF"/>
                </a:solidFill>
                <a:latin typeface="Calibri" pitchFamily="34" charset="0"/>
                <a:ea typeface="Calibri" pitchFamily="34" charset="-122"/>
                <a:cs typeface="Calibri" pitchFamily="34" charset="-120"/>
              </a:rPr>
              <a:t>github.com/Arnavmishra002/retail-demand-forecasting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AGENDA</a:t>
            </a:r>
            <a:endParaRPr lang="en-US" sz="1150" dirty="0"/>
          </a:p>
        </p:txBody>
      </p:sp>
      <p:sp>
        <p:nvSpPr>
          <p:cNvPr id="3" name="Text 1"/>
          <p:cNvSpPr txBox="1"/>
          <p:nvPr/>
        </p:nvSpPr>
        <p:spPr>
          <a:xfrm>
            <a:off x="566928" y="603504"/>
            <a:ext cx="10332720" cy="548640"/>
          </a:xfrm>
          <a:prstGeom prst="rect">
            <a:avLst/>
          </a:prstGeom>
          <a:noFill/>
          <a:ln/>
        </p:spPr>
        <p:txBody>
          <a:bodyPr wrap="square" lIns="0" tIns="0" rIns="0" bIns="0" rtlCol="0" anchor="ctr"/>
          <a:lstStyle/>
          <a:p>
            <a:pPr indent="0" marL="0">
              <a:buNone/>
            </a:pPr>
            <a:r>
              <a:rPr lang="en-US" sz="3100" b="1" dirty="0">
                <a:solidFill>
                  <a:srgbClr val="0E2A33"/>
                </a:solidFill>
                <a:latin typeface="Cambria" pitchFamily="34" charset="0"/>
                <a:ea typeface="Cambria" pitchFamily="34" charset="-122"/>
                <a:cs typeface="Cambria" pitchFamily="34" charset="-120"/>
              </a:rPr>
              <a:t>What this presentation covers</a:t>
            </a:r>
            <a:endParaRPr lang="en-US" sz="3100" dirty="0"/>
          </a:p>
        </p:txBody>
      </p:sp>
      <p:sp>
        <p:nvSpPr>
          <p:cNvPr id="4" name="Text 2"/>
          <p:cNvSpPr txBox="1"/>
          <p:nvPr/>
        </p:nvSpPr>
        <p:spPr>
          <a:xfrm>
            <a:off x="10972800" y="384048"/>
            <a:ext cx="640080" cy="457200"/>
          </a:xfrm>
          <a:prstGeom prst="rect">
            <a:avLst/>
          </a:prstGeom>
          <a:noFill/>
          <a:ln/>
        </p:spPr>
        <p:txBody>
          <a:bodyPr wrap="square" lIns="0" tIns="0" rIns="0" bIns="0" rtlCol="0" anchor="ctr"/>
          <a:lstStyle/>
          <a:p>
            <a:pPr algn="r" indent="0" marL="0">
              <a:buNone/>
            </a:pPr>
            <a:r>
              <a:rPr lang="en-US" sz="2400" b="1" dirty="0">
                <a:solidFill>
                  <a:srgbClr val="D6E1E3"/>
                </a:solidFill>
                <a:latin typeface="Cambria" pitchFamily="34" charset="0"/>
                <a:ea typeface="Cambria" pitchFamily="34" charset="-122"/>
                <a:cs typeface="Cambria" pitchFamily="34" charset="-120"/>
              </a:rPr>
              <a:t>02</a:t>
            </a:r>
            <a:endParaRPr lang="en-US" sz="2400" dirty="0"/>
          </a:p>
        </p:txBody>
      </p:sp>
      <p:sp>
        <p:nvSpPr>
          <p:cNvPr id="5" name="Shape 3"/>
          <p:cNvSpPr/>
          <p:nvPr/>
        </p:nvSpPr>
        <p:spPr>
          <a:xfrm>
            <a:off x="566928" y="1499616"/>
            <a:ext cx="347472" cy="347472"/>
          </a:xfrm>
          <a:prstGeom prst="ellipse">
            <a:avLst/>
          </a:prstGeom>
          <a:solidFill>
            <a:srgbClr val="0F8A7E"/>
          </a:solidFill>
          <a:ln/>
        </p:spPr>
      </p:sp>
      <p:sp>
        <p:nvSpPr>
          <p:cNvPr id="6" name="Text 4"/>
          <p:cNvSpPr txBox="1"/>
          <p:nvPr/>
        </p:nvSpPr>
        <p:spPr>
          <a:xfrm>
            <a:off x="566928" y="149961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097280" y="1481328"/>
            <a:ext cx="4206240"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Problem statement</a:t>
            </a:r>
            <a:endParaRPr lang="en-US" sz="1500" dirty="0"/>
          </a:p>
        </p:txBody>
      </p:sp>
      <p:sp>
        <p:nvSpPr>
          <p:cNvPr id="8" name="Text 6"/>
          <p:cNvSpPr txBox="1"/>
          <p:nvPr/>
        </p:nvSpPr>
        <p:spPr>
          <a:xfrm>
            <a:off x="1097280" y="1755648"/>
            <a:ext cx="4754880" cy="274320"/>
          </a:xfrm>
          <a:prstGeom prst="rect">
            <a:avLst/>
          </a:prstGeom>
          <a:noFill/>
          <a:ln/>
        </p:spPr>
        <p:txBody>
          <a:bodyPr wrap="square" lIns="0" tIns="0" rIns="0" bIns="0" rtlCol="0" anchor="ctr"/>
          <a:lstStyle/>
          <a:p>
            <a:pPr indent="0" marL="0">
              <a:buNone/>
            </a:pPr>
            <a:r>
              <a:rPr lang="en-US" sz="1200" dirty="0">
                <a:solidFill>
                  <a:srgbClr val="61737C"/>
                </a:solidFill>
                <a:latin typeface="Calibri" pitchFamily="34" charset="0"/>
                <a:ea typeface="Calibri" pitchFamily="34" charset="-122"/>
                <a:cs typeface="Calibri" pitchFamily="34" charset="-120"/>
              </a:rPr>
              <a:t>why demand planning goes wrong in two directions at once</a:t>
            </a:r>
            <a:endParaRPr lang="en-US" sz="1200" dirty="0"/>
          </a:p>
        </p:txBody>
      </p:sp>
      <p:sp>
        <p:nvSpPr>
          <p:cNvPr id="9" name="Shape 7"/>
          <p:cNvSpPr/>
          <p:nvPr/>
        </p:nvSpPr>
        <p:spPr>
          <a:xfrm>
            <a:off x="566928" y="2212848"/>
            <a:ext cx="347472" cy="347472"/>
          </a:xfrm>
          <a:prstGeom prst="ellipse">
            <a:avLst/>
          </a:prstGeom>
          <a:solidFill>
            <a:srgbClr val="39B7A4"/>
          </a:solidFill>
          <a:ln/>
        </p:spPr>
      </p:sp>
      <p:sp>
        <p:nvSpPr>
          <p:cNvPr id="10" name="Text 8"/>
          <p:cNvSpPr txBox="1"/>
          <p:nvPr/>
        </p:nvSpPr>
        <p:spPr>
          <a:xfrm>
            <a:off x="566928" y="22128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1097280" y="2194560"/>
            <a:ext cx="4206240"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Objectives</a:t>
            </a:r>
            <a:endParaRPr lang="en-US" sz="1500" dirty="0"/>
          </a:p>
        </p:txBody>
      </p:sp>
      <p:sp>
        <p:nvSpPr>
          <p:cNvPr id="12" name="Text 10"/>
          <p:cNvSpPr txBox="1"/>
          <p:nvPr/>
        </p:nvSpPr>
        <p:spPr>
          <a:xfrm>
            <a:off x="1097280" y="2468880"/>
            <a:ext cx="4754880" cy="274320"/>
          </a:xfrm>
          <a:prstGeom prst="rect">
            <a:avLst/>
          </a:prstGeom>
          <a:noFill/>
          <a:ln/>
        </p:spPr>
        <p:txBody>
          <a:bodyPr wrap="square" lIns="0" tIns="0" rIns="0" bIns="0" rtlCol="0" anchor="ctr"/>
          <a:lstStyle/>
          <a:p>
            <a:pPr indent="0" marL="0">
              <a:buNone/>
            </a:pPr>
            <a:r>
              <a:rPr lang="en-US" sz="1200" dirty="0">
                <a:solidFill>
                  <a:srgbClr val="61737C"/>
                </a:solidFill>
                <a:latin typeface="Calibri" pitchFamily="34" charset="0"/>
                <a:ea typeface="Calibri" pitchFamily="34" charset="-122"/>
                <a:cs typeface="Calibri" pitchFamily="34" charset="-120"/>
              </a:rPr>
              <a:t>what the system is required to do</a:t>
            </a:r>
            <a:endParaRPr lang="en-US" sz="1200" dirty="0"/>
          </a:p>
        </p:txBody>
      </p:sp>
      <p:sp>
        <p:nvSpPr>
          <p:cNvPr id="13" name="Shape 11"/>
          <p:cNvSpPr/>
          <p:nvPr/>
        </p:nvSpPr>
        <p:spPr>
          <a:xfrm>
            <a:off x="566928" y="2926080"/>
            <a:ext cx="347472" cy="347472"/>
          </a:xfrm>
          <a:prstGeom prst="ellipse">
            <a:avLst/>
          </a:prstGeom>
          <a:solidFill>
            <a:srgbClr val="0F8A7E"/>
          </a:solidFill>
          <a:ln/>
        </p:spPr>
      </p:sp>
      <p:sp>
        <p:nvSpPr>
          <p:cNvPr id="14" name="Text 12"/>
          <p:cNvSpPr txBox="1"/>
          <p:nvPr/>
        </p:nvSpPr>
        <p:spPr>
          <a:xfrm>
            <a:off x="566928" y="29260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097280" y="2907792"/>
            <a:ext cx="4206240"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Dataset</a:t>
            </a:r>
            <a:endParaRPr lang="en-US" sz="1500" dirty="0"/>
          </a:p>
        </p:txBody>
      </p:sp>
      <p:sp>
        <p:nvSpPr>
          <p:cNvPr id="16" name="Text 14"/>
          <p:cNvSpPr txBox="1"/>
          <p:nvPr/>
        </p:nvSpPr>
        <p:spPr>
          <a:xfrm>
            <a:off x="1097280" y="3182112"/>
            <a:ext cx="4754880" cy="274320"/>
          </a:xfrm>
          <a:prstGeom prst="rect">
            <a:avLst/>
          </a:prstGeom>
          <a:noFill/>
          <a:ln/>
        </p:spPr>
        <p:txBody>
          <a:bodyPr wrap="square" lIns="0" tIns="0" rIns="0" bIns="0" rtlCol="0" anchor="ctr"/>
          <a:lstStyle/>
          <a:p>
            <a:pPr indent="0" marL="0">
              <a:buNone/>
            </a:pPr>
            <a:r>
              <a:rPr lang="en-US" sz="1200" dirty="0">
                <a:solidFill>
                  <a:srgbClr val="61737C"/>
                </a:solidFill>
                <a:latin typeface="Calibri" pitchFamily="34" charset="0"/>
                <a:ea typeface="Calibri" pitchFamily="34" charset="-122"/>
                <a:cs typeface="Calibri" pitchFamily="34" charset="-120"/>
              </a:rPr>
              <a:t>the demand panel and the process that generates it</a:t>
            </a:r>
            <a:endParaRPr lang="en-US" sz="1200" dirty="0"/>
          </a:p>
        </p:txBody>
      </p:sp>
      <p:sp>
        <p:nvSpPr>
          <p:cNvPr id="17" name="Shape 15"/>
          <p:cNvSpPr/>
          <p:nvPr/>
        </p:nvSpPr>
        <p:spPr>
          <a:xfrm>
            <a:off x="566928" y="3639312"/>
            <a:ext cx="347472" cy="347472"/>
          </a:xfrm>
          <a:prstGeom prst="ellipse">
            <a:avLst/>
          </a:prstGeom>
          <a:solidFill>
            <a:srgbClr val="39B7A4"/>
          </a:solidFill>
          <a:ln/>
        </p:spPr>
      </p:sp>
      <p:sp>
        <p:nvSpPr>
          <p:cNvPr id="18" name="Text 16"/>
          <p:cNvSpPr txBox="1"/>
          <p:nvPr/>
        </p:nvSpPr>
        <p:spPr>
          <a:xfrm>
            <a:off x="566928" y="36393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txBox="1"/>
          <p:nvPr/>
        </p:nvSpPr>
        <p:spPr>
          <a:xfrm>
            <a:off x="1097280" y="3621024"/>
            <a:ext cx="4206240"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Methodology</a:t>
            </a:r>
            <a:endParaRPr lang="en-US" sz="1500" dirty="0"/>
          </a:p>
        </p:txBody>
      </p:sp>
      <p:sp>
        <p:nvSpPr>
          <p:cNvPr id="20" name="Text 18"/>
          <p:cNvSpPr txBox="1"/>
          <p:nvPr/>
        </p:nvSpPr>
        <p:spPr>
          <a:xfrm>
            <a:off x="1097280" y="3895344"/>
            <a:ext cx="4754880" cy="274320"/>
          </a:xfrm>
          <a:prstGeom prst="rect">
            <a:avLst/>
          </a:prstGeom>
          <a:noFill/>
          <a:ln/>
        </p:spPr>
        <p:txBody>
          <a:bodyPr wrap="square" lIns="0" tIns="0" rIns="0" bIns="0" rtlCol="0" anchor="ctr"/>
          <a:lstStyle/>
          <a:p>
            <a:pPr indent="0" marL="0">
              <a:buNone/>
            </a:pPr>
            <a:r>
              <a:rPr lang="en-US" sz="1200" dirty="0">
                <a:solidFill>
                  <a:srgbClr val="61737C"/>
                </a:solidFill>
                <a:latin typeface="Calibri" pitchFamily="34" charset="0"/>
                <a:ea typeface="Calibri" pitchFamily="34" charset="-122"/>
                <a:cs typeface="Calibri" pitchFamily="34" charset="-120"/>
              </a:rPr>
              <a:t>the forecasting model and the inventory model</a:t>
            </a:r>
            <a:endParaRPr lang="en-US" sz="1200" dirty="0"/>
          </a:p>
        </p:txBody>
      </p:sp>
      <p:sp>
        <p:nvSpPr>
          <p:cNvPr id="21" name="Shape 19"/>
          <p:cNvSpPr/>
          <p:nvPr/>
        </p:nvSpPr>
        <p:spPr>
          <a:xfrm>
            <a:off x="566928" y="4352544"/>
            <a:ext cx="347472" cy="347472"/>
          </a:xfrm>
          <a:prstGeom prst="ellipse">
            <a:avLst/>
          </a:prstGeom>
          <a:solidFill>
            <a:srgbClr val="0F8A7E"/>
          </a:solidFill>
          <a:ln/>
        </p:spPr>
      </p:sp>
      <p:sp>
        <p:nvSpPr>
          <p:cNvPr id="22" name="Text 20"/>
          <p:cNvSpPr txBox="1"/>
          <p:nvPr/>
        </p:nvSpPr>
        <p:spPr>
          <a:xfrm>
            <a:off x="566928" y="43525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3" name="Text 21"/>
          <p:cNvSpPr txBox="1"/>
          <p:nvPr/>
        </p:nvSpPr>
        <p:spPr>
          <a:xfrm>
            <a:off x="1097280" y="4334256"/>
            <a:ext cx="4206240"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Results</a:t>
            </a:r>
            <a:endParaRPr lang="en-US" sz="1500" dirty="0"/>
          </a:p>
        </p:txBody>
      </p:sp>
      <p:sp>
        <p:nvSpPr>
          <p:cNvPr id="24" name="Text 22"/>
          <p:cNvSpPr txBox="1"/>
          <p:nvPr/>
        </p:nvSpPr>
        <p:spPr>
          <a:xfrm>
            <a:off x="1097280" y="4608576"/>
            <a:ext cx="4754880" cy="274320"/>
          </a:xfrm>
          <a:prstGeom prst="rect">
            <a:avLst/>
          </a:prstGeom>
          <a:noFill/>
          <a:ln/>
        </p:spPr>
        <p:txBody>
          <a:bodyPr wrap="square" lIns="0" tIns="0" rIns="0" bIns="0" rtlCol="0" anchor="ctr"/>
          <a:lstStyle/>
          <a:p>
            <a:pPr indent="0" marL="0">
              <a:buNone/>
            </a:pPr>
            <a:r>
              <a:rPr lang="en-US" sz="1200" dirty="0">
                <a:solidFill>
                  <a:srgbClr val="61737C"/>
                </a:solidFill>
                <a:latin typeface="Calibri" pitchFamily="34" charset="0"/>
                <a:ea typeface="Calibri" pitchFamily="34" charset="-122"/>
                <a:cs typeface="Calibri" pitchFamily="34" charset="-120"/>
              </a:rPr>
              <a:t>accuracy against a benchmark, and the cost trade-off</a:t>
            </a:r>
            <a:endParaRPr lang="en-US" sz="1200" dirty="0"/>
          </a:p>
        </p:txBody>
      </p:sp>
      <p:sp>
        <p:nvSpPr>
          <p:cNvPr id="25" name="Shape 23"/>
          <p:cNvSpPr/>
          <p:nvPr/>
        </p:nvSpPr>
        <p:spPr>
          <a:xfrm>
            <a:off x="566928" y="5065776"/>
            <a:ext cx="347472" cy="347472"/>
          </a:xfrm>
          <a:prstGeom prst="ellipse">
            <a:avLst/>
          </a:prstGeom>
          <a:solidFill>
            <a:srgbClr val="39B7A4"/>
          </a:solidFill>
          <a:ln/>
        </p:spPr>
      </p:sp>
      <p:sp>
        <p:nvSpPr>
          <p:cNvPr id="26" name="Text 24"/>
          <p:cNvSpPr txBox="1"/>
          <p:nvPr/>
        </p:nvSpPr>
        <p:spPr>
          <a:xfrm>
            <a:off x="566928" y="5065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7" name="Text 25"/>
          <p:cNvSpPr txBox="1"/>
          <p:nvPr/>
        </p:nvSpPr>
        <p:spPr>
          <a:xfrm>
            <a:off x="1097280" y="5047488"/>
            <a:ext cx="4206240"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Conclusion</a:t>
            </a:r>
            <a:endParaRPr lang="en-US" sz="1500" dirty="0"/>
          </a:p>
        </p:txBody>
      </p:sp>
      <p:sp>
        <p:nvSpPr>
          <p:cNvPr id="28" name="Text 26"/>
          <p:cNvSpPr txBox="1"/>
          <p:nvPr/>
        </p:nvSpPr>
        <p:spPr>
          <a:xfrm>
            <a:off x="1097280" y="5321808"/>
            <a:ext cx="4754880" cy="274320"/>
          </a:xfrm>
          <a:prstGeom prst="rect">
            <a:avLst/>
          </a:prstGeom>
          <a:noFill/>
          <a:ln/>
        </p:spPr>
        <p:txBody>
          <a:bodyPr wrap="square" lIns="0" tIns="0" rIns="0" bIns="0" rtlCol="0" anchor="ctr"/>
          <a:lstStyle/>
          <a:p>
            <a:pPr indent="0" marL="0">
              <a:buNone/>
            </a:pPr>
            <a:r>
              <a:rPr lang="en-US" sz="1200" dirty="0">
                <a:solidFill>
                  <a:srgbClr val="61737C"/>
                </a:solidFill>
                <a:latin typeface="Calibri" pitchFamily="34" charset="0"/>
                <a:ea typeface="Calibri" pitchFamily="34" charset="-122"/>
                <a:cs typeface="Calibri" pitchFamily="34" charset="-120"/>
              </a:rPr>
              <a:t>what works, what is limited, and what comes next</a:t>
            </a:r>
            <a:endParaRPr lang="en-US" sz="1200" dirty="0"/>
          </a:p>
        </p:txBody>
      </p:sp>
      <p:sp>
        <p:nvSpPr>
          <p:cNvPr id="29" name="Shape 27"/>
          <p:cNvSpPr/>
          <p:nvPr/>
        </p:nvSpPr>
        <p:spPr>
          <a:xfrm>
            <a:off x="6309360" y="1481328"/>
            <a:ext cx="5285232" cy="2286000"/>
          </a:xfrm>
          <a:prstGeom prst="roundRect">
            <a:avLst>
              <a:gd name="adj" fmla="val 2400"/>
            </a:avLst>
          </a:prstGeom>
          <a:solidFill>
            <a:srgbClr val="EAF3F2"/>
          </a:solidFill>
          <a:ln w="9525">
            <a:solidFill>
              <a:srgbClr val="D3E4E1"/>
            </a:solidFill>
            <a:prstDash val="solid"/>
          </a:ln>
          <a:effectLst>
            <a:outerShdw sx="100000" sy="100000" kx="0" ky="0" algn="bl" rotWithShape="0" blurRad="127000" dist="25400" dir="5400000">
              <a:srgbClr val="A3B3BA">
                <a:alpha val="30000"/>
              </a:srgbClr>
            </a:outerShdw>
          </a:effectLst>
        </p:spPr>
      </p:sp>
      <p:sp>
        <p:nvSpPr>
          <p:cNvPr id="30" name="Text 28"/>
          <p:cNvSpPr txBox="1"/>
          <p:nvPr/>
        </p:nvSpPr>
        <p:spPr>
          <a:xfrm>
            <a:off x="6565392" y="1645920"/>
            <a:ext cx="4773168"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HOW TO READ THIS DECK</a:t>
            </a:r>
            <a:endParaRPr lang="en-US" sz="1050" dirty="0"/>
          </a:p>
        </p:txBody>
      </p:sp>
      <p:sp>
        <p:nvSpPr>
          <p:cNvPr id="31" name="Text 29"/>
          <p:cNvSpPr txBox="1"/>
          <p:nvPr/>
        </p:nvSpPr>
        <p:spPr>
          <a:xfrm>
            <a:off x="6565392" y="1883664"/>
            <a:ext cx="4773168" cy="1719072"/>
          </a:xfrm>
          <a:prstGeom prst="rect">
            <a:avLst/>
          </a:prstGeom>
          <a:noFill/>
          <a:ln/>
        </p:spPr>
        <p:txBody>
          <a:bodyPr wrap="square" lIns="0" tIns="0" rIns="0" bIns="0" rtlCol="0" anchor="ctr"/>
          <a:lstStyle/>
          <a:p>
            <a:pPr indent="0" marL="0">
              <a:lnSpc>
                <a:spcPts val="1700"/>
              </a:lnSpc>
              <a:buNone/>
            </a:pPr>
            <a:r>
              <a:rPr lang="en-US" sz="1200" dirty="0">
                <a:solidFill>
                  <a:srgbClr val="3C5259"/>
                </a:solidFill>
                <a:latin typeface="Calibri" pitchFamily="34" charset="0"/>
                <a:ea typeface="Calibri" pitchFamily="34" charset="-122"/>
                <a:cs typeface="Calibri" pitchFamily="34" charset="-120"/>
              </a:rPr>
              <a:t>The project has two halves that are easy to confuse. The first half predicts how much will be sold. The second half decides how much to buy, given that the prediction will be wrong by some amount. Almost all of the value sits in the second half — the size of the mistake matters more than the prediction itself.</a:t>
            </a:r>
            <a:endParaRPr lang="en-US" sz="1200" dirty="0"/>
          </a:p>
        </p:txBody>
      </p:sp>
      <p:sp>
        <p:nvSpPr>
          <p:cNvPr id="32" name="Shape 30"/>
          <p:cNvSpPr/>
          <p:nvPr/>
        </p:nvSpPr>
        <p:spPr>
          <a:xfrm>
            <a:off x="6309360" y="3913632"/>
            <a:ext cx="5285232" cy="1773936"/>
          </a:xfrm>
          <a:prstGeom prst="roundRect">
            <a:avLst>
              <a:gd name="adj" fmla="val 3093"/>
            </a:avLst>
          </a:prstGeom>
          <a:solidFill>
            <a:srgbClr val="EAF3F2"/>
          </a:solidFill>
          <a:ln w="9525">
            <a:solidFill>
              <a:srgbClr val="D3E4E1"/>
            </a:solidFill>
            <a:prstDash val="solid"/>
          </a:ln>
          <a:effectLst>
            <a:outerShdw sx="100000" sy="100000" kx="0" ky="0" algn="bl" rotWithShape="0" blurRad="127000" dist="25400" dir="5400000">
              <a:srgbClr val="A3B3BA">
                <a:alpha val="30000"/>
              </a:srgbClr>
            </a:outerShdw>
          </a:effectLst>
        </p:spPr>
      </p:sp>
      <p:sp>
        <p:nvSpPr>
          <p:cNvPr id="33" name="Text 31"/>
          <p:cNvSpPr txBox="1"/>
          <p:nvPr/>
        </p:nvSpPr>
        <p:spPr>
          <a:xfrm>
            <a:off x="6565392" y="4078224"/>
            <a:ext cx="4773168"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A NOTE ON THE DATA</a:t>
            </a:r>
            <a:endParaRPr lang="en-US" sz="1050" dirty="0"/>
          </a:p>
        </p:txBody>
      </p:sp>
      <p:sp>
        <p:nvSpPr>
          <p:cNvPr id="34" name="Text 32"/>
          <p:cNvSpPr txBox="1"/>
          <p:nvPr/>
        </p:nvSpPr>
        <p:spPr>
          <a:xfrm>
            <a:off x="6565392" y="4315968"/>
            <a:ext cx="4773168" cy="1207008"/>
          </a:xfrm>
          <a:prstGeom prst="rect">
            <a:avLst/>
          </a:prstGeom>
          <a:noFill/>
          <a:ln/>
        </p:spPr>
        <p:txBody>
          <a:bodyPr wrap="square" lIns="0" tIns="0" rIns="0" bIns="0" rtlCol="0" anchor="ctr"/>
          <a:lstStyle/>
          <a:p>
            <a:pPr indent="0" marL="0">
              <a:lnSpc>
                <a:spcPts val="1700"/>
              </a:lnSpc>
              <a:buNone/>
            </a:pPr>
            <a:r>
              <a:rPr lang="en-US" sz="1200" dirty="0">
                <a:solidFill>
                  <a:srgbClr val="3C5259"/>
                </a:solidFill>
                <a:latin typeface="Calibri" pitchFamily="34" charset="0"/>
                <a:ea typeface="Calibri" pitchFamily="34" charset="-122"/>
                <a:cs typeface="Calibri" pitchFamily="34" charset="-120"/>
              </a:rPr>
              <a:t>The transaction history is synthetic and generated with a fixed random seed. That is a deliberate choice: because we know exactly what signal was put in, we can check honestly whether the model recovered 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PROBLEM STATEMENT</a:t>
            </a:r>
            <a:endParaRPr lang="en-US" sz="1150" dirty="0"/>
          </a:p>
        </p:txBody>
      </p:sp>
      <p:sp>
        <p:nvSpPr>
          <p:cNvPr id="3" name="Text 1"/>
          <p:cNvSpPr txBox="1"/>
          <p:nvPr/>
        </p:nvSpPr>
        <p:spPr>
          <a:xfrm>
            <a:off x="566928" y="603504"/>
            <a:ext cx="10332720" cy="548640"/>
          </a:xfrm>
          <a:prstGeom prst="rect">
            <a:avLst/>
          </a:prstGeom>
          <a:noFill/>
          <a:ln/>
        </p:spPr>
        <p:txBody>
          <a:bodyPr wrap="square" lIns="0" tIns="0" rIns="0" bIns="0" rtlCol="0" anchor="ctr"/>
          <a:lstStyle/>
          <a:p>
            <a:pPr indent="0" marL="0">
              <a:buNone/>
            </a:pPr>
            <a:r>
              <a:rPr lang="en-US" sz="3100" b="1" dirty="0">
                <a:solidFill>
                  <a:srgbClr val="0E2A33"/>
                </a:solidFill>
                <a:latin typeface="Cambria" pitchFamily="34" charset="0"/>
                <a:ea typeface="Cambria" pitchFamily="34" charset="-122"/>
                <a:cs typeface="Cambria" pitchFamily="34" charset="-120"/>
              </a:rPr>
              <a:t>Two ways to be wrong, one number behind both</a:t>
            </a:r>
            <a:endParaRPr lang="en-US" sz="3100" dirty="0"/>
          </a:p>
        </p:txBody>
      </p:sp>
      <p:sp>
        <p:nvSpPr>
          <p:cNvPr id="4" name="Text 2"/>
          <p:cNvSpPr txBox="1"/>
          <p:nvPr/>
        </p:nvSpPr>
        <p:spPr>
          <a:xfrm>
            <a:off x="10972800" y="384048"/>
            <a:ext cx="640080" cy="457200"/>
          </a:xfrm>
          <a:prstGeom prst="rect">
            <a:avLst/>
          </a:prstGeom>
          <a:noFill/>
          <a:ln/>
        </p:spPr>
        <p:txBody>
          <a:bodyPr wrap="square" lIns="0" tIns="0" rIns="0" bIns="0" rtlCol="0" anchor="ctr"/>
          <a:lstStyle/>
          <a:p>
            <a:pPr algn="r" indent="0" marL="0">
              <a:buNone/>
            </a:pPr>
            <a:r>
              <a:rPr lang="en-US" sz="2400" b="1" dirty="0">
                <a:solidFill>
                  <a:srgbClr val="D6E1E3"/>
                </a:solidFill>
                <a:latin typeface="Cambria" pitchFamily="34" charset="0"/>
                <a:ea typeface="Cambria" pitchFamily="34" charset="-122"/>
                <a:cs typeface="Cambria" pitchFamily="34" charset="-120"/>
              </a:rPr>
              <a:t>03</a:t>
            </a:r>
            <a:endParaRPr lang="en-US" sz="2400" dirty="0"/>
          </a:p>
        </p:txBody>
      </p:sp>
      <p:sp>
        <p:nvSpPr>
          <p:cNvPr id="5" name="Shape 3"/>
          <p:cNvSpPr/>
          <p:nvPr/>
        </p:nvSpPr>
        <p:spPr>
          <a:xfrm>
            <a:off x="566928" y="1481328"/>
            <a:ext cx="384048" cy="384048"/>
          </a:xfrm>
          <a:prstGeom prst="ellipse">
            <a:avLst/>
          </a:prstGeom>
          <a:solidFill>
            <a:srgbClr val="0F8A7E"/>
          </a:solidFill>
          <a:ln/>
        </p:spPr>
      </p:sp>
      <p:sp>
        <p:nvSpPr>
          <p:cNvPr id="6" name="Text 4"/>
          <p:cNvSpPr txBox="1"/>
          <p:nvPr/>
        </p:nvSpPr>
        <p:spPr>
          <a:xfrm>
            <a:off x="566928" y="1481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33856" y="1453896"/>
            <a:ext cx="4828032"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Order too little</a:t>
            </a:r>
            <a:endParaRPr lang="en-US" sz="1500" dirty="0"/>
          </a:p>
        </p:txBody>
      </p:sp>
      <p:sp>
        <p:nvSpPr>
          <p:cNvPr id="8" name="Text 6"/>
          <p:cNvSpPr txBox="1"/>
          <p:nvPr/>
        </p:nvSpPr>
        <p:spPr>
          <a:xfrm>
            <a:off x="1133856" y="1746504"/>
            <a:ext cx="4828032" cy="731520"/>
          </a:xfrm>
          <a:prstGeom prst="rect">
            <a:avLst/>
          </a:prstGeom>
          <a:noFill/>
          <a:ln/>
        </p:spPr>
        <p:txBody>
          <a:bodyPr wrap="square" lIns="0" tIns="0" rIns="0" bIns="0" rtlCol="0" anchor="ctr"/>
          <a:lstStyle/>
          <a:p>
            <a:pPr indent="0" marL="0">
              <a:lnSpc>
                <a:spcPts val="1600"/>
              </a:lnSpc>
              <a:buNone/>
            </a:pPr>
            <a:r>
              <a:rPr lang="en-US" sz="1250" dirty="0">
                <a:solidFill>
                  <a:srgbClr val="61737C"/>
                </a:solidFill>
                <a:latin typeface="Calibri" pitchFamily="34" charset="0"/>
                <a:ea typeface="Calibri" pitchFamily="34" charset="-122"/>
                <a:cs typeface="Calibri" pitchFamily="34" charset="-120"/>
              </a:rPr>
              <a:t>The shelf is empty when a customer arrives. The sale is lost, and it leaves no record in the sales history — so the next forecast is trained on demand that was never met.</a:t>
            </a:r>
            <a:endParaRPr lang="en-US" sz="1250" dirty="0"/>
          </a:p>
        </p:txBody>
      </p:sp>
      <p:sp>
        <p:nvSpPr>
          <p:cNvPr id="9" name="Shape 7"/>
          <p:cNvSpPr/>
          <p:nvPr/>
        </p:nvSpPr>
        <p:spPr>
          <a:xfrm>
            <a:off x="566928" y="2706624"/>
            <a:ext cx="384048" cy="384048"/>
          </a:xfrm>
          <a:prstGeom prst="ellipse">
            <a:avLst/>
          </a:prstGeom>
          <a:solidFill>
            <a:srgbClr val="0F8A7E"/>
          </a:solidFill>
          <a:ln/>
        </p:spPr>
      </p:sp>
      <p:sp>
        <p:nvSpPr>
          <p:cNvPr id="10" name="Text 8"/>
          <p:cNvSpPr txBox="1"/>
          <p:nvPr/>
        </p:nvSpPr>
        <p:spPr>
          <a:xfrm>
            <a:off x="566928" y="27066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33856" y="2679192"/>
            <a:ext cx="4828032"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Order too much</a:t>
            </a:r>
            <a:endParaRPr lang="en-US" sz="1500" dirty="0"/>
          </a:p>
        </p:txBody>
      </p:sp>
      <p:sp>
        <p:nvSpPr>
          <p:cNvPr id="12" name="Text 10"/>
          <p:cNvSpPr txBox="1"/>
          <p:nvPr/>
        </p:nvSpPr>
        <p:spPr>
          <a:xfrm>
            <a:off x="1133856" y="2971800"/>
            <a:ext cx="4828032" cy="731520"/>
          </a:xfrm>
          <a:prstGeom prst="rect">
            <a:avLst/>
          </a:prstGeom>
          <a:noFill/>
          <a:ln/>
        </p:spPr>
        <p:txBody>
          <a:bodyPr wrap="square" lIns="0" tIns="0" rIns="0" bIns="0" rtlCol="0" anchor="ctr"/>
          <a:lstStyle/>
          <a:p>
            <a:pPr indent="0" marL="0">
              <a:lnSpc>
                <a:spcPts val="1600"/>
              </a:lnSpc>
              <a:buNone/>
            </a:pPr>
            <a:r>
              <a:rPr lang="en-US" sz="1250" dirty="0">
                <a:solidFill>
                  <a:srgbClr val="61737C"/>
                </a:solidFill>
                <a:latin typeface="Calibri" pitchFamily="34" charset="0"/>
                <a:ea typeface="Calibri" pitchFamily="34" charset="-122"/>
                <a:cs typeface="Calibri" pitchFamily="34" charset="-120"/>
              </a:rPr>
              <a:t>Cash sits in a stockroom earning nothing, carrying an annual holding cost of 18–28% of unit cost before any markdown.</a:t>
            </a:r>
            <a:endParaRPr lang="en-US" sz="1250" dirty="0"/>
          </a:p>
        </p:txBody>
      </p:sp>
      <p:sp>
        <p:nvSpPr>
          <p:cNvPr id="13" name="Shape 11"/>
          <p:cNvSpPr/>
          <p:nvPr/>
        </p:nvSpPr>
        <p:spPr>
          <a:xfrm>
            <a:off x="566928" y="3931920"/>
            <a:ext cx="384048" cy="384048"/>
          </a:xfrm>
          <a:prstGeom prst="ellipse">
            <a:avLst/>
          </a:prstGeom>
          <a:solidFill>
            <a:srgbClr val="0F8A7E"/>
          </a:solidFill>
          <a:ln/>
        </p:spPr>
      </p:sp>
      <p:sp>
        <p:nvSpPr>
          <p:cNvPr id="14" name="Text 12"/>
          <p:cNvSpPr txBox="1"/>
          <p:nvPr/>
        </p:nvSpPr>
        <p:spPr>
          <a:xfrm>
            <a:off x="566928" y="3931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133856" y="3904488"/>
            <a:ext cx="4828032"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Apply one rule to everything</a:t>
            </a:r>
            <a:endParaRPr lang="en-US" sz="1500" dirty="0"/>
          </a:p>
        </p:txBody>
      </p:sp>
      <p:sp>
        <p:nvSpPr>
          <p:cNvPr id="16" name="Text 14"/>
          <p:cNvSpPr txBox="1"/>
          <p:nvPr/>
        </p:nvSpPr>
        <p:spPr>
          <a:xfrm>
            <a:off x="1133856" y="4197096"/>
            <a:ext cx="4828032" cy="731520"/>
          </a:xfrm>
          <a:prstGeom prst="rect">
            <a:avLst/>
          </a:prstGeom>
          <a:noFill/>
          <a:ln/>
        </p:spPr>
        <p:txBody>
          <a:bodyPr wrap="square" lIns="0" tIns="0" rIns="0" bIns="0" rtlCol="0" anchor="ctr"/>
          <a:lstStyle/>
          <a:p>
            <a:pPr indent="0" marL="0">
              <a:lnSpc>
                <a:spcPts val="1600"/>
              </a:lnSpc>
              <a:buNone/>
            </a:pPr>
            <a:r>
              <a:rPr lang="en-US" sz="1250" dirty="0">
                <a:solidFill>
                  <a:srgbClr val="61737C"/>
                </a:solidFill>
                <a:latin typeface="Calibri" pitchFamily="34" charset="0"/>
                <a:ea typeface="Calibri" pitchFamily="34" charset="-122"/>
                <a:cs typeface="Calibri" pitchFamily="34" charset="-120"/>
              </a:rPr>
              <a:t>A single service target across the range over-buffers the predictable lines and still under-buffers the volatile ones.</a:t>
            </a:r>
            <a:endParaRPr lang="en-US" sz="1250" dirty="0"/>
          </a:p>
        </p:txBody>
      </p:sp>
      <p:sp>
        <p:nvSpPr>
          <p:cNvPr id="17" name="Shape 15"/>
          <p:cNvSpPr/>
          <p:nvPr/>
        </p:nvSpPr>
        <p:spPr>
          <a:xfrm>
            <a:off x="6446520" y="1481328"/>
            <a:ext cx="5148072" cy="2788920"/>
          </a:xfrm>
          <a:prstGeom prst="roundRect">
            <a:avLst>
              <a:gd name="adj" fmla="val 1967"/>
            </a:avLst>
          </a:prstGeom>
          <a:solidFill>
            <a:srgbClr val="0E2A33"/>
          </a:solidFill>
          <a:ln w="9525">
            <a:solidFill>
              <a:srgbClr val="0E2A33"/>
            </a:solidFill>
            <a:prstDash val="solid"/>
          </a:ln>
          <a:effectLst>
            <a:outerShdw sx="100000" sy="100000" kx="0" ky="0" algn="bl" rotWithShape="0" blurRad="127000" dist="25400" dir="5400000">
              <a:srgbClr val="A3B3BA">
                <a:alpha val="30000"/>
              </a:srgbClr>
            </a:outerShdw>
          </a:effectLst>
        </p:spPr>
      </p:sp>
      <p:sp>
        <p:nvSpPr>
          <p:cNvPr id="18" name="Text 16"/>
          <p:cNvSpPr txBox="1"/>
          <p:nvPr/>
        </p:nvSpPr>
        <p:spPr>
          <a:xfrm>
            <a:off x="6720840" y="1700784"/>
            <a:ext cx="4572000" cy="237744"/>
          </a:xfrm>
          <a:prstGeom prst="rect">
            <a:avLst/>
          </a:prstGeom>
          <a:noFill/>
          <a:ln/>
        </p:spPr>
        <p:txBody>
          <a:bodyPr wrap="square" lIns="0" tIns="0" rIns="0" bIns="0" rtlCol="0" anchor="ctr"/>
          <a:lstStyle/>
          <a:p>
            <a:pPr indent="0" marL="0">
              <a:buNone/>
            </a:pPr>
            <a:r>
              <a:rPr lang="en-US" sz="1050" b="1" spc="130" kern="0" dirty="0">
                <a:solidFill>
                  <a:srgbClr val="39B7A4"/>
                </a:solidFill>
                <a:latin typeface="Calibri" pitchFamily="34" charset="0"/>
                <a:ea typeface="Calibri" pitchFamily="34" charset="-122"/>
                <a:cs typeface="Calibri" pitchFamily="34" charset="-120"/>
              </a:rPr>
              <a:t>THE QUANTITY THAT DECIDES BOTH</a:t>
            </a:r>
            <a:endParaRPr lang="en-US" sz="1050" dirty="0"/>
          </a:p>
        </p:txBody>
      </p:sp>
      <p:sp>
        <p:nvSpPr>
          <p:cNvPr id="19" name="Text 17"/>
          <p:cNvSpPr txBox="1"/>
          <p:nvPr/>
        </p:nvSpPr>
        <p:spPr>
          <a:xfrm>
            <a:off x="6720840" y="1938528"/>
            <a:ext cx="914400" cy="73152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σ</a:t>
            </a:r>
            <a:endParaRPr lang="en-US" sz="4800" dirty="0"/>
          </a:p>
        </p:txBody>
      </p:sp>
      <p:sp>
        <p:nvSpPr>
          <p:cNvPr id="20" name="Text 18"/>
          <p:cNvSpPr txBox="1"/>
          <p:nvPr/>
        </p:nvSpPr>
        <p:spPr>
          <a:xfrm>
            <a:off x="7498080" y="2157984"/>
            <a:ext cx="3840480" cy="457200"/>
          </a:xfrm>
          <a:prstGeom prst="rect">
            <a:avLst/>
          </a:prstGeom>
          <a:noFill/>
          <a:ln/>
        </p:spPr>
        <p:txBody>
          <a:bodyPr wrap="square" lIns="0" tIns="0" rIns="0" bIns="0" rtlCol="0" anchor="ctr"/>
          <a:lstStyle/>
          <a:p>
            <a:pPr indent="0" marL="0">
              <a:lnSpc>
                <a:spcPts val="1800"/>
              </a:lnSpc>
              <a:buNone/>
            </a:pPr>
            <a:r>
              <a:rPr lang="en-US" sz="1350" b="1" dirty="0">
                <a:solidFill>
                  <a:srgbClr val="FFFFFF"/>
                </a:solidFill>
                <a:latin typeface="Calibri" pitchFamily="34" charset="0"/>
                <a:ea typeface="Calibri" pitchFamily="34" charset="-122"/>
                <a:cs typeface="Calibri" pitchFamily="34" charset="-120"/>
              </a:rPr>
              <a:t>forecast error, not demand variability</a:t>
            </a:r>
            <a:endParaRPr lang="en-US" sz="1350" dirty="0"/>
          </a:p>
        </p:txBody>
      </p:sp>
      <p:sp>
        <p:nvSpPr>
          <p:cNvPr id="21" name="Text 19"/>
          <p:cNvSpPr txBox="1"/>
          <p:nvPr/>
        </p:nvSpPr>
        <p:spPr>
          <a:xfrm>
            <a:off x="6720840" y="2798064"/>
            <a:ext cx="4572000" cy="1280160"/>
          </a:xfrm>
          <a:prstGeom prst="rect">
            <a:avLst/>
          </a:prstGeom>
          <a:noFill/>
          <a:ln/>
        </p:spPr>
        <p:txBody>
          <a:bodyPr wrap="square" lIns="0" tIns="0" rIns="0" bIns="0" rtlCol="0" anchor="ctr"/>
          <a:lstStyle/>
          <a:p>
            <a:pPr indent="0" marL="0">
              <a:lnSpc>
                <a:spcPts val="1700"/>
              </a:lnSpc>
              <a:buNone/>
            </a:pPr>
            <a:r>
              <a:rPr lang="en-US" sz="1200" dirty="0">
                <a:solidFill>
                  <a:srgbClr val="A9BDC4"/>
                </a:solidFill>
                <a:latin typeface="Calibri" pitchFamily="34" charset="0"/>
                <a:ea typeface="Calibri" pitchFamily="34" charset="-122"/>
                <a:cs typeface="Calibri" pitchFamily="34" charset="-120"/>
              </a:rPr>
              <a:t>Sizing a buffer from the standard deviation of past sales charges the business for seasonality and promotions that were perfectly predictable. The correct input is what the model could not predict — the residuals of an out-of-sample test.</a:t>
            </a:r>
            <a:endParaRPr lang="en-US" sz="1200" dirty="0"/>
          </a:p>
        </p:txBody>
      </p:sp>
      <p:sp>
        <p:nvSpPr>
          <p:cNvPr id="22" name="Shape 20"/>
          <p:cNvSpPr/>
          <p:nvPr/>
        </p:nvSpPr>
        <p:spPr>
          <a:xfrm>
            <a:off x="6446520" y="4416552"/>
            <a:ext cx="5148072" cy="1298448"/>
          </a:xfrm>
          <a:prstGeom prst="roundRect">
            <a:avLst>
              <a:gd name="adj" fmla="val 4225"/>
            </a:avLst>
          </a:prstGeom>
          <a:solidFill>
            <a:srgbClr val="EAF3F2"/>
          </a:solidFill>
          <a:ln w="9525">
            <a:solidFill>
              <a:srgbClr val="D3E4E1"/>
            </a:solidFill>
            <a:prstDash val="solid"/>
          </a:ln>
          <a:effectLst>
            <a:outerShdw sx="100000" sy="100000" kx="0" ky="0" algn="bl" rotWithShape="0" blurRad="127000" dist="25400" dir="5400000">
              <a:srgbClr val="A3B3BA">
                <a:alpha val="30000"/>
              </a:srgbClr>
            </a:outerShdw>
          </a:effectLst>
        </p:spPr>
      </p:sp>
      <p:sp>
        <p:nvSpPr>
          <p:cNvPr id="23" name="Text 21"/>
          <p:cNvSpPr txBox="1"/>
          <p:nvPr/>
        </p:nvSpPr>
        <p:spPr>
          <a:xfrm>
            <a:off x="6702552" y="4581144"/>
            <a:ext cx="4636008"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IN PLAIN TERMS</a:t>
            </a:r>
            <a:endParaRPr lang="en-US" sz="1050" dirty="0"/>
          </a:p>
        </p:txBody>
      </p:sp>
      <p:sp>
        <p:nvSpPr>
          <p:cNvPr id="24" name="Text 22"/>
          <p:cNvSpPr txBox="1"/>
          <p:nvPr/>
        </p:nvSpPr>
        <p:spPr>
          <a:xfrm>
            <a:off x="6702552" y="4818888"/>
            <a:ext cx="4636008" cy="731520"/>
          </a:xfrm>
          <a:prstGeom prst="rect">
            <a:avLst/>
          </a:prstGeom>
          <a:noFill/>
          <a:ln/>
        </p:spPr>
        <p:txBody>
          <a:bodyPr wrap="square" lIns="0" tIns="0" rIns="0" bIns="0" rtlCol="0" anchor="ctr"/>
          <a:lstStyle/>
          <a:p>
            <a:pPr indent="0" marL="0">
              <a:lnSpc>
                <a:spcPts val="1700"/>
              </a:lnSpc>
              <a:buNone/>
            </a:pPr>
            <a:r>
              <a:rPr lang="en-US" sz="1200" dirty="0">
                <a:solidFill>
                  <a:srgbClr val="3C5259"/>
                </a:solidFill>
                <a:latin typeface="Calibri" pitchFamily="34" charset="0"/>
                <a:ea typeface="Calibri" pitchFamily="34" charset="-122"/>
                <a:cs typeface="Calibri" pitchFamily="34" charset="-120"/>
              </a:rPr>
              <a:t>A buffer is insurance against being wrong. It should be priced from how wrong we usually are — not from how much the sales line happens to wobble.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OBJECTIVES</a:t>
            </a:r>
            <a:endParaRPr lang="en-US" sz="1150" dirty="0"/>
          </a:p>
        </p:txBody>
      </p:sp>
      <p:sp>
        <p:nvSpPr>
          <p:cNvPr id="3" name="Text 1"/>
          <p:cNvSpPr txBox="1"/>
          <p:nvPr/>
        </p:nvSpPr>
        <p:spPr>
          <a:xfrm>
            <a:off x="566928" y="603504"/>
            <a:ext cx="10332720" cy="548640"/>
          </a:xfrm>
          <a:prstGeom prst="rect">
            <a:avLst/>
          </a:prstGeom>
          <a:noFill/>
          <a:ln/>
        </p:spPr>
        <p:txBody>
          <a:bodyPr wrap="square" lIns="0" tIns="0" rIns="0" bIns="0" rtlCol="0" anchor="ctr"/>
          <a:lstStyle/>
          <a:p>
            <a:pPr indent="0" marL="0">
              <a:buNone/>
            </a:pPr>
            <a:r>
              <a:rPr lang="en-US" sz="3100" b="1" dirty="0">
                <a:solidFill>
                  <a:srgbClr val="0E2A33"/>
                </a:solidFill>
                <a:latin typeface="Cambria" pitchFamily="34" charset="0"/>
                <a:ea typeface="Cambria" pitchFamily="34" charset="-122"/>
                <a:cs typeface="Cambria" pitchFamily="34" charset="-120"/>
              </a:rPr>
              <a:t>What the system is required to do</a:t>
            </a:r>
            <a:endParaRPr lang="en-US" sz="3100" dirty="0"/>
          </a:p>
        </p:txBody>
      </p:sp>
      <p:sp>
        <p:nvSpPr>
          <p:cNvPr id="4" name="Text 2"/>
          <p:cNvSpPr txBox="1"/>
          <p:nvPr/>
        </p:nvSpPr>
        <p:spPr>
          <a:xfrm>
            <a:off x="10972800" y="384048"/>
            <a:ext cx="640080" cy="457200"/>
          </a:xfrm>
          <a:prstGeom prst="rect">
            <a:avLst/>
          </a:prstGeom>
          <a:noFill/>
          <a:ln/>
        </p:spPr>
        <p:txBody>
          <a:bodyPr wrap="square" lIns="0" tIns="0" rIns="0" bIns="0" rtlCol="0" anchor="ctr"/>
          <a:lstStyle/>
          <a:p>
            <a:pPr algn="r" indent="0" marL="0">
              <a:buNone/>
            </a:pPr>
            <a:r>
              <a:rPr lang="en-US" sz="2400" b="1" dirty="0">
                <a:solidFill>
                  <a:srgbClr val="D6E1E3"/>
                </a:solidFill>
                <a:latin typeface="Cambria" pitchFamily="34" charset="0"/>
                <a:ea typeface="Cambria" pitchFamily="34" charset="-122"/>
                <a:cs typeface="Cambria" pitchFamily="34" charset="-120"/>
              </a:rPr>
              <a:t>04</a:t>
            </a:r>
            <a:endParaRPr lang="en-US" sz="2400" dirty="0"/>
          </a:p>
        </p:txBody>
      </p:sp>
      <p:sp>
        <p:nvSpPr>
          <p:cNvPr id="5" name="Shape 3"/>
          <p:cNvSpPr/>
          <p:nvPr/>
        </p:nvSpPr>
        <p:spPr>
          <a:xfrm>
            <a:off x="566928" y="1481328"/>
            <a:ext cx="5358384" cy="1280160"/>
          </a:xfrm>
          <a:prstGeom prst="roundRect">
            <a:avLst>
              <a:gd name="adj" fmla="val 4286"/>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6" name="Shape 4"/>
          <p:cNvSpPr/>
          <p:nvPr/>
        </p:nvSpPr>
        <p:spPr>
          <a:xfrm>
            <a:off x="822960" y="1737360"/>
            <a:ext cx="365760" cy="365760"/>
          </a:xfrm>
          <a:prstGeom prst="ellipse">
            <a:avLst/>
          </a:prstGeom>
          <a:solidFill>
            <a:srgbClr val="0F8A7E"/>
          </a:solidFill>
          <a:ln/>
        </p:spPr>
      </p:sp>
      <p:sp>
        <p:nvSpPr>
          <p:cNvPr id="7" name="Text 5"/>
          <p:cNvSpPr txBox="1"/>
          <p:nvPr/>
        </p:nvSpPr>
        <p:spPr>
          <a:xfrm>
            <a:off x="822960" y="1737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316736" y="1700784"/>
            <a:ext cx="4389120"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Forecast daily demand</a:t>
            </a:r>
            <a:endParaRPr lang="en-US" sz="1500" dirty="0"/>
          </a:p>
        </p:txBody>
      </p:sp>
      <p:sp>
        <p:nvSpPr>
          <p:cNvPr id="9" name="Text 7"/>
          <p:cNvSpPr txBox="1"/>
          <p:nvPr/>
        </p:nvSpPr>
        <p:spPr>
          <a:xfrm>
            <a:off x="1316736" y="1993392"/>
            <a:ext cx="4389120" cy="658368"/>
          </a:xfrm>
          <a:prstGeom prst="rect">
            <a:avLst/>
          </a:prstGeom>
          <a:noFill/>
          <a:ln/>
        </p:spPr>
        <p:txBody>
          <a:bodyPr wrap="square" lIns="0" tIns="0" rIns="0" bIns="0" rtlCol="0" anchor="ctr"/>
          <a:lstStyle/>
          <a:p>
            <a:pPr indent="0" marL="0">
              <a:lnSpc>
                <a:spcPts val="1600"/>
              </a:lnSpc>
              <a:buNone/>
            </a:pPr>
            <a:r>
              <a:rPr lang="en-US" sz="1200" dirty="0">
                <a:solidFill>
                  <a:srgbClr val="61737C"/>
                </a:solidFill>
                <a:latin typeface="Calibri" pitchFamily="34" charset="0"/>
                <a:ea typeface="Calibri" pitchFamily="34" charset="-122"/>
                <a:cs typeface="Calibri" pitchFamily="34" charset="-120"/>
              </a:rPr>
              <a:t>Produce a 28-day forecast for every store × SKU line, with a prediction interval, not just a point estimate.</a:t>
            </a:r>
            <a:endParaRPr lang="en-US" sz="1200" dirty="0"/>
          </a:p>
        </p:txBody>
      </p:sp>
      <p:sp>
        <p:nvSpPr>
          <p:cNvPr id="10" name="Shape 8"/>
          <p:cNvSpPr/>
          <p:nvPr/>
        </p:nvSpPr>
        <p:spPr>
          <a:xfrm>
            <a:off x="6236208" y="1481328"/>
            <a:ext cx="5358384" cy="1280160"/>
          </a:xfrm>
          <a:prstGeom prst="roundRect">
            <a:avLst>
              <a:gd name="adj" fmla="val 4286"/>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11" name="Shape 9"/>
          <p:cNvSpPr/>
          <p:nvPr/>
        </p:nvSpPr>
        <p:spPr>
          <a:xfrm>
            <a:off x="6492240" y="1737360"/>
            <a:ext cx="365760" cy="365760"/>
          </a:xfrm>
          <a:prstGeom prst="ellipse">
            <a:avLst/>
          </a:prstGeom>
          <a:solidFill>
            <a:srgbClr val="0F8A7E"/>
          </a:solidFill>
          <a:ln/>
        </p:spPr>
      </p:sp>
      <p:sp>
        <p:nvSpPr>
          <p:cNvPr id="12" name="Text 10"/>
          <p:cNvSpPr txBox="1"/>
          <p:nvPr/>
        </p:nvSpPr>
        <p:spPr>
          <a:xfrm>
            <a:off x="6492240" y="1737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6986016" y="1700784"/>
            <a:ext cx="4389120"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Prove the forecast is useful</a:t>
            </a:r>
            <a:endParaRPr lang="en-US" sz="1500" dirty="0"/>
          </a:p>
        </p:txBody>
      </p:sp>
      <p:sp>
        <p:nvSpPr>
          <p:cNvPr id="14" name="Text 12"/>
          <p:cNvSpPr txBox="1"/>
          <p:nvPr/>
        </p:nvSpPr>
        <p:spPr>
          <a:xfrm>
            <a:off x="6986016" y="1993392"/>
            <a:ext cx="4389120" cy="658368"/>
          </a:xfrm>
          <a:prstGeom prst="rect">
            <a:avLst/>
          </a:prstGeom>
          <a:noFill/>
          <a:ln/>
        </p:spPr>
        <p:txBody>
          <a:bodyPr wrap="square" lIns="0" tIns="0" rIns="0" bIns="0" rtlCol="0" anchor="ctr"/>
          <a:lstStyle/>
          <a:p>
            <a:pPr indent="0" marL="0">
              <a:lnSpc>
                <a:spcPts val="1600"/>
              </a:lnSpc>
              <a:buNone/>
            </a:pPr>
            <a:r>
              <a:rPr lang="en-US" sz="1200" dirty="0">
                <a:solidFill>
                  <a:srgbClr val="61737C"/>
                </a:solidFill>
                <a:latin typeface="Calibri" pitchFamily="34" charset="0"/>
                <a:ea typeface="Calibri" pitchFamily="34" charset="-122"/>
                <a:cs typeface="Calibri" pitchFamily="34" charset="-120"/>
              </a:rPr>
              <a:t>Measure it out of sample against a benchmark any planner could run for free.</a:t>
            </a:r>
            <a:endParaRPr lang="en-US" sz="1200" dirty="0"/>
          </a:p>
        </p:txBody>
      </p:sp>
      <p:sp>
        <p:nvSpPr>
          <p:cNvPr id="15" name="Shape 13"/>
          <p:cNvSpPr/>
          <p:nvPr/>
        </p:nvSpPr>
        <p:spPr>
          <a:xfrm>
            <a:off x="566928" y="2962656"/>
            <a:ext cx="5358384" cy="1280160"/>
          </a:xfrm>
          <a:prstGeom prst="roundRect">
            <a:avLst>
              <a:gd name="adj" fmla="val 4286"/>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16" name="Shape 14"/>
          <p:cNvSpPr/>
          <p:nvPr/>
        </p:nvSpPr>
        <p:spPr>
          <a:xfrm>
            <a:off x="822960" y="3218688"/>
            <a:ext cx="365760" cy="365760"/>
          </a:xfrm>
          <a:prstGeom prst="ellipse">
            <a:avLst/>
          </a:prstGeom>
          <a:solidFill>
            <a:srgbClr val="0F8A7E"/>
          </a:solidFill>
          <a:ln/>
        </p:spPr>
      </p:sp>
      <p:sp>
        <p:nvSpPr>
          <p:cNvPr id="17" name="Text 15"/>
          <p:cNvSpPr txBox="1"/>
          <p:nvPr/>
        </p:nvSpPr>
        <p:spPr>
          <a:xfrm>
            <a:off x="822960" y="321868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1316736" y="3182112"/>
            <a:ext cx="4389120"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Convert forecast into policy</a:t>
            </a:r>
            <a:endParaRPr lang="en-US" sz="1500" dirty="0"/>
          </a:p>
        </p:txBody>
      </p:sp>
      <p:sp>
        <p:nvSpPr>
          <p:cNvPr id="19" name="Text 17"/>
          <p:cNvSpPr txBox="1"/>
          <p:nvPr/>
        </p:nvSpPr>
        <p:spPr>
          <a:xfrm>
            <a:off x="1316736" y="3474720"/>
            <a:ext cx="4389120" cy="658368"/>
          </a:xfrm>
          <a:prstGeom prst="rect">
            <a:avLst/>
          </a:prstGeom>
          <a:noFill/>
          <a:ln/>
        </p:spPr>
        <p:txBody>
          <a:bodyPr wrap="square" lIns="0" tIns="0" rIns="0" bIns="0" rtlCol="0" anchor="ctr"/>
          <a:lstStyle/>
          <a:p>
            <a:pPr indent="0" marL="0">
              <a:lnSpc>
                <a:spcPts val="1600"/>
              </a:lnSpc>
              <a:buNone/>
            </a:pPr>
            <a:r>
              <a:rPr lang="en-US" sz="1200" dirty="0">
                <a:solidFill>
                  <a:srgbClr val="61737C"/>
                </a:solidFill>
                <a:latin typeface="Calibri" pitchFamily="34" charset="0"/>
                <a:ea typeface="Calibri" pitchFamily="34" charset="-122"/>
                <a:cs typeface="Calibri" pitchFamily="34" charset="-120"/>
              </a:rPr>
              <a:t>Derive safety stock, reorder point and order quantity from the forecast error distribution.</a:t>
            </a:r>
            <a:endParaRPr lang="en-US" sz="1200" dirty="0"/>
          </a:p>
        </p:txBody>
      </p:sp>
      <p:sp>
        <p:nvSpPr>
          <p:cNvPr id="20" name="Shape 18"/>
          <p:cNvSpPr/>
          <p:nvPr/>
        </p:nvSpPr>
        <p:spPr>
          <a:xfrm>
            <a:off x="6236208" y="2962656"/>
            <a:ext cx="5358384" cy="1280160"/>
          </a:xfrm>
          <a:prstGeom prst="roundRect">
            <a:avLst>
              <a:gd name="adj" fmla="val 4286"/>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21" name="Shape 19"/>
          <p:cNvSpPr/>
          <p:nvPr/>
        </p:nvSpPr>
        <p:spPr>
          <a:xfrm>
            <a:off x="6492240" y="3218688"/>
            <a:ext cx="365760" cy="365760"/>
          </a:xfrm>
          <a:prstGeom prst="ellipse">
            <a:avLst/>
          </a:prstGeom>
          <a:solidFill>
            <a:srgbClr val="0F8A7E"/>
          </a:solidFill>
          <a:ln/>
        </p:spPr>
      </p:sp>
      <p:sp>
        <p:nvSpPr>
          <p:cNvPr id="22" name="Text 20"/>
          <p:cNvSpPr txBox="1"/>
          <p:nvPr/>
        </p:nvSpPr>
        <p:spPr>
          <a:xfrm>
            <a:off x="6492240" y="321868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6986016" y="3182112"/>
            <a:ext cx="4389120"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Make the trade-off visible</a:t>
            </a:r>
            <a:endParaRPr lang="en-US" sz="1500" dirty="0"/>
          </a:p>
        </p:txBody>
      </p:sp>
      <p:sp>
        <p:nvSpPr>
          <p:cNvPr id="24" name="Text 22"/>
          <p:cNvSpPr txBox="1"/>
          <p:nvPr/>
        </p:nvSpPr>
        <p:spPr>
          <a:xfrm>
            <a:off x="6986016" y="3474720"/>
            <a:ext cx="4389120" cy="658368"/>
          </a:xfrm>
          <a:prstGeom prst="rect">
            <a:avLst/>
          </a:prstGeom>
          <a:noFill/>
          <a:ln/>
        </p:spPr>
        <p:txBody>
          <a:bodyPr wrap="square" lIns="0" tIns="0" rIns="0" bIns="0" rtlCol="0" anchor="ctr"/>
          <a:lstStyle/>
          <a:p>
            <a:pPr indent="0" marL="0">
              <a:lnSpc>
                <a:spcPts val="1600"/>
              </a:lnSpc>
              <a:buNone/>
            </a:pPr>
            <a:r>
              <a:rPr lang="en-US" sz="1200" dirty="0">
                <a:solidFill>
                  <a:srgbClr val="61737C"/>
                </a:solidFill>
                <a:latin typeface="Calibri" pitchFamily="34" charset="0"/>
                <a:ea typeface="Calibri" pitchFamily="34" charset="-122"/>
                <a:cs typeface="Calibri" pitchFamily="34" charset="-120"/>
              </a:rPr>
              <a:t>Let the planner move the service level and see cost, fill rate and exceptions respond immediately.</a:t>
            </a:r>
            <a:endParaRPr lang="en-US" sz="1200" dirty="0"/>
          </a:p>
        </p:txBody>
      </p:sp>
      <p:sp>
        <p:nvSpPr>
          <p:cNvPr id="25" name="Shape 23"/>
          <p:cNvSpPr/>
          <p:nvPr/>
        </p:nvSpPr>
        <p:spPr>
          <a:xfrm>
            <a:off x="566928" y="4553712"/>
            <a:ext cx="11027664" cy="1188720"/>
          </a:xfrm>
          <a:prstGeom prst="roundRect">
            <a:avLst>
              <a:gd name="adj" fmla="val 4615"/>
            </a:avLst>
          </a:prstGeom>
          <a:solidFill>
            <a:srgbClr val="EAF3F2"/>
          </a:solidFill>
          <a:ln w="9525">
            <a:solidFill>
              <a:srgbClr val="D3E4E1"/>
            </a:solidFill>
            <a:prstDash val="solid"/>
          </a:ln>
          <a:effectLst>
            <a:outerShdw sx="100000" sy="100000" kx="0" ky="0" algn="bl" rotWithShape="0" blurRad="127000" dist="25400" dir="5400000">
              <a:srgbClr val="A3B3BA">
                <a:alpha val="30000"/>
              </a:srgbClr>
            </a:outerShdw>
          </a:effectLst>
        </p:spPr>
      </p:sp>
      <p:sp>
        <p:nvSpPr>
          <p:cNvPr id="26" name="Text 24"/>
          <p:cNvSpPr txBox="1"/>
          <p:nvPr/>
        </p:nvSpPr>
        <p:spPr>
          <a:xfrm>
            <a:off x="822960" y="4718304"/>
            <a:ext cx="10515600"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WHY THESE FOUR, IN THIS ORDER</a:t>
            </a:r>
            <a:endParaRPr lang="en-US" sz="1050" dirty="0"/>
          </a:p>
        </p:txBody>
      </p:sp>
      <p:sp>
        <p:nvSpPr>
          <p:cNvPr id="27" name="Text 25"/>
          <p:cNvSpPr txBox="1"/>
          <p:nvPr/>
        </p:nvSpPr>
        <p:spPr>
          <a:xfrm>
            <a:off x="822960" y="4956048"/>
            <a:ext cx="10515600" cy="621792"/>
          </a:xfrm>
          <a:prstGeom prst="rect">
            <a:avLst/>
          </a:prstGeom>
          <a:noFill/>
          <a:ln/>
        </p:spPr>
        <p:txBody>
          <a:bodyPr wrap="square" lIns="0" tIns="0" rIns="0" bIns="0" rtlCol="0" anchor="ctr"/>
          <a:lstStyle/>
          <a:p>
            <a:pPr indent="0" marL="0">
              <a:lnSpc>
                <a:spcPts val="1700"/>
              </a:lnSpc>
              <a:buNone/>
            </a:pPr>
            <a:r>
              <a:rPr lang="en-US" sz="1200" dirty="0">
                <a:solidFill>
                  <a:srgbClr val="3C5259"/>
                </a:solidFill>
                <a:latin typeface="Calibri" pitchFamily="34" charset="0"/>
                <a:ea typeface="Calibri" pitchFamily="34" charset="-122"/>
                <a:cs typeface="Calibri" pitchFamily="34" charset="-120"/>
              </a:rPr>
              <a:t>Each objective depends on the one before it. A policy built on an unvalidated forecast is guesswork with extra steps, and a trade-off shown to a planner is only honest if the error estimate behind it was measured on data the model had never seen.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DATASET</a:t>
            </a:r>
            <a:endParaRPr lang="en-US" sz="1150" dirty="0"/>
          </a:p>
        </p:txBody>
      </p:sp>
      <p:sp>
        <p:nvSpPr>
          <p:cNvPr id="3" name="Text 1"/>
          <p:cNvSpPr txBox="1"/>
          <p:nvPr/>
        </p:nvSpPr>
        <p:spPr>
          <a:xfrm>
            <a:off x="566928" y="603504"/>
            <a:ext cx="10332720" cy="548640"/>
          </a:xfrm>
          <a:prstGeom prst="rect">
            <a:avLst/>
          </a:prstGeom>
          <a:noFill/>
          <a:ln/>
        </p:spPr>
        <p:txBody>
          <a:bodyPr wrap="square" lIns="0" tIns="0" rIns="0" bIns="0" rtlCol="0" anchor="ctr"/>
          <a:lstStyle/>
          <a:p>
            <a:pPr indent="0" marL="0">
              <a:buNone/>
            </a:pPr>
            <a:r>
              <a:rPr lang="en-US" sz="3100" b="1" dirty="0">
                <a:solidFill>
                  <a:srgbClr val="0E2A33"/>
                </a:solidFill>
                <a:latin typeface="Cambria" pitchFamily="34" charset="0"/>
                <a:ea typeface="Cambria" pitchFamily="34" charset="-122"/>
                <a:cs typeface="Cambria" pitchFamily="34" charset="-120"/>
              </a:rPr>
              <a:t>A panel with a known signal</a:t>
            </a:r>
            <a:endParaRPr lang="en-US" sz="3100" dirty="0"/>
          </a:p>
        </p:txBody>
      </p:sp>
      <p:sp>
        <p:nvSpPr>
          <p:cNvPr id="4" name="Text 2"/>
          <p:cNvSpPr txBox="1"/>
          <p:nvPr/>
        </p:nvSpPr>
        <p:spPr>
          <a:xfrm>
            <a:off x="10972800" y="384048"/>
            <a:ext cx="640080" cy="457200"/>
          </a:xfrm>
          <a:prstGeom prst="rect">
            <a:avLst/>
          </a:prstGeom>
          <a:noFill/>
          <a:ln/>
        </p:spPr>
        <p:txBody>
          <a:bodyPr wrap="square" lIns="0" tIns="0" rIns="0" bIns="0" rtlCol="0" anchor="ctr"/>
          <a:lstStyle/>
          <a:p>
            <a:pPr algn="r" indent="0" marL="0">
              <a:buNone/>
            </a:pPr>
            <a:r>
              <a:rPr lang="en-US" sz="2400" b="1" dirty="0">
                <a:solidFill>
                  <a:srgbClr val="D6E1E3"/>
                </a:solidFill>
                <a:latin typeface="Cambria" pitchFamily="34" charset="0"/>
                <a:ea typeface="Cambria" pitchFamily="34" charset="-122"/>
                <a:cs typeface="Cambria" pitchFamily="34" charset="-120"/>
              </a:rPr>
              <a:t>05</a:t>
            </a:r>
            <a:endParaRPr lang="en-US" sz="2400" dirty="0"/>
          </a:p>
        </p:txBody>
      </p:sp>
      <p:sp>
        <p:nvSpPr>
          <p:cNvPr id="5" name="Shape 3"/>
          <p:cNvSpPr/>
          <p:nvPr/>
        </p:nvSpPr>
        <p:spPr>
          <a:xfrm>
            <a:off x="566928" y="1463040"/>
            <a:ext cx="2578608" cy="1371600"/>
          </a:xfrm>
          <a:prstGeom prst="roundRect">
            <a:avLst>
              <a:gd name="adj" fmla="val 4000"/>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6" name="Text 4"/>
          <p:cNvSpPr txBox="1"/>
          <p:nvPr/>
        </p:nvSpPr>
        <p:spPr>
          <a:xfrm>
            <a:off x="804672" y="1609344"/>
            <a:ext cx="2139696" cy="502920"/>
          </a:xfrm>
          <a:prstGeom prst="rect">
            <a:avLst/>
          </a:prstGeom>
          <a:noFill/>
          <a:ln/>
        </p:spPr>
        <p:txBody>
          <a:bodyPr wrap="square" lIns="0" tIns="0" rIns="0" bIns="0" rtlCol="0" anchor="ctr"/>
          <a:lstStyle/>
          <a:p>
            <a:pPr indent="0" marL="0">
              <a:buNone/>
            </a:pPr>
            <a:r>
              <a:rPr lang="en-US" sz="2800" b="1" dirty="0">
                <a:solidFill>
                  <a:srgbClr val="0E2A33"/>
                </a:solidFill>
                <a:latin typeface="Cambria" pitchFamily="34" charset="0"/>
                <a:ea typeface="Cambria" pitchFamily="34" charset="-122"/>
                <a:cs typeface="Cambria" pitchFamily="34" charset="-120"/>
              </a:rPr>
              <a:t>6 × 15</a:t>
            </a:r>
            <a:endParaRPr lang="en-US" sz="2800" dirty="0"/>
          </a:p>
        </p:txBody>
      </p:sp>
      <p:sp>
        <p:nvSpPr>
          <p:cNvPr id="7" name="Text 5"/>
          <p:cNvSpPr txBox="1"/>
          <p:nvPr/>
        </p:nvSpPr>
        <p:spPr>
          <a:xfrm>
            <a:off x="804672" y="2121408"/>
            <a:ext cx="2139696" cy="219456"/>
          </a:xfrm>
          <a:prstGeom prst="rect">
            <a:avLst/>
          </a:prstGeom>
          <a:noFill/>
          <a:ln/>
        </p:spPr>
        <p:txBody>
          <a:bodyPr wrap="square" lIns="0" tIns="0" rIns="0" bIns="0" rtlCol="0" anchor="ctr"/>
          <a:lstStyle/>
          <a:p>
            <a:pPr indent="0" marL="0">
              <a:buNone/>
            </a:pPr>
            <a:r>
              <a:rPr lang="en-US" sz="1050" b="1" spc="110" kern="0" dirty="0">
                <a:solidFill>
                  <a:srgbClr val="61737C"/>
                </a:solidFill>
                <a:latin typeface="Calibri" pitchFamily="34" charset="0"/>
                <a:ea typeface="Calibri" pitchFamily="34" charset="-122"/>
                <a:cs typeface="Calibri" pitchFamily="34" charset="-120"/>
              </a:rPr>
              <a:t>STORES × SKUS</a:t>
            </a:r>
            <a:endParaRPr lang="en-US" sz="1050" dirty="0"/>
          </a:p>
        </p:txBody>
      </p:sp>
      <p:sp>
        <p:nvSpPr>
          <p:cNvPr id="8" name="Text 6"/>
          <p:cNvSpPr txBox="1"/>
          <p:nvPr/>
        </p:nvSpPr>
        <p:spPr>
          <a:xfrm>
            <a:off x="804672" y="2340864"/>
            <a:ext cx="2139696" cy="256032"/>
          </a:xfrm>
          <a:prstGeom prst="rect">
            <a:avLst/>
          </a:prstGeom>
          <a:noFill/>
          <a:ln/>
        </p:spPr>
        <p:txBody>
          <a:bodyPr wrap="square" lIns="0" tIns="0" rIns="0" bIns="0" rtlCol="0" anchor="ctr"/>
          <a:lstStyle/>
          <a:p>
            <a:pPr indent="0" marL="0">
              <a:buNone/>
            </a:pPr>
            <a:r>
              <a:rPr lang="en-US" sz="1150" dirty="0">
                <a:solidFill>
                  <a:srgbClr val="90A0A7"/>
                </a:solidFill>
                <a:latin typeface="Calibri" pitchFamily="34" charset="0"/>
                <a:ea typeface="Calibri" pitchFamily="34" charset="-122"/>
                <a:cs typeface="Calibri" pitchFamily="34" charset="-120"/>
              </a:rPr>
              <a:t>90 series</a:t>
            </a:r>
            <a:endParaRPr lang="en-US" sz="1150" dirty="0"/>
          </a:p>
        </p:txBody>
      </p:sp>
      <p:sp>
        <p:nvSpPr>
          <p:cNvPr id="9" name="Shape 7"/>
          <p:cNvSpPr/>
          <p:nvPr/>
        </p:nvSpPr>
        <p:spPr>
          <a:xfrm>
            <a:off x="3401568" y="1463040"/>
            <a:ext cx="2578608" cy="1371600"/>
          </a:xfrm>
          <a:prstGeom prst="roundRect">
            <a:avLst>
              <a:gd name="adj" fmla="val 4000"/>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10" name="Text 8"/>
          <p:cNvSpPr txBox="1"/>
          <p:nvPr/>
        </p:nvSpPr>
        <p:spPr>
          <a:xfrm>
            <a:off x="3639312" y="1609344"/>
            <a:ext cx="2139696" cy="502920"/>
          </a:xfrm>
          <a:prstGeom prst="rect">
            <a:avLst/>
          </a:prstGeom>
          <a:noFill/>
          <a:ln/>
        </p:spPr>
        <p:txBody>
          <a:bodyPr wrap="square" lIns="0" tIns="0" rIns="0" bIns="0" rtlCol="0" anchor="ctr"/>
          <a:lstStyle/>
          <a:p>
            <a:pPr indent="0" marL="0">
              <a:buNone/>
            </a:pPr>
            <a:r>
              <a:rPr lang="en-US" sz="2800" b="1" dirty="0">
                <a:solidFill>
                  <a:srgbClr val="0E2A33"/>
                </a:solidFill>
                <a:latin typeface="Cambria" pitchFamily="34" charset="0"/>
                <a:ea typeface="Cambria" pitchFamily="34" charset="-122"/>
                <a:cs typeface="Cambria" pitchFamily="34" charset="-120"/>
              </a:rPr>
              <a:t>735</a:t>
            </a:r>
            <a:endParaRPr lang="en-US" sz="2800" dirty="0"/>
          </a:p>
        </p:txBody>
      </p:sp>
      <p:sp>
        <p:nvSpPr>
          <p:cNvPr id="11" name="Text 9"/>
          <p:cNvSpPr txBox="1"/>
          <p:nvPr/>
        </p:nvSpPr>
        <p:spPr>
          <a:xfrm>
            <a:off x="3639312" y="2121408"/>
            <a:ext cx="2139696" cy="219456"/>
          </a:xfrm>
          <a:prstGeom prst="rect">
            <a:avLst/>
          </a:prstGeom>
          <a:noFill/>
          <a:ln/>
        </p:spPr>
        <p:txBody>
          <a:bodyPr wrap="square" lIns="0" tIns="0" rIns="0" bIns="0" rtlCol="0" anchor="ctr"/>
          <a:lstStyle/>
          <a:p>
            <a:pPr indent="0" marL="0">
              <a:buNone/>
            </a:pPr>
            <a:r>
              <a:rPr lang="en-US" sz="1050" b="1" spc="110" kern="0" dirty="0">
                <a:solidFill>
                  <a:srgbClr val="61737C"/>
                </a:solidFill>
                <a:latin typeface="Calibri" pitchFamily="34" charset="0"/>
                <a:ea typeface="Calibri" pitchFamily="34" charset="-122"/>
                <a:cs typeface="Calibri" pitchFamily="34" charset="-120"/>
              </a:rPr>
              <a:t>DAYS EACH</a:t>
            </a:r>
            <a:endParaRPr lang="en-US" sz="1050" dirty="0"/>
          </a:p>
        </p:txBody>
      </p:sp>
      <p:sp>
        <p:nvSpPr>
          <p:cNvPr id="12" name="Text 10"/>
          <p:cNvSpPr txBox="1"/>
          <p:nvPr/>
        </p:nvSpPr>
        <p:spPr>
          <a:xfrm>
            <a:off x="3639312" y="2340864"/>
            <a:ext cx="2139696" cy="256032"/>
          </a:xfrm>
          <a:prstGeom prst="rect">
            <a:avLst/>
          </a:prstGeom>
          <a:noFill/>
          <a:ln/>
        </p:spPr>
        <p:txBody>
          <a:bodyPr wrap="square" lIns="0" tIns="0" rIns="0" bIns="0" rtlCol="0" anchor="ctr"/>
          <a:lstStyle/>
          <a:p>
            <a:pPr indent="0" marL="0">
              <a:buNone/>
            </a:pPr>
            <a:r>
              <a:rPr lang="en-US" sz="1150" dirty="0">
                <a:solidFill>
                  <a:srgbClr val="90A0A7"/>
                </a:solidFill>
                <a:latin typeface="Calibri" pitchFamily="34" charset="0"/>
                <a:ea typeface="Calibri" pitchFamily="34" charset="-122"/>
                <a:cs typeface="Calibri" pitchFamily="34" charset="-120"/>
              </a:rPr>
              <a:t>ending yesterday</a:t>
            </a:r>
            <a:endParaRPr lang="en-US" sz="1150" dirty="0"/>
          </a:p>
        </p:txBody>
      </p:sp>
      <p:sp>
        <p:nvSpPr>
          <p:cNvPr id="13" name="Shape 11"/>
          <p:cNvSpPr/>
          <p:nvPr/>
        </p:nvSpPr>
        <p:spPr>
          <a:xfrm>
            <a:off x="6236208" y="1463040"/>
            <a:ext cx="2578608" cy="1371600"/>
          </a:xfrm>
          <a:prstGeom prst="roundRect">
            <a:avLst>
              <a:gd name="adj" fmla="val 4000"/>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14" name="Text 12"/>
          <p:cNvSpPr txBox="1"/>
          <p:nvPr/>
        </p:nvSpPr>
        <p:spPr>
          <a:xfrm>
            <a:off x="6473952" y="1609344"/>
            <a:ext cx="2139696" cy="502920"/>
          </a:xfrm>
          <a:prstGeom prst="rect">
            <a:avLst/>
          </a:prstGeom>
          <a:noFill/>
          <a:ln/>
        </p:spPr>
        <p:txBody>
          <a:bodyPr wrap="square" lIns="0" tIns="0" rIns="0" bIns="0" rtlCol="0" anchor="ctr"/>
          <a:lstStyle/>
          <a:p>
            <a:pPr indent="0" marL="0">
              <a:buNone/>
            </a:pPr>
            <a:r>
              <a:rPr lang="en-US" sz="2800" b="1" dirty="0">
                <a:solidFill>
                  <a:srgbClr val="0E2A33"/>
                </a:solidFill>
                <a:latin typeface="Cambria" pitchFamily="34" charset="0"/>
                <a:ea typeface="Cambria" pitchFamily="34" charset="-122"/>
                <a:cs typeface="Cambria" pitchFamily="34" charset="-120"/>
              </a:rPr>
              <a:t>66,150</a:t>
            </a:r>
            <a:endParaRPr lang="en-US" sz="2800" dirty="0"/>
          </a:p>
        </p:txBody>
      </p:sp>
      <p:sp>
        <p:nvSpPr>
          <p:cNvPr id="15" name="Text 13"/>
          <p:cNvSpPr txBox="1"/>
          <p:nvPr/>
        </p:nvSpPr>
        <p:spPr>
          <a:xfrm>
            <a:off x="6473952" y="2121408"/>
            <a:ext cx="2139696" cy="219456"/>
          </a:xfrm>
          <a:prstGeom prst="rect">
            <a:avLst/>
          </a:prstGeom>
          <a:noFill/>
          <a:ln/>
        </p:spPr>
        <p:txBody>
          <a:bodyPr wrap="square" lIns="0" tIns="0" rIns="0" bIns="0" rtlCol="0" anchor="ctr"/>
          <a:lstStyle/>
          <a:p>
            <a:pPr indent="0" marL="0">
              <a:buNone/>
            </a:pPr>
            <a:r>
              <a:rPr lang="en-US" sz="1050" b="1" spc="110" kern="0" dirty="0">
                <a:solidFill>
                  <a:srgbClr val="61737C"/>
                </a:solidFill>
                <a:latin typeface="Calibri" pitchFamily="34" charset="0"/>
                <a:ea typeface="Calibri" pitchFamily="34" charset="-122"/>
                <a:cs typeface="Calibri" pitchFamily="34" charset="-120"/>
              </a:rPr>
              <a:t>DAILY ROWS</a:t>
            </a:r>
            <a:endParaRPr lang="en-US" sz="1050" dirty="0"/>
          </a:p>
        </p:txBody>
      </p:sp>
      <p:sp>
        <p:nvSpPr>
          <p:cNvPr id="16" name="Text 14"/>
          <p:cNvSpPr txBox="1"/>
          <p:nvPr/>
        </p:nvSpPr>
        <p:spPr>
          <a:xfrm>
            <a:off x="6473952" y="2340864"/>
            <a:ext cx="2139696" cy="256032"/>
          </a:xfrm>
          <a:prstGeom prst="rect">
            <a:avLst/>
          </a:prstGeom>
          <a:noFill/>
          <a:ln/>
        </p:spPr>
        <p:txBody>
          <a:bodyPr wrap="square" lIns="0" tIns="0" rIns="0" bIns="0" rtlCol="0" anchor="ctr"/>
          <a:lstStyle/>
          <a:p>
            <a:pPr indent="0" marL="0">
              <a:buNone/>
            </a:pPr>
            <a:r>
              <a:rPr lang="en-US" sz="1150" dirty="0">
                <a:solidFill>
                  <a:srgbClr val="90A0A7"/>
                </a:solidFill>
                <a:latin typeface="Calibri" pitchFamily="34" charset="0"/>
                <a:ea typeface="Calibri" pitchFamily="34" charset="-122"/>
                <a:cs typeface="Calibri" pitchFamily="34" charset="-120"/>
              </a:rPr>
              <a:t>fixed random seed</a:t>
            </a:r>
            <a:endParaRPr lang="en-US" sz="1150" dirty="0"/>
          </a:p>
        </p:txBody>
      </p:sp>
      <p:sp>
        <p:nvSpPr>
          <p:cNvPr id="17" name="Shape 15"/>
          <p:cNvSpPr/>
          <p:nvPr/>
        </p:nvSpPr>
        <p:spPr>
          <a:xfrm>
            <a:off x="9070848" y="1463040"/>
            <a:ext cx="2578608" cy="1371600"/>
          </a:xfrm>
          <a:prstGeom prst="roundRect">
            <a:avLst>
              <a:gd name="adj" fmla="val 4000"/>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18" name="Text 16"/>
          <p:cNvSpPr txBox="1"/>
          <p:nvPr/>
        </p:nvSpPr>
        <p:spPr>
          <a:xfrm>
            <a:off x="9308592" y="1609344"/>
            <a:ext cx="2139696" cy="502920"/>
          </a:xfrm>
          <a:prstGeom prst="rect">
            <a:avLst/>
          </a:prstGeom>
          <a:noFill/>
          <a:ln/>
        </p:spPr>
        <p:txBody>
          <a:bodyPr wrap="square" lIns="0" tIns="0" rIns="0" bIns="0" rtlCol="0" anchor="ctr"/>
          <a:lstStyle/>
          <a:p>
            <a:pPr indent="0" marL="0">
              <a:buNone/>
            </a:pPr>
            <a:r>
              <a:rPr lang="en-US" sz="2800" b="1" dirty="0">
                <a:solidFill>
                  <a:srgbClr val="0E2A33"/>
                </a:solidFill>
                <a:latin typeface="Cambria" pitchFamily="34" charset="0"/>
                <a:ea typeface="Cambria" pitchFamily="34" charset="-122"/>
                <a:cs typeface="Cambria" pitchFamily="34" charset="-120"/>
              </a:rPr>
              <a:t>28 days</a:t>
            </a:r>
            <a:endParaRPr lang="en-US" sz="2800" dirty="0"/>
          </a:p>
        </p:txBody>
      </p:sp>
      <p:sp>
        <p:nvSpPr>
          <p:cNvPr id="19" name="Text 17"/>
          <p:cNvSpPr txBox="1"/>
          <p:nvPr/>
        </p:nvSpPr>
        <p:spPr>
          <a:xfrm>
            <a:off x="9308592" y="2121408"/>
            <a:ext cx="2139696" cy="219456"/>
          </a:xfrm>
          <a:prstGeom prst="rect">
            <a:avLst/>
          </a:prstGeom>
          <a:noFill/>
          <a:ln/>
        </p:spPr>
        <p:txBody>
          <a:bodyPr wrap="square" lIns="0" tIns="0" rIns="0" bIns="0" rtlCol="0" anchor="ctr"/>
          <a:lstStyle/>
          <a:p>
            <a:pPr indent="0" marL="0">
              <a:buNone/>
            </a:pPr>
            <a:r>
              <a:rPr lang="en-US" sz="1050" b="1" spc="110" kern="0" dirty="0">
                <a:solidFill>
                  <a:srgbClr val="61737C"/>
                </a:solidFill>
                <a:latin typeface="Calibri" pitchFamily="34" charset="0"/>
                <a:ea typeface="Calibri" pitchFamily="34" charset="-122"/>
                <a:cs typeface="Calibri" pitchFamily="34" charset="-120"/>
              </a:rPr>
              <a:t>FORECAST HORIZON</a:t>
            </a:r>
            <a:endParaRPr lang="en-US" sz="1050" dirty="0"/>
          </a:p>
        </p:txBody>
      </p:sp>
      <p:sp>
        <p:nvSpPr>
          <p:cNvPr id="20" name="Text 18"/>
          <p:cNvSpPr txBox="1"/>
          <p:nvPr/>
        </p:nvSpPr>
        <p:spPr>
          <a:xfrm>
            <a:off x="9308592" y="2340864"/>
            <a:ext cx="2139696" cy="256032"/>
          </a:xfrm>
          <a:prstGeom prst="rect">
            <a:avLst/>
          </a:prstGeom>
          <a:noFill/>
          <a:ln/>
        </p:spPr>
        <p:txBody>
          <a:bodyPr wrap="square" lIns="0" tIns="0" rIns="0" bIns="0" rtlCol="0" anchor="ctr"/>
          <a:lstStyle/>
          <a:p>
            <a:pPr indent="0" marL="0">
              <a:buNone/>
            </a:pPr>
            <a:r>
              <a:rPr lang="en-US" sz="1150" dirty="0">
                <a:solidFill>
                  <a:srgbClr val="90A0A7"/>
                </a:solidFill>
                <a:latin typeface="Calibri" pitchFamily="34" charset="0"/>
                <a:ea typeface="Calibri" pitchFamily="34" charset="-122"/>
                <a:cs typeface="Calibri" pitchFamily="34" charset="-120"/>
              </a:rPr>
              <a:t>direct, not recursive</a:t>
            </a:r>
            <a:endParaRPr lang="en-US" sz="1150" dirty="0"/>
          </a:p>
        </p:txBody>
      </p:sp>
      <p:sp>
        <p:nvSpPr>
          <p:cNvPr id="21" name="Text 19"/>
          <p:cNvSpPr txBox="1"/>
          <p:nvPr/>
        </p:nvSpPr>
        <p:spPr>
          <a:xfrm>
            <a:off x="566928" y="3035808"/>
            <a:ext cx="5852160" cy="292608"/>
          </a:xfrm>
          <a:prstGeom prst="rect">
            <a:avLst/>
          </a:prstGeom>
          <a:noFill/>
          <a:ln/>
        </p:spPr>
        <p:txBody>
          <a:bodyPr wrap="square" lIns="0" tIns="0" rIns="0" bIns="0" rtlCol="0" anchor="ctr"/>
          <a:lstStyle/>
          <a:p>
            <a:pPr indent="0" marL="0">
              <a:buNone/>
            </a:pPr>
            <a:r>
              <a:rPr lang="en-US" sz="1450" b="1" dirty="0">
                <a:solidFill>
                  <a:srgbClr val="0E2A33"/>
                </a:solidFill>
                <a:latin typeface="Calibri" pitchFamily="34" charset="0"/>
                <a:ea typeface="Calibri" pitchFamily="34" charset="-122"/>
                <a:cs typeface="Calibri" pitchFamily="34" charset="-120"/>
              </a:rPr>
              <a:t>Effects written into the data-generating process</a:t>
            </a:r>
            <a:endParaRPr lang="en-US" sz="1450" dirty="0"/>
          </a:p>
        </p:txBody>
      </p:sp>
      <p:sp>
        <p:nvSpPr>
          <p:cNvPr id="22" name="Shape 20"/>
          <p:cNvSpPr/>
          <p:nvPr/>
        </p:nvSpPr>
        <p:spPr>
          <a:xfrm>
            <a:off x="566928" y="3502152"/>
            <a:ext cx="146304" cy="146304"/>
          </a:xfrm>
          <a:prstGeom prst="ellipse">
            <a:avLst/>
          </a:prstGeom>
          <a:solidFill>
            <a:srgbClr val="39B7A4"/>
          </a:solidFill>
          <a:ln/>
        </p:spPr>
      </p:sp>
      <p:sp>
        <p:nvSpPr>
          <p:cNvPr id="23" name="Text 21"/>
          <p:cNvSpPr txBox="1"/>
          <p:nvPr/>
        </p:nvSpPr>
        <p:spPr>
          <a:xfrm>
            <a:off x="841248" y="3438144"/>
            <a:ext cx="5577840" cy="274320"/>
          </a:xfrm>
          <a:prstGeom prst="rect">
            <a:avLst/>
          </a:prstGeom>
          <a:noFill/>
          <a:ln/>
        </p:spPr>
        <p:txBody>
          <a:bodyPr wrap="square" lIns="0" tIns="0" rIns="0" bIns="0" rtlCol="0" anchor="ctr"/>
          <a:lstStyle/>
          <a:p>
            <a:pPr indent="0" marL="0">
              <a:buNone/>
            </a:pPr>
            <a:r>
              <a:rPr lang="en-US" sz="1200" b="1" dirty="0">
                <a:solidFill>
                  <a:srgbClr val="22333B"/>
                </a:solidFill>
                <a:latin typeface="Calibri" pitchFamily="34" charset="0"/>
                <a:ea typeface="Calibri" pitchFamily="34" charset="-122"/>
                <a:cs typeface="Calibri" pitchFamily="34" charset="-120"/>
              </a:rPr>
              <a:t>Weekly shape  </a:t>
            </a:r>
            <a:pPr indent="0" marL="0">
              <a:buNone/>
            </a:pPr>
            <a:r>
              <a:rPr lang="en-US" sz="1200" dirty="0">
                <a:solidFill>
                  <a:srgbClr val="61737C"/>
                </a:solidFill>
                <a:latin typeface="Calibri" pitchFamily="34" charset="0"/>
                <a:ea typeface="Calibri" pitchFamily="34" charset="-122"/>
                <a:cs typeface="Calibri" pitchFamily="34" charset="-120"/>
              </a:rPr>
              <a:t>Saturday runs ~60% above Tuesday</a:t>
            </a:r>
            <a:endParaRPr lang="en-US" sz="1200" dirty="0"/>
          </a:p>
        </p:txBody>
      </p:sp>
      <p:sp>
        <p:nvSpPr>
          <p:cNvPr id="24" name="Shape 22"/>
          <p:cNvSpPr/>
          <p:nvPr/>
        </p:nvSpPr>
        <p:spPr>
          <a:xfrm>
            <a:off x="566928" y="3904488"/>
            <a:ext cx="146304" cy="146304"/>
          </a:xfrm>
          <a:prstGeom prst="ellipse">
            <a:avLst/>
          </a:prstGeom>
          <a:solidFill>
            <a:srgbClr val="39B7A4"/>
          </a:solidFill>
          <a:ln/>
        </p:spPr>
      </p:sp>
      <p:sp>
        <p:nvSpPr>
          <p:cNvPr id="25" name="Text 23"/>
          <p:cNvSpPr txBox="1"/>
          <p:nvPr/>
        </p:nvSpPr>
        <p:spPr>
          <a:xfrm>
            <a:off x="841248" y="3840480"/>
            <a:ext cx="5577840" cy="274320"/>
          </a:xfrm>
          <a:prstGeom prst="rect">
            <a:avLst/>
          </a:prstGeom>
          <a:noFill/>
          <a:ln/>
        </p:spPr>
        <p:txBody>
          <a:bodyPr wrap="square" lIns="0" tIns="0" rIns="0" bIns="0" rtlCol="0" anchor="ctr"/>
          <a:lstStyle/>
          <a:p>
            <a:pPr indent="0" marL="0">
              <a:buNone/>
            </a:pPr>
            <a:r>
              <a:rPr lang="en-US" sz="1200" b="1" dirty="0">
                <a:solidFill>
                  <a:srgbClr val="22333B"/>
                </a:solidFill>
                <a:latin typeface="Calibri" pitchFamily="34" charset="0"/>
                <a:ea typeface="Calibri" pitchFamily="34" charset="-122"/>
                <a:cs typeface="Calibri" pitchFamily="34" charset="-120"/>
              </a:rPr>
              <a:t>Annual seasonality  </a:t>
            </a:r>
            <a:pPr indent="0" marL="0">
              <a:buNone/>
            </a:pPr>
            <a:r>
              <a:rPr lang="en-US" sz="1200" dirty="0">
                <a:solidFill>
                  <a:srgbClr val="61737C"/>
                </a:solidFill>
                <a:latin typeface="Calibri" pitchFamily="34" charset="0"/>
                <a:ea typeface="Calibri" pitchFamily="34" charset="-122"/>
                <a:cs typeface="Calibri" pitchFamily="34" charset="-120"/>
              </a:rPr>
              <a:t>category-specific phase, up to ±85%</a:t>
            </a:r>
            <a:endParaRPr lang="en-US" sz="1200" dirty="0"/>
          </a:p>
        </p:txBody>
      </p:sp>
      <p:sp>
        <p:nvSpPr>
          <p:cNvPr id="26" name="Shape 24"/>
          <p:cNvSpPr/>
          <p:nvPr/>
        </p:nvSpPr>
        <p:spPr>
          <a:xfrm>
            <a:off x="566928" y="4306824"/>
            <a:ext cx="146304" cy="146304"/>
          </a:xfrm>
          <a:prstGeom prst="ellipse">
            <a:avLst/>
          </a:prstGeom>
          <a:solidFill>
            <a:srgbClr val="39B7A4"/>
          </a:solidFill>
          <a:ln/>
        </p:spPr>
      </p:sp>
      <p:sp>
        <p:nvSpPr>
          <p:cNvPr id="27" name="Text 25"/>
          <p:cNvSpPr txBox="1"/>
          <p:nvPr/>
        </p:nvSpPr>
        <p:spPr>
          <a:xfrm>
            <a:off x="841248" y="4242816"/>
            <a:ext cx="5577840" cy="274320"/>
          </a:xfrm>
          <a:prstGeom prst="rect">
            <a:avLst/>
          </a:prstGeom>
          <a:noFill/>
          <a:ln/>
        </p:spPr>
        <p:txBody>
          <a:bodyPr wrap="square" lIns="0" tIns="0" rIns="0" bIns="0" rtlCol="0" anchor="ctr"/>
          <a:lstStyle/>
          <a:p>
            <a:pPr indent="0" marL="0">
              <a:buNone/>
            </a:pPr>
            <a:r>
              <a:rPr lang="en-US" sz="1200" b="1" dirty="0">
                <a:solidFill>
                  <a:srgbClr val="22333B"/>
                </a:solidFill>
                <a:latin typeface="Calibri" pitchFamily="34" charset="0"/>
                <a:ea typeface="Calibri" pitchFamily="34" charset="-122"/>
                <a:cs typeface="Calibri" pitchFamily="34" charset="-120"/>
              </a:rPr>
              <a:t>Price elasticity  </a:t>
            </a:r>
            <a:pPr indent="0" marL="0">
              <a:buNone/>
            </a:pPr>
            <a:r>
              <a:rPr lang="en-US" sz="1200" dirty="0">
                <a:solidFill>
                  <a:srgbClr val="61737C"/>
                </a:solidFill>
                <a:latin typeface="Calibri" pitchFamily="34" charset="0"/>
                <a:ea typeface="Calibri" pitchFamily="34" charset="-122"/>
                <a:cs typeface="Calibri" pitchFamily="34" charset="-120"/>
              </a:rPr>
              <a:t>−0.9 to −2.1, applied to effective price</a:t>
            </a:r>
            <a:endParaRPr lang="en-US" sz="1200" dirty="0"/>
          </a:p>
        </p:txBody>
      </p:sp>
      <p:sp>
        <p:nvSpPr>
          <p:cNvPr id="28" name="Shape 26"/>
          <p:cNvSpPr/>
          <p:nvPr/>
        </p:nvSpPr>
        <p:spPr>
          <a:xfrm>
            <a:off x="566928" y="4709160"/>
            <a:ext cx="146304" cy="146304"/>
          </a:xfrm>
          <a:prstGeom prst="ellipse">
            <a:avLst/>
          </a:prstGeom>
          <a:solidFill>
            <a:srgbClr val="39B7A4"/>
          </a:solidFill>
          <a:ln/>
        </p:spPr>
      </p:sp>
      <p:sp>
        <p:nvSpPr>
          <p:cNvPr id="29" name="Text 27"/>
          <p:cNvSpPr txBox="1"/>
          <p:nvPr/>
        </p:nvSpPr>
        <p:spPr>
          <a:xfrm>
            <a:off x="841248" y="4645152"/>
            <a:ext cx="5577840" cy="274320"/>
          </a:xfrm>
          <a:prstGeom prst="rect">
            <a:avLst/>
          </a:prstGeom>
          <a:noFill/>
          <a:ln/>
        </p:spPr>
        <p:txBody>
          <a:bodyPr wrap="square" lIns="0" tIns="0" rIns="0" bIns="0" rtlCol="0" anchor="ctr"/>
          <a:lstStyle/>
          <a:p>
            <a:pPr indent="0" marL="0">
              <a:buNone/>
            </a:pPr>
            <a:r>
              <a:rPr lang="en-US" sz="1200" b="1" dirty="0">
                <a:solidFill>
                  <a:srgbClr val="22333B"/>
                </a:solidFill>
                <a:latin typeface="Calibri" pitchFamily="34" charset="0"/>
                <a:ea typeface="Calibri" pitchFamily="34" charset="-122"/>
                <a:cs typeface="Calibri" pitchFamily="34" charset="-120"/>
              </a:rPr>
              <a:t>Promotions  </a:t>
            </a:r>
            <a:pPr indent="0" marL="0">
              <a:buNone/>
            </a:pPr>
            <a:r>
              <a:rPr lang="en-US" sz="1200" dirty="0">
                <a:solidFill>
                  <a:srgbClr val="61737C"/>
                </a:solidFill>
                <a:latin typeface="Calibri" pitchFamily="34" charset="0"/>
                <a:ea typeface="Calibri" pitchFamily="34" charset="-122"/>
                <a:cs typeface="Calibri" pitchFamily="34" charset="-120"/>
              </a:rPr>
              <a:t>3–7 day windows, with display lift</a:t>
            </a:r>
            <a:endParaRPr lang="en-US" sz="1200" dirty="0"/>
          </a:p>
        </p:txBody>
      </p:sp>
      <p:sp>
        <p:nvSpPr>
          <p:cNvPr id="30" name="Shape 28"/>
          <p:cNvSpPr/>
          <p:nvPr/>
        </p:nvSpPr>
        <p:spPr>
          <a:xfrm>
            <a:off x="566928" y="5111496"/>
            <a:ext cx="146304" cy="146304"/>
          </a:xfrm>
          <a:prstGeom prst="ellipse">
            <a:avLst/>
          </a:prstGeom>
          <a:solidFill>
            <a:srgbClr val="39B7A4"/>
          </a:solidFill>
          <a:ln/>
        </p:spPr>
      </p:sp>
      <p:sp>
        <p:nvSpPr>
          <p:cNvPr id="31" name="Text 29"/>
          <p:cNvSpPr txBox="1"/>
          <p:nvPr/>
        </p:nvSpPr>
        <p:spPr>
          <a:xfrm>
            <a:off x="841248" y="5047488"/>
            <a:ext cx="5577840" cy="274320"/>
          </a:xfrm>
          <a:prstGeom prst="rect">
            <a:avLst/>
          </a:prstGeom>
          <a:noFill/>
          <a:ln/>
        </p:spPr>
        <p:txBody>
          <a:bodyPr wrap="square" lIns="0" tIns="0" rIns="0" bIns="0" rtlCol="0" anchor="ctr"/>
          <a:lstStyle/>
          <a:p>
            <a:pPr indent="0" marL="0">
              <a:buNone/>
            </a:pPr>
            <a:r>
              <a:rPr lang="en-US" sz="1200" b="1" dirty="0">
                <a:solidFill>
                  <a:srgbClr val="22333B"/>
                </a:solidFill>
                <a:latin typeface="Calibri" pitchFamily="34" charset="0"/>
                <a:ea typeface="Calibri" pitchFamily="34" charset="-122"/>
                <a:cs typeface="Calibri" pitchFamily="34" charset="-120"/>
              </a:rPr>
              <a:t>Holiday calendar  </a:t>
            </a:r>
            <a:pPr indent="0" marL="0">
              <a:buNone/>
            </a:pPr>
            <a:r>
              <a:rPr lang="en-US" sz="1200" dirty="0">
                <a:solidFill>
                  <a:srgbClr val="61737C"/>
                </a:solidFill>
                <a:latin typeface="Calibri" pitchFamily="34" charset="0"/>
                <a:ea typeface="Calibri" pitchFamily="34" charset="-122"/>
                <a:cs typeface="Calibri" pitchFamily="34" charset="-120"/>
              </a:rPr>
              <a:t>twelve dated multipliers, 0.35× to 1.85×</a:t>
            </a:r>
            <a:endParaRPr lang="en-US" sz="1200" dirty="0"/>
          </a:p>
        </p:txBody>
      </p:sp>
      <p:sp>
        <p:nvSpPr>
          <p:cNvPr id="32" name="Shape 30"/>
          <p:cNvSpPr/>
          <p:nvPr/>
        </p:nvSpPr>
        <p:spPr>
          <a:xfrm>
            <a:off x="566928" y="5513832"/>
            <a:ext cx="146304" cy="146304"/>
          </a:xfrm>
          <a:prstGeom prst="ellipse">
            <a:avLst/>
          </a:prstGeom>
          <a:solidFill>
            <a:srgbClr val="39B7A4"/>
          </a:solidFill>
          <a:ln/>
        </p:spPr>
      </p:sp>
      <p:sp>
        <p:nvSpPr>
          <p:cNvPr id="33" name="Text 31"/>
          <p:cNvSpPr txBox="1"/>
          <p:nvPr/>
        </p:nvSpPr>
        <p:spPr>
          <a:xfrm>
            <a:off x="841248" y="5449824"/>
            <a:ext cx="5577840" cy="274320"/>
          </a:xfrm>
          <a:prstGeom prst="rect">
            <a:avLst/>
          </a:prstGeom>
          <a:noFill/>
          <a:ln/>
        </p:spPr>
        <p:txBody>
          <a:bodyPr wrap="square" lIns="0" tIns="0" rIns="0" bIns="0" rtlCol="0" anchor="ctr"/>
          <a:lstStyle/>
          <a:p>
            <a:pPr indent="0" marL="0">
              <a:buNone/>
            </a:pPr>
            <a:r>
              <a:rPr lang="en-US" sz="1200" b="1" dirty="0">
                <a:solidFill>
                  <a:srgbClr val="22333B"/>
                </a:solidFill>
                <a:latin typeface="Calibri" pitchFamily="34" charset="0"/>
                <a:ea typeface="Calibri" pitchFamily="34" charset="-122"/>
                <a:cs typeface="Calibri" pitchFamily="34" charset="-120"/>
              </a:rPr>
              <a:t>Overdispersion  </a:t>
            </a:r>
            <a:pPr indent="0" marL="0">
              <a:buNone/>
            </a:pPr>
            <a:r>
              <a:rPr lang="en-US" sz="1200" dirty="0">
                <a:solidFill>
                  <a:srgbClr val="61737C"/>
                </a:solidFill>
                <a:latin typeface="Calibri" pitchFamily="34" charset="0"/>
                <a:ea typeface="Calibri" pitchFamily="34" charset="-122"/>
                <a:cs typeface="Calibri" pitchFamily="34" charset="-120"/>
              </a:rPr>
              <a:t>gamma-mixed Poisson counts</a:t>
            </a:r>
            <a:endParaRPr lang="en-US" sz="1200" dirty="0"/>
          </a:p>
        </p:txBody>
      </p:sp>
      <p:sp>
        <p:nvSpPr>
          <p:cNvPr id="34" name="Shape 32"/>
          <p:cNvSpPr/>
          <p:nvPr/>
        </p:nvSpPr>
        <p:spPr>
          <a:xfrm>
            <a:off x="6537960" y="3035808"/>
            <a:ext cx="5056632" cy="2651760"/>
          </a:xfrm>
          <a:prstGeom prst="roundRect">
            <a:avLst>
              <a:gd name="adj" fmla="val 2069"/>
            </a:avLst>
          </a:prstGeom>
          <a:solidFill>
            <a:srgbClr val="EAF3F2"/>
          </a:solidFill>
          <a:ln w="9525">
            <a:solidFill>
              <a:srgbClr val="D3E4E1"/>
            </a:solidFill>
            <a:prstDash val="solid"/>
          </a:ln>
          <a:effectLst>
            <a:outerShdw sx="100000" sy="100000" kx="0" ky="0" algn="bl" rotWithShape="0" blurRad="127000" dist="25400" dir="5400000">
              <a:srgbClr val="A3B3BA">
                <a:alpha val="30000"/>
              </a:srgbClr>
            </a:outerShdw>
          </a:effectLst>
        </p:spPr>
      </p:sp>
      <p:sp>
        <p:nvSpPr>
          <p:cNvPr id="35" name="Text 33"/>
          <p:cNvSpPr txBox="1"/>
          <p:nvPr/>
        </p:nvSpPr>
        <p:spPr>
          <a:xfrm>
            <a:off x="6793992" y="3200400"/>
            <a:ext cx="4544568"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WHY SYNTHETIC DATA IS THE RIGHT CHOICE HERE</a:t>
            </a:r>
            <a:endParaRPr lang="en-US" sz="1050" dirty="0"/>
          </a:p>
        </p:txBody>
      </p:sp>
      <p:sp>
        <p:nvSpPr>
          <p:cNvPr id="36" name="Text 34"/>
          <p:cNvSpPr txBox="1"/>
          <p:nvPr/>
        </p:nvSpPr>
        <p:spPr>
          <a:xfrm>
            <a:off x="6793992" y="3438144"/>
            <a:ext cx="4544568" cy="2084832"/>
          </a:xfrm>
          <a:prstGeom prst="rect">
            <a:avLst/>
          </a:prstGeom>
          <a:noFill/>
          <a:ln/>
        </p:spPr>
        <p:txBody>
          <a:bodyPr wrap="square" lIns="0" tIns="0" rIns="0" bIns="0" rtlCol="0" anchor="ctr"/>
          <a:lstStyle/>
          <a:p>
            <a:pPr indent="0" marL="0">
              <a:lnSpc>
                <a:spcPts val="1700"/>
              </a:lnSpc>
              <a:buNone/>
            </a:pPr>
            <a:r>
              <a:rPr lang="en-US" sz="1200" dirty="0">
                <a:solidFill>
                  <a:srgbClr val="3C5259"/>
                </a:solidFill>
                <a:latin typeface="Calibri" pitchFamily="34" charset="0"/>
                <a:ea typeface="Calibri" pitchFamily="34" charset="-122"/>
                <a:cs typeface="Calibri" pitchFamily="34" charset="-120"/>
              </a:rPr>
              <a:t>A public retail dataset would tell us how well the model scores, but never whether it recovered the right structure, because nobody knows the true structure.</a:t>
            </a:r>
            <a:endParaRPr lang="en-US" sz="1200" dirty="0"/>
          </a:p>
          <a:p>
            <a:pPr indent="0" marL="0">
              <a:lnSpc>
                <a:spcPts val="1700"/>
              </a:lnSpc>
              <a:buNone/>
            </a:pPr>
            <a:endParaRPr lang="en-US" sz="1200" dirty="0"/>
          </a:p>
          <a:p>
            <a:pPr indent="0" marL="0">
              <a:lnSpc>
                <a:spcPts val="1700"/>
              </a:lnSpc>
              <a:buNone/>
            </a:pPr>
            <a:r>
              <a:rPr lang="en-US" sz="1200" dirty="0">
                <a:solidFill>
                  <a:srgbClr val="3C5259"/>
                </a:solidFill>
                <a:latin typeface="Calibri" pitchFamily="34" charset="0"/>
                <a:ea typeface="Calibri" pitchFamily="34" charset="-122"/>
                <a:cs typeface="Calibri" pitchFamily="34" charset="-120"/>
              </a:rPr>
              <a:t>Here the generator states every effect explicitly, so the accuracy comparison later in this deck is a genuine test rather than a number without a reference point. The same pipeline runs unchanged on real point-of-sale extracts — only the loader changes.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METHODOLOGY · FORECASTING</a:t>
            </a:r>
            <a:endParaRPr lang="en-US" sz="1150" dirty="0"/>
          </a:p>
        </p:txBody>
      </p:sp>
      <p:sp>
        <p:nvSpPr>
          <p:cNvPr id="3" name="Text 1"/>
          <p:cNvSpPr txBox="1"/>
          <p:nvPr/>
        </p:nvSpPr>
        <p:spPr>
          <a:xfrm>
            <a:off x="566928" y="603504"/>
            <a:ext cx="10332720" cy="548640"/>
          </a:xfrm>
          <a:prstGeom prst="rect">
            <a:avLst/>
          </a:prstGeom>
          <a:noFill/>
          <a:ln/>
        </p:spPr>
        <p:txBody>
          <a:bodyPr wrap="square" lIns="0" tIns="0" rIns="0" bIns="0" rtlCol="0" anchor="ctr"/>
          <a:lstStyle/>
          <a:p>
            <a:pPr indent="0" marL="0">
              <a:buNone/>
            </a:pPr>
            <a:r>
              <a:rPr lang="en-US" sz="3100" b="1" dirty="0">
                <a:solidFill>
                  <a:srgbClr val="0E2A33"/>
                </a:solidFill>
                <a:latin typeface="Cambria" pitchFamily="34" charset="0"/>
                <a:ea typeface="Cambria" pitchFamily="34" charset="-122"/>
                <a:cs typeface="Cambria" pitchFamily="34" charset="-120"/>
              </a:rPr>
              <a:t>Ridge regression on features known in advance</a:t>
            </a:r>
            <a:endParaRPr lang="en-US" sz="3100" dirty="0"/>
          </a:p>
        </p:txBody>
      </p:sp>
      <p:sp>
        <p:nvSpPr>
          <p:cNvPr id="4" name="Text 2"/>
          <p:cNvSpPr txBox="1"/>
          <p:nvPr/>
        </p:nvSpPr>
        <p:spPr>
          <a:xfrm>
            <a:off x="10972800" y="384048"/>
            <a:ext cx="640080" cy="457200"/>
          </a:xfrm>
          <a:prstGeom prst="rect">
            <a:avLst/>
          </a:prstGeom>
          <a:noFill/>
          <a:ln/>
        </p:spPr>
        <p:txBody>
          <a:bodyPr wrap="square" lIns="0" tIns="0" rIns="0" bIns="0" rtlCol="0" anchor="ctr"/>
          <a:lstStyle/>
          <a:p>
            <a:pPr algn="r" indent="0" marL="0">
              <a:buNone/>
            </a:pPr>
            <a:r>
              <a:rPr lang="en-US" sz="2400" b="1" dirty="0">
                <a:solidFill>
                  <a:srgbClr val="D6E1E3"/>
                </a:solidFill>
                <a:latin typeface="Cambria" pitchFamily="34" charset="0"/>
                <a:ea typeface="Cambria" pitchFamily="34" charset="-122"/>
                <a:cs typeface="Cambria" pitchFamily="34" charset="-120"/>
              </a:rPr>
              <a:t>06</a:t>
            </a:r>
            <a:endParaRPr lang="en-US" sz="2400" dirty="0"/>
          </a:p>
        </p:txBody>
      </p:sp>
      <p:sp>
        <p:nvSpPr>
          <p:cNvPr id="5" name="Shape 3"/>
          <p:cNvSpPr/>
          <p:nvPr/>
        </p:nvSpPr>
        <p:spPr>
          <a:xfrm>
            <a:off x="566928" y="1463040"/>
            <a:ext cx="384048" cy="384048"/>
          </a:xfrm>
          <a:prstGeom prst="ellipse">
            <a:avLst/>
          </a:prstGeom>
          <a:solidFill>
            <a:srgbClr val="0F8A7E"/>
          </a:solidFill>
          <a:ln/>
        </p:spPr>
      </p:sp>
      <p:sp>
        <p:nvSpPr>
          <p:cNvPr id="6" name="Text 4"/>
          <p:cNvSpPr txBox="1"/>
          <p:nvPr/>
        </p:nvSpPr>
        <p:spPr>
          <a:xfrm>
            <a:off x="566928" y="1463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33856" y="1435608"/>
            <a:ext cx="4645152"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Features available before the horizon starts</a:t>
            </a:r>
            <a:endParaRPr lang="en-US" sz="1500" dirty="0"/>
          </a:p>
        </p:txBody>
      </p:sp>
      <p:sp>
        <p:nvSpPr>
          <p:cNvPr id="8" name="Text 6"/>
          <p:cNvSpPr txBox="1"/>
          <p:nvPr/>
        </p:nvSpPr>
        <p:spPr>
          <a:xfrm>
            <a:off x="1133856" y="1728216"/>
            <a:ext cx="4645152" cy="731520"/>
          </a:xfrm>
          <a:prstGeom prst="rect">
            <a:avLst/>
          </a:prstGeom>
          <a:noFill/>
          <a:ln/>
        </p:spPr>
        <p:txBody>
          <a:bodyPr wrap="square" lIns="0" tIns="0" rIns="0" bIns="0" rtlCol="0" anchor="ctr"/>
          <a:lstStyle/>
          <a:p>
            <a:pPr indent="0" marL="0">
              <a:lnSpc>
                <a:spcPts val="1600"/>
              </a:lnSpc>
              <a:buNone/>
            </a:pPr>
            <a:r>
              <a:rPr lang="en-US" sz="1250" dirty="0">
                <a:solidFill>
                  <a:srgbClr val="61737C"/>
                </a:solidFill>
                <a:latin typeface="Calibri" pitchFamily="34" charset="0"/>
                <a:ea typeface="Calibri" pitchFamily="34" charset="-122"/>
                <a:cs typeface="Calibri" pitchFamily="34" charset="-120"/>
              </a:rPr>
              <a:t>Day of week, Fourier terms for the annual cycle, a trend term, log price ratio, promotion flag and holiday flag — all known in advance from the trading calendar.</a:t>
            </a:r>
            <a:endParaRPr lang="en-US" sz="1250" dirty="0"/>
          </a:p>
        </p:txBody>
      </p:sp>
      <p:sp>
        <p:nvSpPr>
          <p:cNvPr id="9" name="Shape 7"/>
          <p:cNvSpPr/>
          <p:nvPr/>
        </p:nvSpPr>
        <p:spPr>
          <a:xfrm>
            <a:off x="566928" y="2670048"/>
            <a:ext cx="384048" cy="384048"/>
          </a:xfrm>
          <a:prstGeom prst="ellipse">
            <a:avLst/>
          </a:prstGeom>
          <a:solidFill>
            <a:srgbClr val="0F8A7E"/>
          </a:solidFill>
          <a:ln/>
        </p:spPr>
      </p:sp>
      <p:sp>
        <p:nvSpPr>
          <p:cNvPr id="10" name="Text 8"/>
          <p:cNvSpPr txBox="1"/>
          <p:nvPr/>
        </p:nvSpPr>
        <p:spPr>
          <a:xfrm>
            <a:off x="566928" y="26700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33856" y="2642616"/>
            <a:ext cx="4645152"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Direct multi-horizon prediction</a:t>
            </a:r>
            <a:endParaRPr lang="en-US" sz="1500" dirty="0"/>
          </a:p>
        </p:txBody>
      </p:sp>
      <p:sp>
        <p:nvSpPr>
          <p:cNvPr id="12" name="Text 10"/>
          <p:cNvSpPr txBox="1"/>
          <p:nvPr/>
        </p:nvSpPr>
        <p:spPr>
          <a:xfrm>
            <a:off x="1133856" y="2935224"/>
            <a:ext cx="4645152" cy="731520"/>
          </a:xfrm>
          <a:prstGeom prst="rect">
            <a:avLst/>
          </a:prstGeom>
          <a:noFill/>
          <a:ln/>
        </p:spPr>
        <p:txBody>
          <a:bodyPr wrap="square" lIns="0" tIns="0" rIns="0" bIns="0" rtlCol="0" anchor="ctr"/>
          <a:lstStyle/>
          <a:p>
            <a:pPr indent="0" marL="0">
              <a:lnSpc>
                <a:spcPts val="1600"/>
              </a:lnSpc>
              <a:buNone/>
            </a:pPr>
            <a:r>
              <a:rPr lang="en-US" sz="1250" dirty="0">
                <a:solidFill>
                  <a:srgbClr val="61737C"/>
                </a:solidFill>
                <a:latin typeface="Calibri" pitchFamily="34" charset="0"/>
                <a:ea typeface="Calibri" pitchFamily="34" charset="-122"/>
                <a:cs typeface="Calibri" pitchFamily="34" charset="-120"/>
              </a:rPr>
              <a:t>Because no feature depends on a previous prediction, all 28 days are produced in one step. There is no recursion, so errors do not compound along the horizon.</a:t>
            </a:r>
            <a:endParaRPr lang="en-US" sz="1250" dirty="0"/>
          </a:p>
        </p:txBody>
      </p:sp>
      <p:sp>
        <p:nvSpPr>
          <p:cNvPr id="13" name="Shape 11"/>
          <p:cNvSpPr/>
          <p:nvPr/>
        </p:nvSpPr>
        <p:spPr>
          <a:xfrm>
            <a:off x="566928" y="3877056"/>
            <a:ext cx="384048" cy="384048"/>
          </a:xfrm>
          <a:prstGeom prst="ellipse">
            <a:avLst/>
          </a:prstGeom>
          <a:solidFill>
            <a:srgbClr val="0F8A7E"/>
          </a:solidFill>
          <a:ln/>
        </p:spPr>
      </p:sp>
      <p:sp>
        <p:nvSpPr>
          <p:cNvPr id="14" name="Text 12"/>
          <p:cNvSpPr txBox="1"/>
          <p:nvPr/>
        </p:nvSpPr>
        <p:spPr>
          <a:xfrm>
            <a:off x="566928" y="3877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133856" y="3849624"/>
            <a:ext cx="4645152"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Validated by rolling-origin backtest</a:t>
            </a:r>
            <a:endParaRPr lang="en-US" sz="1500" dirty="0"/>
          </a:p>
        </p:txBody>
      </p:sp>
      <p:sp>
        <p:nvSpPr>
          <p:cNvPr id="16" name="Text 14"/>
          <p:cNvSpPr txBox="1"/>
          <p:nvPr/>
        </p:nvSpPr>
        <p:spPr>
          <a:xfrm>
            <a:off x="1133856" y="4142232"/>
            <a:ext cx="4645152" cy="731520"/>
          </a:xfrm>
          <a:prstGeom prst="rect">
            <a:avLst/>
          </a:prstGeom>
          <a:noFill/>
          <a:ln/>
        </p:spPr>
        <p:txBody>
          <a:bodyPr wrap="square" lIns="0" tIns="0" rIns="0" bIns="0" rtlCol="0" anchor="ctr"/>
          <a:lstStyle/>
          <a:p>
            <a:pPr indent="0" marL="0">
              <a:lnSpc>
                <a:spcPts val="1600"/>
              </a:lnSpc>
              <a:buNone/>
            </a:pPr>
            <a:r>
              <a:rPr lang="en-US" sz="1250" dirty="0">
                <a:solidFill>
                  <a:srgbClr val="61737C"/>
                </a:solidFill>
                <a:latin typeface="Calibri" pitchFamily="34" charset="0"/>
                <a:ea typeface="Calibri" pitchFamily="34" charset="-122"/>
                <a:cs typeface="Calibri" pitchFamily="34" charset="-120"/>
              </a:rPr>
              <a:t>Three folds of 28 days. Each fold trains only on earlier data and is scored on the days after it, against a seasonal-naive benchmark.</a:t>
            </a:r>
            <a:endParaRPr lang="en-US" sz="1250" dirty="0"/>
          </a:p>
        </p:txBody>
      </p:sp>
      <p:graphicFrame>
        <p:nvGraphicFramePr>
          <p:cNvPr id="17" name="Chart 0" descr=""/>
          <p:cNvGraphicFramePr/>
          <p:nvPr/>
        </p:nvGraphicFramePr>
        <p:xfrm>
          <a:off x="6172200" y="1463040"/>
          <a:ext cx="5422392" cy="2880360"/>
        </p:xfrm>
        <a:graphic xmlns:a="http://schemas.openxmlformats.org/drawingml/2006/main">
          <a:graphicData uri="http://schemas.openxmlformats.org/drawingml/2006/chart">
            <c:chart xmlns:c="http://schemas.openxmlformats.org/drawingml/2006/chart" r:id="rId1"/>
          </a:graphicData>
        </a:graphic>
      </p:graphicFrame>
      <p:sp>
        <p:nvSpPr>
          <p:cNvPr id="18" name="Shape 15"/>
          <p:cNvSpPr/>
          <p:nvPr/>
        </p:nvSpPr>
        <p:spPr>
          <a:xfrm>
            <a:off x="6172200" y="4498848"/>
            <a:ext cx="5422392" cy="1188720"/>
          </a:xfrm>
          <a:prstGeom prst="roundRect">
            <a:avLst>
              <a:gd name="adj" fmla="val 4615"/>
            </a:avLst>
          </a:prstGeom>
          <a:solidFill>
            <a:srgbClr val="EAF3F2"/>
          </a:solidFill>
          <a:ln w="9525">
            <a:solidFill>
              <a:srgbClr val="D3E4E1"/>
            </a:solidFill>
            <a:prstDash val="solid"/>
          </a:ln>
          <a:effectLst>
            <a:outerShdw sx="100000" sy="100000" kx="0" ky="0" algn="bl" rotWithShape="0" blurRad="127000" dist="25400" dir="5400000">
              <a:srgbClr val="A3B3BA">
                <a:alpha val="30000"/>
              </a:srgbClr>
            </a:outerShdw>
          </a:effectLst>
        </p:spPr>
      </p:sp>
      <p:sp>
        <p:nvSpPr>
          <p:cNvPr id="19" name="Text 16"/>
          <p:cNvSpPr txBox="1"/>
          <p:nvPr/>
        </p:nvSpPr>
        <p:spPr>
          <a:xfrm>
            <a:off x="6428232" y="4663440"/>
            <a:ext cx="4910328"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READING THE CHART</a:t>
            </a:r>
            <a:endParaRPr lang="en-US" sz="1050" dirty="0"/>
          </a:p>
        </p:txBody>
      </p:sp>
      <p:sp>
        <p:nvSpPr>
          <p:cNvPr id="20" name="Text 17"/>
          <p:cNvSpPr txBox="1"/>
          <p:nvPr/>
        </p:nvSpPr>
        <p:spPr>
          <a:xfrm>
            <a:off x="6428232" y="4901184"/>
            <a:ext cx="4910328" cy="621792"/>
          </a:xfrm>
          <a:prstGeom prst="rect">
            <a:avLst/>
          </a:prstGeom>
          <a:noFill/>
          <a:ln/>
        </p:spPr>
        <p:txBody>
          <a:bodyPr wrap="square" lIns="0" tIns="0" rIns="0" bIns="0" rtlCol="0" anchor="ctr"/>
          <a:lstStyle/>
          <a:p>
            <a:pPr indent="0" marL="0">
              <a:lnSpc>
                <a:spcPts val="1700"/>
              </a:lnSpc>
              <a:buNone/>
            </a:pPr>
            <a:r>
              <a:rPr lang="en-US" sz="1200" dirty="0">
                <a:solidFill>
                  <a:srgbClr val="3C5259"/>
                </a:solidFill>
                <a:latin typeface="Calibri" pitchFamily="34" charset="0"/>
                <a:ea typeface="Calibri" pitchFamily="34" charset="-122"/>
                <a:cs typeface="Calibri" pitchFamily="34" charset="-120"/>
              </a:rPr>
              <a:t>The grey line is what actually sold; the teal line continues past it into the forecast. The weekly rhythm carries forward because the model knows the calendar, not because it copied the last few weeks.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METHODOLOGY · INVENTORY</a:t>
            </a:r>
            <a:endParaRPr lang="en-US" sz="1150" dirty="0"/>
          </a:p>
        </p:txBody>
      </p:sp>
      <p:sp>
        <p:nvSpPr>
          <p:cNvPr id="3" name="Text 1"/>
          <p:cNvSpPr txBox="1"/>
          <p:nvPr/>
        </p:nvSpPr>
        <p:spPr>
          <a:xfrm>
            <a:off x="566928" y="603504"/>
            <a:ext cx="10332720" cy="548640"/>
          </a:xfrm>
          <a:prstGeom prst="rect">
            <a:avLst/>
          </a:prstGeom>
          <a:noFill/>
          <a:ln/>
        </p:spPr>
        <p:txBody>
          <a:bodyPr wrap="square" lIns="0" tIns="0" rIns="0" bIns="0" rtlCol="0" anchor="ctr"/>
          <a:lstStyle/>
          <a:p>
            <a:pPr indent="0" marL="0">
              <a:buNone/>
            </a:pPr>
            <a:r>
              <a:rPr lang="en-US" sz="3100" b="1" dirty="0">
                <a:solidFill>
                  <a:srgbClr val="0E2A33"/>
                </a:solidFill>
                <a:latin typeface="Cambria" pitchFamily="34" charset="0"/>
                <a:ea typeface="Cambria" pitchFamily="34" charset="-122"/>
                <a:cs typeface="Cambria" pitchFamily="34" charset="-120"/>
              </a:rPr>
              <a:t>Continuous review (s, Q) with an order-up-to overlay</a:t>
            </a:r>
            <a:endParaRPr lang="en-US" sz="3100" dirty="0"/>
          </a:p>
        </p:txBody>
      </p:sp>
      <p:sp>
        <p:nvSpPr>
          <p:cNvPr id="4" name="Text 2"/>
          <p:cNvSpPr txBox="1"/>
          <p:nvPr/>
        </p:nvSpPr>
        <p:spPr>
          <a:xfrm>
            <a:off x="10972800" y="384048"/>
            <a:ext cx="640080" cy="457200"/>
          </a:xfrm>
          <a:prstGeom prst="rect">
            <a:avLst/>
          </a:prstGeom>
          <a:noFill/>
          <a:ln/>
        </p:spPr>
        <p:txBody>
          <a:bodyPr wrap="square" lIns="0" tIns="0" rIns="0" bIns="0" rtlCol="0" anchor="ctr"/>
          <a:lstStyle/>
          <a:p>
            <a:pPr algn="r" indent="0" marL="0">
              <a:buNone/>
            </a:pPr>
            <a:r>
              <a:rPr lang="en-US" sz="2400" b="1" dirty="0">
                <a:solidFill>
                  <a:srgbClr val="D6E1E3"/>
                </a:solidFill>
                <a:latin typeface="Cambria" pitchFamily="34" charset="0"/>
                <a:ea typeface="Cambria" pitchFamily="34" charset="-122"/>
                <a:cs typeface="Cambria" pitchFamily="34" charset="-120"/>
              </a:rPr>
              <a:t>07</a:t>
            </a:r>
            <a:endParaRPr lang="en-US" sz="2400" dirty="0"/>
          </a:p>
        </p:txBody>
      </p:sp>
      <p:sp>
        <p:nvSpPr>
          <p:cNvPr id="5" name="Shape 3"/>
          <p:cNvSpPr/>
          <p:nvPr/>
        </p:nvSpPr>
        <p:spPr>
          <a:xfrm>
            <a:off x="566928" y="1463040"/>
            <a:ext cx="5358384" cy="1188720"/>
          </a:xfrm>
          <a:prstGeom prst="roundRect">
            <a:avLst>
              <a:gd name="adj" fmla="val 4615"/>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6" name="Text 4"/>
          <p:cNvSpPr txBox="1"/>
          <p:nvPr/>
        </p:nvSpPr>
        <p:spPr>
          <a:xfrm>
            <a:off x="822960" y="1609344"/>
            <a:ext cx="4754880"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SAFETY STOCK</a:t>
            </a:r>
            <a:endParaRPr lang="en-US" sz="1050" dirty="0"/>
          </a:p>
        </p:txBody>
      </p:sp>
      <p:sp>
        <p:nvSpPr>
          <p:cNvPr id="7" name="Text 5"/>
          <p:cNvSpPr txBox="1"/>
          <p:nvPr/>
        </p:nvSpPr>
        <p:spPr>
          <a:xfrm>
            <a:off x="822960" y="1847088"/>
            <a:ext cx="4846320" cy="310896"/>
          </a:xfrm>
          <a:prstGeom prst="rect">
            <a:avLst/>
          </a:prstGeom>
          <a:noFill/>
          <a:ln/>
        </p:spPr>
        <p:txBody>
          <a:bodyPr wrap="square" lIns="0" tIns="0" rIns="0" bIns="0" rtlCol="0" anchor="ctr"/>
          <a:lstStyle/>
          <a:p>
            <a:pPr indent="0" marL="0">
              <a:buNone/>
            </a:pPr>
            <a:r>
              <a:rPr lang="en-US" sz="1700" b="1" dirty="0">
                <a:solidFill>
                  <a:srgbClr val="0E2A33"/>
                </a:solidFill>
                <a:latin typeface="Cambria" pitchFamily="34" charset="0"/>
                <a:ea typeface="Cambria" pitchFamily="34" charset="-122"/>
                <a:cs typeface="Cambria" pitchFamily="34" charset="-120"/>
              </a:rPr>
              <a:t>SS  =  z(α) · σ · √(L + R)</a:t>
            </a:r>
            <a:endParaRPr lang="en-US" sz="1700" dirty="0"/>
          </a:p>
        </p:txBody>
      </p:sp>
      <p:sp>
        <p:nvSpPr>
          <p:cNvPr id="8" name="Text 6"/>
          <p:cNvSpPr txBox="1"/>
          <p:nvPr/>
        </p:nvSpPr>
        <p:spPr>
          <a:xfrm>
            <a:off x="822960" y="2194560"/>
            <a:ext cx="4846320" cy="365760"/>
          </a:xfrm>
          <a:prstGeom prst="rect">
            <a:avLst/>
          </a:prstGeom>
          <a:noFill/>
          <a:ln/>
        </p:spPr>
        <p:txBody>
          <a:bodyPr wrap="square" lIns="0" tIns="0" rIns="0" bIns="0" rtlCol="0" anchor="ctr"/>
          <a:lstStyle/>
          <a:p>
            <a:pPr indent="0" marL="0">
              <a:lnSpc>
                <a:spcPts val="1500"/>
              </a:lnSpc>
              <a:buNone/>
            </a:pPr>
            <a:r>
              <a:rPr lang="en-US" sz="1150" dirty="0">
                <a:solidFill>
                  <a:srgbClr val="61737C"/>
                </a:solidFill>
                <a:latin typeface="Calibri" pitchFamily="34" charset="0"/>
                <a:ea typeface="Calibri" pitchFamily="34" charset="-122"/>
                <a:cs typeface="Calibri" pitchFamily="34" charset="-120"/>
              </a:rPr>
              <a:t>Buffer for the risk period. σ is the out-of-sample forecast error per day.</a:t>
            </a:r>
            <a:endParaRPr lang="en-US" sz="1150" dirty="0"/>
          </a:p>
        </p:txBody>
      </p:sp>
      <p:sp>
        <p:nvSpPr>
          <p:cNvPr id="9" name="Shape 7"/>
          <p:cNvSpPr/>
          <p:nvPr/>
        </p:nvSpPr>
        <p:spPr>
          <a:xfrm>
            <a:off x="6236208" y="1463040"/>
            <a:ext cx="5358384" cy="1188720"/>
          </a:xfrm>
          <a:prstGeom prst="roundRect">
            <a:avLst>
              <a:gd name="adj" fmla="val 4615"/>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10" name="Text 8"/>
          <p:cNvSpPr txBox="1"/>
          <p:nvPr/>
        </p:nvSpPr>
        <p:spPr>
          <a:xfrm>
            <a:off x="6492240" y="1609344"/>
            <a:ext cx="4754880"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REORDER POINT</a:t>
            </a:r>
            <a:endParaRPr lang="en-US" sz="1050" dirty="0"/>
          </a:p>
        </p:txBody>
      </p:sp>
      <p:sp>
        <p:nvSpPr>
          <p:cNvPr id="11" name="Text 9"/>
          <p:cNvSpPr txBox="1"/>
          <p:nvPr/>
        </p:nvSpPr>
        <p:spPr>
          <a:xfrm>
            <a:off x="6492240" y="1847088"/>
            <a:ext cx="4846320" cy="310896"/>
          </a:xfrm>
          <a:prstGeom prst="rect">
            <a:avLst/>
          </a:prstGeom>
          <a:noFill/>
          <a:ln/>
        </p:spPr>
        <p:txBody>
          <a:bodyPr wrap="square" lIns="0" tIns="0" rIns="0" bIns="0" rtlCol="0" anchor="ctr"/>
          <a:lstStyle/>
          <a:p>
            <a:pPr indent="0" marL="0">
              <a:buNone/>
            </a:pPr>
            <a:r>
              <a:rPr lang="en-US" sz="1700" b="1" dirty="0">
                <a:solidFill>
                  <a:srgbClr val="0E2A33"/>
                </a:solidFill>
                <a:latin typeface="Cambria" pitchFamily="34" charset="0"/>
                <a:ea typeface="Cambria" pitchFamily="34" charset="-122"/>
                <a:cs typeface="Cambria" pitchFamily="34" charset="-120"/>
              </a:rPr>
              <a:t>s  =  μ · L  +  SS</a:t>
            </a:r>
            <a:endParaRPr lang="en-US" sz="1700" dirty="0"/>
          </a:p>
        </p:txBody>
      </p:sp>
      <p:sp>
        <p:nvSpPr>
          <p:cNvPr id="12" name="Text 10"/>
          <p:cNvSpPr txBox="1"/>
          <p:nvPr/>
        </p:nvSpPr>
        <p:spPr>
          <a:xfrm>
            <a:off x="6492240" y="2194560"/>
            <a:ext cx="4846320" cy="365760"/>
          </a:xfrm>
          <a:prstGeom prst="rect">
            <a:avLst/>
          </a:prstGeom>
          <a:noFill/>
          <a:ln/>
        </p:spPr>
        <p:txBody>
          <a:bodyPr wrap="square" lIns="0" tIns="0" rIns="0" bIns="0" rtlCol="0" anchor="ctr"/>
          <a:lstStyle/>
          <a:p>
            <a:pPr indent="0" marL="0">
              <a:lnSpc>
                <a:spcPts val="1500"/>
              </a:lnSpc>
              <a:buNone/>
            </a:pPr>
            <a:r>
              <a:rPr lang="en-US" sz="1150" dirty="0">
                <a:solidFill>
                  <a:srgbClr val="61737C"/>
                </a:solidFill>
                <a:latin typeface="Calibri" pitchFamily="34" charset="0"/>
                <a:ea typeface="Calibri" pitchFamily="34" charset="-122"/>
                <a:cs typeface="Calibri" pitchFamily="34" charset="-120"/>
              </a:rPr>
              <a:t>Stock level that triggers a purchase order. Lead times run 5 to 28 days.</a:t>
            </a:r>
            <a:endParaRPr lang="en-US" sz="1150" dirty="0"/>
          </a:p>
        </p:txBody>
      </p:sp>
      <p:sp>
        <p:nvSpPr>
          <p:cNvPr id="13" name="Shape 11"/>
          <p:cNvSpPr/>
          <p:nvPr/>
        </p:nvSpPr>
        <p:spPr>
          <a:xfrm>
            <a:off x="566928" y="2834640"/>
            <a:ext cx="5358384" cy="1188720"/>
          </a:xfrm>
          <a:prstGeom prst="roundRect">
            <a:avLst>
              <a:gd name="adj" fmla="val 4615"/>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14" name="Text 12"/>
          <p:cNvSpPr txBox="1"/>
          <p:nvPr/>
        </p:nvSpPr>
        <p:spPr>
          <a:xfrm>
            <a:off x="822960" y="2980944"/>
            <a:ext cx="4754880"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ORDER QUANTITY</a:t>
            </a:r>
            <a:endParaRPr lang="en-US" sz="1050" dirty="0"/>
          </a:p>
        </p:txBody>
      </p:sp>
      <p:sp>
        <p:nvSpPr>
          <p:cNvPr id="15" name="Text 13"/>
          <p:cNvSpPr txBox="1"/>
          <p:nvPr/>
        </p:nvSpPr>
        <p:spPr>
          <a:xfrm>
            <a:off x="822960" y="3218688"/>
            <a:ext cx="4846320" cy="310896"/>
          </a:xfrm>
          <a:prstGeom prst="rect">
            <a:avLst/>
          </a:prstGeom>
          <a:noFill/>
          <a:ln/>
        </p:spPr>
        <p:txBody>
          <a:bodyPr wrap="square" lIns="0" tIns="0" rIns="0" bIns="0" rtlCol="0" anchor="ctr"/>
          <a:lstStyle/>
          <a:p>
            <a:pPr indent="0" marL="0">
              <a:buNone/>
            </a:pPr>
            <a:r>
              <a:rPr lang="en-US" sz="1700" b="1" dirty="0">
                <a:solidFill>
                  <a:srgbClr val="0E2A33"/>
                </a:solidFill>
                <a:latin typeface="Cambria" pitchFamily="34" charset="0"/>
                <a:ea typeface="Cambria" pitchFamily="34" charset="-122"/>
                <a:cs typeface="Cambria" pitchFamily="34" charset="-120"/>
              </a:rPr>
              <a:t>Q  =  √( 2 · D · S / H )</a:t>
            </a:r>
            <a:endParaRPr lang="en-US" sz="1700" dirty="0"/>
          </a:p>
        </p:txBody>
      </p:sp>
      <p:sp>
        <p:nvSpPr>
          <p:cNvPr id="16" name="Text 14"/>
          <p:cNvSpPr txBox="1"/>
          <p:nvPr/>
        </p:nvSpPr>
        <p:spPr>
          <a:xfrm>
            <a:off x="822960" y="3566160"/>
            <a:ext cx="4846320" cy="365760"/>
          </a:xfrm>
          <a:prstGeom prst="rect">
            <a:avLst/>
          </a:prstGeom>
          <a:noFill/>
          <a:ln/>
        </p:spPr>
        <p:txBody>
          <a:bodyPr wrap="square" lIns="0" tIns="0" rIns="0" bIns="0" rtlCol="0" anchor="ctr"/>
          <a:lstStyle/>
          <a:p>
            <a:pPr indent="0" marL="0">
              <a:lnSpc>
                <a:spcPts val="1500"/>
              </a:lnSpc>
              <a:buNone/>
            </a:pPr>
            <a:r>
              <a:rPr lang="en-US" sz="1150" dirty="0">
                <a:solidFill>
                  <a:srgbClr val="61737C"/>
                </a:solidFill>
                <a:latin typeface="Calibri" pitchFamily="34" charset="0"/>
                <a:ea typeface="Calibri" pitchFamily="34" charset="-122"/>
                <a:cs typeface="Calibri" pitchFamily="34" charset="-120"/>
              </a:rPr>
              <a:t>Economic order quantity, rounded up to the supplier case pack.</a:t>
            </a:r>
            <a:endParaRPr lang="en-US" sz="1150" dirty="0"/>
          </a:p>
        </p:txBody>
      </p:sp>
      <p:sp>
        <p:nvSpPr>
          <p:cNvPr id="17" name="Shape 15"/>
          <p:cNvSpPr/>
          <p:nvPr/>
        </p:nvSpPr>
        <p:spPr>
          <a:xfrm>
            <a:off x="6236208" y="2834640"/>
            <a:ext cx="5358384" cy="1188720"/>
          </a:xfrm>
          <a:prstGeom prst="roundRect">
            <a:avLst>
              <a:gd name="adj" fmla="val 4615"/>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18" name="Text 16"/>
          <p:cNvSpPr txBox="1"/>
          <p:nvPr/>
        </p:nvSpPr>
        <p:spPr>
          <a:xfrm>
            <a:off x="6492240" y="2980944"/>
            <a:ext cx="4754880"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FILL RATE</a:t>
            </a:r>
            <a:endParaRPr lang="en-US" sz="1050" dirty="0"/>
          </a:p>
        </p:txBody>
      </p:sp>
      <p:sp>
        <p:nvSpPr>
          <p:cNvPr id="19" name="Text 17"/>
          <p:cNvSpPr txBox="1"/>
          <p:nvPr/>
        </p:nvSpPr>
        <p:spPr>
          <a:xfrm>
            <a:off x="6492240" y="3218688"/>
            <a:ext cx="4846320" cy="310896"/>
          </a:xfrm>
          <a:prstGeom prst="rect">
            <a:avLst/>
          </a:prstGeom>
          <a:noFill/>
          <a:ln/>
        </p:spPr>
        <p:txBody>
          <a:bodyPr wrap="square" lIns="0" tIns="0" rIns="0" bIns="0" rtlCol="0" anchor="ctr"/>
          <a:lstStyle/>
          <a:p>
            <a:pPr indent="0" marL="0">
              <a:buNone/>
            </a:pPr>
            <a:r>
              <a:rPr lang="en-US" sz="1700" b="1" dirty="0">
                <a:solidFill>
                  <a:srgbClr val="0E2A33"/>
                </a:solidFill>
                <a:latin typeface="Cambria" pitchFamily="34" charset="0"/>
                <a:ea typeface="Cambria" pitchFamily="34" charset="-122"/>
                <a:cs typeface="Cambria" pitchFamily="34" charset="-120"/>
              </a:rPr>
              <a:t>1 −  σ√(L+R) · G(z) / Q</a:t>
            </a:r>
            <a:endParaRPr lang="en-US" sz="1700" dirty="0"/>
          </a:p>
        </p:txBody>
      </p:sp>
      <p:sp>
        <p:nvSpPr>
          <p:cNvPr id="20" name="Text 18"/>
          <p:cNvSpPr txBox="1"/>
          <p:nvPr/>
        </p:nvSpPr>
        <p:spPr>
          <a:xfrm>
            <a:off x="6492240" y="3566160"/>
            <a:ext cx="4846320" cy="365760"/>
          </a:xfrm>
          <a:prstGeom prst="rect">
            <a:avLst/>
          </a:prstGeom>
          <a:noFill/>
          <a:ln/>
        </p:spPr>
        <p:txBody>
          <a:bodyPr wrap="square" lIns="0" tIns="0" rIns="0" bIns="0" rtlCol="0" anchor="ctr"/>
          <a:lstStyle/>
          <a:p>
            <a:pPr indent="0" marL="0">
              <a:lnSpc>
                <a:spcPts val="1500"/>
              </a:lnSpc>
              <a:buNone/>
            </a:pPr>
            <a:r>
              <a:rPr lang="en-US" sz="1150" dirty="0">
                <a:solidFill>
                  <a:srgbClr val="61737C"/>
                </a:solidFill>
                <a:latin typeface="Calibri" pitchFamily="34" charset="0"/>
                <a:ea typeface="Calibri" pitchFamily="34" charset="-122"/>
                <a:cs typeface="Calibri" pitchFamily="34" charset="-120"/>
              </a:rPr>
              <a:t>Share of demand served from stock, via the unit normal loss function.</a:t>
            </a:r>
            <a:endParaRPr lang="en-US" sz="1150" dirty="0"/>
          </a:p>
        </p:txBody>
      </p:sp>
      <p:sp>
        <p:nvSpPr>
          <p:cNvPr id="21" name="Shape 19"/>
          <p:cNvSpPr/>
          <p:nvPr/>
        </p:nvSpPr>
        <p:spPr>
          <a:xfrm>
            <a:off x="566928" y="4279392"/>
            <a:ext cx="5486400" cy="1426464"/>
          </a:xfrm>
          <a:prstGeom prst="roundRect">
            <a:avLst>
              <a:gd name="adj" fmla="val 3846"/>
            </a:avLst>
          </a:prstGeom>
          <a:solidFill>
            <a:srgbClr val="EAF3F2"/>
          </a:solidFill>
          <a:ln w="9525">
            <a:solidFill>
              <a:srgbClr val="D3E4E1"/>
            </a:solidFill>
            <a:prstDash val="solid"/>
          </a:ln>
          <a:effectLst>
            <a:outerShdw sx="100000" sy="100000" kx="0" ky="0" algn="bl" rotWithShape="0" blurRad="127000" dist="25400" dir="5400000">
              <a:srgbClr val="A3B3BA">
                <a:alpha val="30000"/>
              </a:srgbClr>
            </a:outerShdw>
          </a:effectLst>
        </p:spPr>
      </p:sp>
      <p:sp>
        <p:nvSpPr>
          <p:cNvPr id="22" name="Text 20"/>
          <p:cNvSpPr txBox="1"/>
          <p:nvPr/>
        </p:nvSpPr>
        <p:spPr>
          <a:xfrm>
            <a:off x="822960" y="4443984"/>
            <a:ext cx="4974336"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WHAT EACH SYMBOL MEANS</a:t>
            </a:r>
            <a:endParaRPr lang="en-US" sz="1050" dirty="0"/>
          </a:p>
        </p:txBody>
      </p:sp>
      <p:sp>
        <p:nvSpPr>
          <p:cNvPr id="23" name="Text 21"/>
          <p:cNvSpPr txBox="1"/>
          <p:nvPr/>
        </p:nvSpPr>
        <p:spPr>
          <a:xfrm>
            <a:off x="822960" y="4681728"/>
            <a:ext cx="4974336" cy="859536"/>
          </a:xfrm>
          <a:prstGeom prst="rect">
            <a:avLst/>
          </a:prstGeom>
          <a:noFill/>
          <a:ln/>
        </p:spPr>
        <p:txBody>
          <a:bodyPr wrap="square" lIns="0" tIns="0" rIns="0" bIns="0" rtlCol="0" anchor="ctr"/>
          <a:lstStyle/>
          <a:p>
            <a:pPr indent="0" marL="0">
              <a:lnSpc>
                <a:spcPts val="1700"/>
              </a:lnSpc>
              <a:buNone/>
            </a:pPr>
            <a:r>
              <a:rPr lang="en-US" sz="1200" dirty="0">
                <a:solidFill>
                  <a:srgbClr val="3C5259"/>
                </a:solidFill>
                <a:latin typeface="Calibri" pitchFamily="34" charset="0"/>
                <a:ea typeface="Calibri" pitchFamily="34" charset="-122"/>
                <a:cs typeface="Calibri" pitchFamily="34" charset="-120"/>
              </a:rPr>
              <a:t>μ is mean daily demand, σ its forecast error, L the supplier lead time, R the review period, D annual demand, S the cost of raising one order and H the cost of holding one unit for a year.</a:t>
            </a:r>
            <a:endParaRPr lang="en-US" sz="1200" dirty="0"/>
          </a:p>
        </p:txBody>
      </p:sp>
      <p:sp>
        <p:nvSpPr>
          <p:cNvPr id="24" name="Shape 22"/>
          <p:cNvSpPr/>
          <p:nvPr/>
        </p:nvSpPr>
        <p:spPr>
          <a:xfrm>
            <a:off x="6345936" y="4279392"/>
            <a:ext cx="5248656" cy="1426464"/>
          </a:xfrm>
          <a:prstGeom prst="roundRect">
            <a:avLst>
              <a:gd name="adj" fmla="val 3846"/>
            </a:avLst>
          </a:prstGeom>
          <a:solidFill>
            <a:srgbClr val="0E2A33"/>
          </a:solidFill>
          <a:ln w="9525">
            <a:solidFill>
              <a:srgbClr val="0E2A33"/>
            </a:solidFill>
            <a:prstDash val="solid"/>
          </a:ln>
          <a:effectLst>
            <a:outerShdw sx="100000" sy="100000" kx="0" ky="0" algn="bl" rotWithShape="0" blurRad="127000" dist="25400" dir="5400000">
              <a:srgbClr val="A3B3BA">
                <a:alpha val="30000"/>
              </a:srgbClr>
            </a:outerShdw>
          </a:effectLst>
        </p:spPr>
      </p:sp>
      <p:sp>
        <p:nvSpPr>
          <p:cNvPr id="25" name="Text 23"/>
          <p:cNvSpPr txBox="1"/>
          <p:nvPr/>
        </p:nvSpPr>
        <p:spPr>
          <a:xfrm>
            <a:off x="6601968" y="4443984"/>
            <a:ext cx="475488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distinction that is routinely missed</a:t>
            </a:r>
            <a:endParaRPr lang="en-US" sz="1300" dirty="0"/>
          </a:p>
        </p:txBody>
      </p:sp>
      <p:sp>
        <p:nvSpPr>
          <p:cNvPr id="26" name="Text 24"/>
          <p:cNvSpPr txBox="1"/>
          <p:nvPr/>
        </p:nvSpPr>
        <p:spPr>
          <a:xfrm>
            <a:off x="6601968" y="4718304"/>
            <a:ext cx="4754880" cy="877824"/>
          </a:xfrm>
          <a:prstGeom prst="rect">
            <a:avLst/>
          </a:prstGeom>
          <a:noFill/>
          <a:ln/>
        </p:spPr>
        <p:txBody>
          <a:bodyPr wrap="square" lIns="0" tIns="0" rIns="0" bIns="0" rtlCol="0" anchor="ctr"/>
          <a:lstStyle/>
          <a:p>
            <a:pPr indent="0" marL="0">
              <a:lnSpc>
                <a:spcPts val="1600"/>
              </a:lnSpc>
              <a:buNone/>
            </a:pPr>
            <a:r>
              <a:rPr lang="en-US" sz="1150" dirty="0">
                <a:solidFill>
                  <a:srgbClr val="A9BDC4"/>
                </a:solidFill>
                <a:latin typeface="Calibri" pitchFamily="34" charset="0"/>
                <a:ea typeface="Calibri" pitchFamily="34" charset="-122"/>
                <a:cs typeface="Calibri" pitchFamily="34" charset="-120"/>
              </a:rPr>
              <a:t>Cycle service level is the chance of not running out during a cycle. Fill rate is the share of demand actually served. They are not the same number, and the gap between them is where over-stocking hides.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SYSTEM ARCHITECTURE</a:t>
            </a:r>
            <a:endParaRPr lang="en-US" sz="1150" dirty="0"/>
          </a:p>
        </p:txBody>
      </p:sp>
      <p:sp>
        <p:nvSpPr>
          <p:cNvPr id="3" name="Text 1"/>
          <p:cNvSpPr txBox="1"/>
          <p:nvPr/>
        </p:nvSpPr>
        <p:spPr>
          <a:xfrm>
            <a:off x="566928" y="603504"/>
            <a:ext cx="10332720" cy="548640"/>
          </a:xfrm>
          <a:prstGeom prst="rect">
            <a:avLst/>
          </a:prstGeom>
          <a:noFill/>
          <a:ln/>
        </p:spPr>
        <p:txBody>
          <a:bodyPr wrap="square" lIns="0" tIns="0" rIns="0" bIns="0" rtlCol="0" anchor="ctr"/>
          <a:lstStyle/>
          <a:p>
            <a:pPr indent="0" marL="0">
              <a:buNone/>
            </a:pPr>
            <a:r>
              <a:rPr lang="en-US" sz="3100" b="1" dirty="0">
                <a:solidFill>
                  <a:srgbClr val="0E2A33"/>
                </a:solidFill>
                <a:latin typeface="Cambria" pitchFamily="34" charset="0"/>
                <a:ea typeface="Cambria" pitchFamily="34" charset="-122"/>
                <a:cs typeface="Cambria" pitchFamily="34" charset="-120"/>
              </a:rPr>
              <a:t>Offline where it should be, live where it matters</a:t>
            </a:r>
            <a:endParaRPr lang="en-US" sz="3100" dirty="0"/>
          </a:p>
        </p:txBody>
      </p:sp>
      <p:sp>
        <p:nvSpPr>
          <p:cNvPr id="4" name="Text 2"/>
          <p:cNvSpPr txBox="1"/>
          <p:nvPr/>
        </p:nvSpPr>
        <p:spPr>
          <a:xfrm>
            <a:off x="10972800" y="384048"/>
            <a:ext cx="640080" cy="457200"/>
          </a:xfrm>
          <a:prstGeom prst="rect">
            <a:avLst/>
          </a:prstGeom>
          <a:noFill/>
          <a:ln/>
        </p:spPr>
        <p:txBody>
          <a:bodyPr wrap="square" lIns="0" tIns="0" rIns="0" bIns="0" rtlCol="0" anchor="ctr"/>
          <a:lstStyle/>
          <a:p>
            <a:pPr algn="r" indent="0" marL="0">
              <a:buNone/>
            </a:pPr>
            <a:r>
              <a:rPr lang="en-US" sz="2400" b="1" dirty="0">
                <a:solidFill>
                  <a:srgbClr val="D6E1E3"/>
                </a:solidFill>
                <a:latin typeface="Cambria" pitchFamily="34" charset="0"/>
                <a:ea typeface="Cambria" pitchFamily="34" charset="-122"/>
                <a:cs typeface="Cambria" pitchFamily="34" charset="-120"/>
              </a:rPr>
              <a:t>08</a:t>
            </a:r>
            <a:endParaRPr lang="en-US" sz="2400" dirty="0"/>
          </a:p>
        </p:txBody>
      </p:sp>
      <p:sp>
        <p:nvSpPr>
          <p:cNvPr id="5" name="Shape 3"/>
          <p:cNvSpPr/>
          <p:nvPr/>
        </p:nvSpPr>
        <p:spPr>
          <a:xfrm>
            <a:off x="566928" y="1463040"/>
            <a:ext cx="2468880" cy="1700784"/>
          </a:xfrm>
          <a:prstGeom prst="roundRect">
            <a:avLst>
              <a:gd name="adj" fmla="val 3226"/>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6" name="Shape 4"/>
          <p:cNvSpPr/>
          <p:nvPr/>
        </p:nvSpPr>
        <p:spPr>
          <a:xfrm>
            <a:off x="795528" y="1645920"/>
            <a:ext cx="365760" cy="365760"/>
          </a:xfrm>
          <a:prstGeom prst="ellipse">
            <a:avLst/>
          </a:prstGeom>
          <a:solidFill>
            <a:srgbClr val="0F8A7E"/>
          </a:solidFill>
          <a:ln/>
        </p:spPr>
      </p:sp>
      <p:sp>
        <p:nvSpPr>
          <p:cNvPr id="7" name="Text 5"/>
          <p:cNvSpPr txBox="1"/>
          <p:nvPr/>
        </p:nvSpPr>
        <p:spPr>
          <a:xfrm>
            <a:off x="795528" y="1645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795528" y="2103120"/>
            <a:ext cx="2011680" cy="274320"/>
          </a:xfrm>
          <a:prstGeom prst="rect">
            <a:avLst/>
          </a:prstGeom>
          <a:noFill/>
          <a:ln/>
        </p:spPr>
        <p:txBody>
          <a:bodyPr wrap="square" lIns="0" tIns="0" rIns="0" bIns="0" rtlCol="0" anchor="ctr"/>
          <a:lstStyle/>
          <a:p>
            <a:pPr indent="0" marL="0">
              <a:buNone/>
            </a:pPr>
            <a:r>
              <a:rPr lang="en-US" sz="1450" b="1" dirty="0">
                <a:solidFill>
                  <a:srgbClr val="0E2A33"/>
                </a:solidFill>
                <a:latin typeface="Calibri" pitchFamily="34" charset="0"/>
                <a:ea typeface="Calibri" pitchFamily="34" charset="-122"/>
                <a:cs typeface="Calibri" pitchFamily="34" charset="-120"/>
              </a:rPr>
              <a:t>Generate</a:t>
            </a:r>
            <a:endParaRPr lang="en-US" sz="1450" dirty="0"/>
          </a:p>
        </p:txBody>
      </p:sp>
      <p:sp>
        <p:nvSpPr>
          <p:cNvPr id="9" name="Text 7"/>
          <p:cNvSpPr txBox="1"/>
          <p:nvPr/>
        </p:nvSpPr>
        <p:spPr>
          <a:xfrm>
            <a:off x="795528" y="2377440"/>
            <a:ext cx="2103120" cy="237744"/>
          </a:xfrm>
          <a:prstGeom prst="rect">
            <a:avLst/>
          </a:prstGeom>
          <a:noFill/>
          <a:ln/>
        </p:spPr>
        <p:txBody>
          <a:bodyPr wrap="square" lIns="0" tIns="0" rIns="0" bIns="0" rtlCol="0" anchor="ctr"/>
          <a:lstStyle/>
          <a:p>
            <a:pPr indent="0" marL="0">
              <a:buNone/>
            </a:pPr>
            <a:r>
              <a:rPr lang="en-US" sz="950" dirty="0">
                <a:solidFill>
                  <a:srgbClr val="0F8A7E"/>
                </a:solidFill>
                <a:latin typeface="Courier New" pitchFamily="34" charset="0"/>
                <a:ea typeface="Courier New" pitchFamily="34" charset="-122"/>
                <a:cs typeface="Courier New" pitchFamily="34" charset="-120"/>
              </a:rPr>
              <a:t>generate_data.py</a:t>
            </a:r>
            <a:endParaRPr lang="en-US" sz="950" dirty="0"/>
          </a:p>
        </p:txBody>
      </p:sp>
      <p:sp>
        <p:nvSpPr>
          <p:cNvPr id="10" name="Text 8"/>
          <p:cNvSpPr txBox="1"/>
          <p:nvPr/>
        </p:nvSpPr>
        <p:spPr>
          <a:xfrm>
            <a:off x="795528" y="2633472"/>
            <a:ext cx="2011680" cy="402336"/>
          </a:xfrm>
          <a:prstGeom prst="rect">
            <a:avLst/>
          </a:prstGeom>
          <a:noFill/>
          <a:ln/>
        </p:spPr>
        <p:txBody>
          <a:bodyPr wrap="square" lIns="0" tIns="0" rIns="0" bIns="0" rtlCol="0" anchor="ctr"/>
          <a:lstStyle/>
          <a:p>
            <a:pPr indent="0" marL="0">
              <a:lnSpc>
                <a:spcPts val="1400"/>
              </a:lnSpc>
              <a:buNone/>
            </a:pPr>
            <a:r>
              <a:rPr lang="en-US" sz="1100" dirty="0">
                <a:solidFill>
                  <a:srgbClr val="61737C"/>
                </a:solidFill>
                <a:latin typeface="Calibri" pitchFamily="34" charset="0"/>
                <a:ea typeface="Calibri" pitchFamily="34" charset="-122"/>
                <a:cs typeface="Calibri" pitchFamily="34" charset="-120"/>
              </a:rPr>
              <a:t>Seeded demand panel</a:t>
            </a:r>
            <a:endParaRPr lang="en-US" sz="1100" dirty="0"/>
          </a:p>
        </p:txBody>
      </p:sp>
      <p:sp>
        <p:nvSpPr>
          <p:cNvPr id="11" name="Text 9"/>
          <p:cNvSpPr txBox="1"/>
          <p:nvPr/>
        </p:nvSpPr>
        <p:spPr>
          <a:xfrm>
            <a:off x="3072384" y="2157984"/>
            <a:ext cx="310896" cy="274320"/>
          </a:xfrm>
          <a:prstGeom prst="rect">
            <a:avLst/>
          </a:prstGeom>
          <a:noFill/>
          <a:ln/>
        </p:spPr>
        <p:txBody>
          <a:bodyPr wrap="square" lIns="0" tIns="0" rIns="0" bIns="0" rtlCol="0" anchor="ctr"/>
          <a:lstStyle/>
          <a:p>
            <a:pPr algn="ctr" indent="0" marL="0">
              <a:buNone/>
            </a:pPr>
            <a:r>
              <a:rPr lang="en-US" sz="1700" dirty="0">
                <a:solidFill>
                  <a:srgbClr val="90A0A7"/>
                </a:solidFill>
                <a:latin typeface="Calibri" pitchFamily="34" charset="0"/>
                <a:ea typeface="Calibri" pitchFamily="34" charset="-122"/>
                <a:cs typeface="Calibri" pitchFamily="34" charset="-120"/>
              </a:rPr>
              <a:t>→</a:t>
            </a:r>
            <a:endParaRPr lang="en-US" sz="1700" dirty="0"/>
          </a:p>
        </p:txBody>
      </p:sp>
      <p:sp>
        <p:nvSpPr>
          <p:cNvPr id="12" name="Shape 10"/>
          <p:cNvSpPr/>
          <p:nvPr/>
        </p:nvSpPr>
        <p:spPr>
          <a:xfrm>
            <a:off x="3401568" y="1463040"/>
            <a:ext cx="2468880" cy="1700784"/>
          </a:xfrm>
          <a:prstGeom prst="roundRect">
            <a:avLst>
              <a:gd name="adj" fmla="val 3226"/>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13" name="Shape 11"/>
          <p:cNvSpPr/>
          <p:nvPr/>
        </p:nvSpPr>
        <p:spPr>
          <a:xfrm>
            <a:off x="3630168" y="1645920"/>
            <a:ext cx="365760" cy="365760"/>
          </a:xfrm>
          <a:prstGeom prst="ellipse">
            <a:avLst/>
          </a:prstGeom>
          <a:solidFill>
            <a:srgbClr val="0F8A7E"/>
          </a:solidFill>
          <a:ln/>
        </p:spPr>
      </p:sp>
      <p:sp>
        <p:nvSpPr>
          <p:cNvPr id="14" name="Text 12"/>
          <p:cNvSpPr txBox="1"/>
          <p:nvPr/>
        </p:nvSpPr>
        <p:spPr>
          <a:xfrm>
            <a:off x="3630168" y="1645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3630168" y="2103120"/>
            <a:ext cx="2011680" cy="274320"/>
          </a:xfrm>
          <a:prstGeom prst="rect">
            <a:avLst/>
          </a:prstGeom>
          <a:noFill/>
          <a:ln/>
        </p:spPr>
        <p:txBody>
          <a:bodyPr wrap="square" lIns="0" tIns="0" rIns="0" bIns="0" rtlCol="0" anchor="ctr"/>
          <a:lstStyle/>
          <a:p>
            <a:pPr indent="0" marL="0">
              <a:buNone/>
            </a:pPr>
            <a:r>
              <a:rPr lang="en-US" sz="1450" b="1" dirty="0">
                <a:solidFill>
                  <a:srgbClr val="0E2A33"/>
                </a:solidFill>
                <a:latin typeface="Calibri" pitchFamily="34" charset="0"/>
                <a:ea typeface="Calibri" pitchFamily="34" charset="-122"/>
                <a:cs typeface="Calibri" pitchFamily="34" charset="-120"/>
              </a:rPr>
              <a:t>Forecast</a:t>
            </a:r>
            <a:endParaRPr lang="en-US" sz="1450" dirty="0"/>
          </a:p>
        </p:txBody>
      </p:sp>
      <p:sp>
        <p:nvSpPr>
          <p:cNvPr id="16" name="Text 14"/>
          <p:cNvSpPr txBox="1"/>
          <p:nvPr/>
        </p:nvSpPr>
        <p:spPr>
          <a:xfrm>
            <a:off x="3630168" y="2377440"/>
            <a:ext cx="2103120" cy="237744"/>
          </a:xfrm>
          <a:prstGeom prst="rect">
            <a:avLst/>
          </a:prstGeom>
          <a:noFill/>
          <a:ln/>
        </p:spPr>
        <p:txBody>
          <a:bodyPr wrap="square" lIns="0" tIns="0" rIns="0" bIns="0" rtlCol="0" anchor="ctr"/>
          <a:lstStyle/>
          <a:p>
            <a:pPr indent="0" marL="0">
              <a:buNone/>
            </a:pPr>
            <a:r>
              <a:rPr lang="en-US" sz="950" dirty="0">
                <a:solidFill>
                  <a:srgbClr val="0F8A7E"/>
                </a:solidFill>
                <a:latin typeface="Courier New" pitchFamily="34" charset="0"/>
                <a:ea typeface="Courier New" pitchFamily="34" charset="-122"/>
                <a:cs typeface="Courier New" pitchFamily="34" charset="-120"/>
              </a:rPr>
              <a:t>forecast.py</a:t>
            </a:r>
            <a:endParaRPr lang="en-US" sz="950" dirty="0"/>
          </a:p>
        </p:txBody>
      </p:sp>
      <p:sp>
        <p:nvSpPr>
          <p:cNvPr id="17" name="Text 15"/>
          <p:cNvSpPr txBox="1"/>
          <p:nvPr/>
        </p:nvSpPr>
        <p:spPr>
          <a:xfrm>
            <a:off x="3630168" y="2633472"/>
            <a:ext cx="2011680" cy="402336"/>
          </a:xfrm>
          <a:prstGeom prst="rect">
            <a:avLst/>
          </a:prstGeom>
          <a:noFill/>
          <a:ln/>
        </p:spPr>
        <p:txBody>
          <a:bodyPr wrap="square" lIns="0" tIns="0" rIns="0" bIns="0" rtlCol="0" anchor="ctr"/>
          <a:lstStyle/>
          <a:p>
            <a:pPr indent="0" marL="0">
              <a:lnSpc>
                <a:spcPts val="1400"/>
              </a:lnSpc>
              <a:buNone/>
            </a:pPr>
            <a:r>
              <a:rPr lang="en-US" sz="1100" dirty="0">
                <a:solidFill>
                  <a:srgbClr val="61737C"/>
                </a:solidFill>
                <a:latin typeface="Calibri" pitchFamily="34" charset="0"/>
                <a:ea typeface="Calibri" pitchFamily="34" charset="-122"/>
                <a:cs typeface="Calibri" pitchFamily="34" charset="-120"/>
              </a:rPr>
              <a:t>Fit, backtest, intervals</a:t>
            </a:r>
            <a:endParaRPr lang="en-US" sz="1100" dirty="0"/>
          </a:p>
        </p:txBody>
      </p:sp>
      <p:sp>
        <p:nvSpPr>
          <p:cNvPr id="18" name="Text 16"/>
          <p:cNvSpPr txBox="1"/>
          <p:nvPr/>
        </p:nvSpPr>
        <p:spPr>
          <a:xfrm>
            <a:off x="5907024" y="2157984"/>
            <a:ext cx="310896" cy="274320"/>
          </a:xfrm>
          <a:prstGeom prst="rect">
            <a:avLst/>
          </a:prstGeom>
          <a:noFill/>
          <a:ln/>
        </p:spPr>
        <p:txBody>
          <a:bodyPr wrap="square" lIns="0" tIns="0" rIns="0" bIns="0" rtlCol="0" anchor="ctr"/>
          <a:lstStyle/>
          <a:p>
            <a:pPr algn="ctr" indent="0" marL="0">
              <a:buNone/>
            </a:pPr>
            <a:r>
              <a:rPr lang="en-US" sz="1700" dirty="0">
                <a:solidFill>
                  <a:srgbClr val="90A0A7"/>
                </a:solidFill>
                <a:latin typeface="Calibri" pitchFamily="34" charset="0"/>
                <a:ea typeface="Calibri" pitchFamily="34" charset="-122"/>
                <a:cs typeface="Calibri" pitchFamily="34" charset="-120"/>
              </a:rPr>
              <a:t>→</a:t>
            </a:r>
            <a:endParaRPr lang="en-US" sz="1700" dirty="0"/>
          </a:p>
        </p:txBody>
      </p:sp>
      <p:sp>
        <p:nvSpPr>
          <p:cNvPr id="19" name="Shape 17"/>
          <p:cNvSpPr/>
          <p:nvPr/>
        </p:nvSpPr>
        <p:spPr>
          <a:xfrm>
            <a:off x="6236208" y="1463040"/>
            <a:ext cx="2468880" cy="1700784"/>
          </a:xfrm>
          <a:prstGeom prst="roundRect">
            <a:avLst>
              <a:gd name="adj" fmla="val 3226"/>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20" name="Shape 18"/>
          <p:cNvSpPr/>
          <p:nvPr/>
        </p:nvSpPr>
        <p:spPr>
          <a:xfrm>
            <a:off x="6464808" y="1645920"/>
            <a:ext cx="365760" cy="365760"/>
          </a:xfrm>
          <a:prstGeom prst="ellipse">
            <a:avLst/>
          </a:prstGeom>
          <a:solidFill>
            <a:srgbClr val="0F8A7E"/>
          </a:solidFill>
          <a:ln/>
        </p:spPr>
      </p:sp>
      <p:sp>
        <p:nvSpPr>
          <p:cNvPr id="21" name="Text 19"/>
          <p:cNvSpPr txBox="1"/>
          <p:nvPr/>
        </p:nvSpPr>
        <p:spPr>
          <a:xfrm>
            <a:off x="6464808" y="1645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20"/>
          <p:cNvSpPr txBox="1"/>
          <p:nvPr/>
        </p:nvSpPr>
        <p:spPr>
          <a:xfrm>
            <a:off x="6464808" y="2103120"/>
            <a:ext cx="2011680" cy="274320"/>
          </a:xfrm>
          <a:prstGeom prst="rect">
            <a:avLst/>
          </a:prstGeom>
          <a:noFill/>
          <a:ln/>
        </p:spPr>
        <p:txBody>
          <a:bodyPr wrap="square" lIns="0" tIns="0" rIns="0" bIns="0" rtlCol="0" anchor="ctr"/>
          <a:lstStyle/>
          <a:p>
            <a:pPr indent="0" marL="0">
              <a:buNone/>
            </a:pPr>
            <a:r>
              <a:rPr lang="en-US" sz="1450" b="1" dirty="0">
                <a:solidFill>
                  <a:srgbClr val="0E2A33"/>
                </a:solidFill>
                <a:latin typeface="Calibri" pitchFamily="34" charset="0"/>
                <a:ea typeface="Calibri" pitchFamily="34" charset="-122"/>
                <a:cs typeface="Calibri" pitchFamily="34" charset="-120"/>
              </a:rPr>
              <a:t>Publish</a:t>
            </a:r>
            <a:endParaRPr lang="en-US" sz="1450" dirty="0"/>
          </a:p>
        </p:txBody>
      </p:sp>
      <p:sp>
        <p:nvSpPr>
          <p:cNvPr id="23" name="Text 21"/>
          <p:cNvSpPr txBox="1"/>
          <p:nvPr/>
        </p:nvSpPr>
        <p:spPr>
          <a:xfrm>
            <a:off x="6464808" y="2377440"/>
            <a:ext cx="2103120" cy="237744"/>
          </a:xfrm>
          <a:prstGeom prst="rect">
            <a:avLst/>
          </a:prstGeom>
          <a:noFill/>
          <a:ln/>
        </p:spPr>
        <p:txBody>
          <a:bodyPr wrap="square" lIns="0" tIns="0" rIns="0" bIns="0" rtlCol="0" anchor="ctr"/>
          <a:lstStyle/>
          <a:p>
            <a:pPr indent="0" marL="0">
              <a:buNone/>
            </a:pPr>
            <a:r>
              <a:rPr lang="en-US" sz="950" dirty="0">
                <a:solidFill>
                  <a:srgbClr val="0F8A7E"/>
                </a:solidFill>
                <a:latin typeface="Courier New" pitchFamily="34" charset="0"/>
                <a:ea typeface="Courier New" pitchFamily="34" charset="-122"/>
                <a:cs typeface="Courier New" pitchFamily="34" charset="-120"/>
              </a:rPr>
              <a:t>dashboard.json</a:t>
            </a:r>
            <a:endParaRPr lang="en-US" sz="950" dirty="0"/>
          </a:p>
        </p:txBody>
      </p:sp>
      <p:sp>
        <p:nvSpPr>
          <p:cNvPr id="24" name="Text 22"/>
          <p:cNvSpPr txBox="1"/>
          <p:nvPr/>
        </p:nvSpPr>
        <p:spPr>
          <a:xfrm>
            <a:off x="6464808" y="2633472"/>
            <a:ext cx="2011680" cy="402336"/>
          </a:xfrm>
          <a:prstGeom prst="rect">
            <a:avLst/>
          </a:prstGeom>
          <a:noFill/>
          <a:ln/>
        </p:spPr>
        <p:txBody>
          <a:bodyPr wrap="square" lIns="0" tIns="0" rIns="0" bIns="0" rtlCol="0" anchor="ctr"/>
          <a:lstStyle/>
          <a:p>
            <a:pPr indent="0" marL="0">
              <a:lnSpc>
                <a:spcPts val="1400"/>
              </a:lnSpc>
              <a:buNone/>
            </a:pPr>
            <a:r>
              <a:rPr lang="en-US" sz="1100" dirty="0">
                <a:solidFill>
                  <a:srgbClr val="61737C"/>
                </a:solidFill>
                <a:latin typeface="Calibri" pitchFamily="34" charset="0"/>
                <a:ea typeface="Calibri" pitchFamily="34" charset="-122"/>
                <a:cs typeface="Calibri" pitchFamily="34" charset="-120"/>
              </a:rPr>
              <a:t>One ~160 KB payload</a:t>
            </a:r>
            <a:endParaRPr lang="en-US" sz="1100" dirty="0"/>
          </a:p>
        </p:txBody>
      </p:sp>
      <p:sp>
        <p:nvSpPr>
          <p:cNvPr id="25" name="Text 23"/>
          <p:cNvSpPr txBox="1"/>
          <p:nvPr/>
        </p:nvSpPr>
        <p:spPr>
          <a:xfrm>
            <a:off x="8741664" y="2157984"/>
            <a:ext cx="310896" cy="274320"/>
          </a:xfrm>
          <a:prstGeom prst="rect">
            <a:avLst/>
          </a:prstGeom>
          <a:noFill/>
          <a:ln/>
        </p:spPr>
        <p:txBody>
          <a:bodyPr wrap="square" lIns="0" tIns="0" rIns="0" bIns="0" rtlCol="0" anchor="ctr"/>
          <a:lstStyle/>
          <a:p>
            <a:pPr algn="ctr" indent="0" marL="0">
              <a:buNone/>
            </a:pPr>
            <a:r>
              <a:rPr lang="en-US" sz="1700" dirty="0">
                <a:solidFill>
                  <a:srgbClr val="90A0A7"/>
                </a:solidFill>
                <a:latin typeface="Calibri" pitchFamily="34" charset="0"/>
                <a:ea typeface="Calibri" pitchFamily="34" charset="-122"/>
                <a:cs typeface="Calibri" pitchFamily="34" charset="-120"/>
              </a:rPr>
              <a:t>→</a:t>
            </a:r>
            <a:endParaRPr lang="en-US" sz="1700" dirty="0"/>
          </a:p>
        </p:txBody>
      </p:sp>
      <p:sp>
        <p:nvSpPr>
          <p:cNvPr id="26" name="Shape 24"/>
          <p:cNvSpPr/>
          <p:nvPr/>
        </p:nvSpPr>
        <p:spPr>
          <a:xfrm>
            <a:off x="9070848" y="1463040"/>
            <a:ext cx="2468880" cy="1700784"/>
          </a:xfrm>
          <a:prstGeom prst="roundRect">
            <a:avLst>
              <a:gd name="adj" fmla="val 3226"/>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27" name="Shape 25"/>
          <p:cNvSpPr/>
          <p:nvPr/>
        </p:nvSpPr>
        <p:spPr>
          <a:xfrm>
            <a:off x="9299448" y="1645920"/>
            <a:ext cx="365760" cy="365760"/>
          </a:xfrm>
          <a:prstGeom prst="ellipse">
            <a:avLst/>
          </a:prstGeom>
          <a:solidFill>
            <a:srgbClr val="0F8A7E"/>
          </a:solidFill>
          <a:ln/>
        </p:spPr>
      </p:sp>
      <p:sp>
        <p:nvSpPr>
          <p:cNvPr id="28" name="Text 26"/>
          <p:cNvSpPr txBox="1"/>
          <p:nvPr/>
        </p:nvSpPr>
        <p:spPr>
          <a:xfrm>
            <a:off x="9299448" y="1645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9" name="Text 27"/>
          <p:cNvSpPr txBox="1"/>
          <p:nvPr/>
        </p:nvSpPr>
        <p:spPr>
          <a:xfrm>
            <a:off x="9299448" y="2103120"/>
            <a:ext cx="2011680" cy="274320"/>
          </a:xfrm>
          <a:prstGeom prst="rect">
            <a:avLst/>
          </a:prstGeom>
          <a:noFill/>
          <a:ln/>
        </p:spPr>
        <p:txBody>
          <a:bodyPr wrap="square" lIns="0" tIns="0" rIns="0" bIns="0" rtlCol="0" anchor="ctr"/>
          <a:lstStyle/>
          <a:p>
            <a:pPr indent="0" marL="0">
              <a:buNone/>
            </a:pPr>
            <a:r>
              <a:rPr lang="en-US" sz="1450" b="1" dirty="0">
                <a:solidFill>
                  <a:srgbClr val="0E2A33"/>
                </a:solidFill>
                <a:latin typeface="Calibri" pitchFamily="34" charset="0"/>
                <a:ea typeface="Calibri" pitchFamily="34" charset="-122"/>
                <a:cs typeface="Calibri" pitchFamily="34" charset="-120"/>
              </a:rPr>
              <a:t>Optimise</a:t>
            </a:r>
            <a:endParaRPr lang="en-US" sz="1450" dirty="0"/>
          </a:p>
        </p:txBody>
      </p:sp>
      <p:sp>
        <p:nvSpPr>
          <p:cNvPr id="30" name="Text 28"/>
          <p:cNvSpPr txBox="1"/>
          <p:nvPr/>
        </p:nvSpPr>
        <p:spPr>
          <a:xfrm>
            <a:off x="9299448" y="2377440"/>
            <a:ext cx="2103120" cy="237744"/>
          </a:xfrm>
          <a:prstGeom prst="rect">
            <a:avLst/>
          </a:prstGeom>
          <a:noFill/>
          <a:ln/>
        </p:spPr>
        <p:txBody>
          <a:bodyPr wrap="square" lIns="0" tIns="0" rIns="0" bIns="0" rtlCol="0" anchor="ctr"/>
          <a:lstStyle/>
          <a:p>
            <a:pPr indent="0" marL="0">
              <a:buNone/>
            </a:pPr>
            <a:r>
              <a:rPr lang="en-US" sz="950" dirty="0">
                <a:solidFill>
                  <a:srgbClr val="0F8A7E"/>
                </a:solidFill>
                <a:latin typeface="Courier New" pitchFamily="34" charset="0"/>
                <a:ea typeface="Courier New" pitchFamily="34" charset="-122"/>
                <a:cs typeface="Courier New" pitchFamily="34" charset="-120"/>
              </a:rPr>
              <a:t>inventory.ts</a:t>
            </a:r>
            <a:endParaRPr lang="en-US" sz="950" dirty="0"/>
          </a:p>
        </p:txBody>
      </p:sp>
      <p:sp>
        <p:nvSpPr>
          <p:cNvPr id="31" name="Text 29"/>
          <p:cNvSpPr txBox="1"/>
          <p:nvPr/>
        </p:nvSpPr>
        <p:spPr>
          <a:xfrm>
            <a:off x="9299448" y="2633472"/>
            <a:ext cx="2011680" cy="402336"/>
          </a:xfrm>
          <a:prstGeom prst="rect">
            <a:avLst/>
          </a:prstGeom>
          <a:noFill/>
          <a:ln/>
        </p:spPr>
        <p:txBody>
          <a:bodyPr wrap="square" lIns="0" tIns="0" rIns="0" bIns="0" rtlCol="0" anchor="ctr"/>
          <a:lstStyle/>
          <a:p>
            <a:pPr indent="0" marL="0">
              <a:lnSpc>
                <a:spcPts val="1400"/>
              </a:lnSpc>
              <a:buNone/>
            </a:pPr>
            <a:r>
              <a:rPr lang="en-US" sz="1100" dirty="0">
                <a:solidFill>
                  <a:srgbClr val="61737C"/>
                </a:solidFill>
                <a:latin typeface="Calibri" pitchFamily="34" charset="0"/>
                <a:ea typeface="Calibri" pitchFamily="34" charset="-122"/>
                <a:cs typeface="Calibri" pitchFamily="34" charset="-120"/>
              </a:rPr>
              <a:t>Policy in the browser</a:t>
            </a:r>
            <a:endParaRPr lang="en-US" sz="1100" dirty="0"/>
          </a:p>
        </p:txBody>
      </p:sp>
      <p:sp>
        <p:nvSpPr>
          <p:cNvPr id="32" name="Text 30"/>
          <p:cNvSpPr txBox="1"/>
          <p:nvPr/>
        </p:nvSpPr>
        <p:spPr>
          <a:xfrm>
            <a:off x="566928" y="3401568"/>
            <a:ext cx="5394960" cy="274320"/>
          </a:xfrm>
          <a:prstGeom prst="rect">
            <a:avLst/>
          </a:prstGeom>
          <a:noFill/>
          <a:ln/>
        </p:spPr>
        <p:txBody>
          <a:bodyPr wrap="square" lIns="0" tIns="0" rIns="0" bIns="0" rtlCol="0" anchor="ctr"/>
          <a:lstStyle/>
          <a:p>
            <a:pPr indent="0" marL="0">
              <a:buNone/>
            </a:pPr>
            <a:r>
              <a:rPr lang="en-US" sz="1400" b="1" dirty="0">
                <a:solidFill>
                  <a:srgbClr val="0E2A33"/>
                </a:solidFill>
                <a:latin typeface="Calibri" pitchFamily="34" charset="0"/>
                <a:ea typeface="Calibri" pitchFamily="34" charset="-122"/>
                <a:cs typeface="Calibri" pitchFamily="34" charset="-120"/>
              </a:rPr>
              <a:t>Technology used</a:t>
            </a:r>
            <a:endParaRPr lang="en-US" sz="1400" dirty="0"/>
          </a:p>
        </p:txBody>
      </p:sp>
      <p:sp>
        <p:nvSpPr>
          <p:cNvPr id="33" name="Text 31"/>
          <p:cNvSpPr txBox="1"/>
          <p:nvPr/>
        </p:nvSpPr>
        <p:spPr>
          <a:xfrm>
            <a:off x="566928" y="3712464"/>
            <a:ext cx="5394960" cy="109728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61737C"/>
                </a:solidFill>
                <a:latin typeface="Calibri" pitchFamily="34" charset="0"/>
                <a:ea typeface="Calibri" pitchFamily="34" charset="-122"/>
                <a:cs typeface="Calibri" pitchFamily="34" charset="-120"/>
              </a:rPr>
              <a:t>Python, NumPy, pandas — forecasting pipeline</a:t>
            </a:r>
            <a:endParaRPr lang="en-US" sz="1250" dirty="0"/>
          </a:p>
          <a:p>
            <a:pPr marL="342900" indent="-342900">
              <a:spcAft>
                <a:spcPts val="600"/>
              </a:spcAft>
              <a:buSzPct val="100000"/>
              <a:buChar char="•"/>
            </a:pPr>
            <a:r>
              <a:rPr lang="en-US" sz="1250" dirty="0">
                <a:solidFill>
                  <a:srgbClr val="61737C"/>
                </a:solidFill>
                <a:latin typeface="Calibri" pitchFamily="34" charset="0"/>
                <a:ea typeface="Calibri" pitchFamily="34" charset="-122"/>
                <a:cs typeface="Calibri" pitchFamily="34" charset="-120"/>
              </a:rPr>
              <a:t>TypeScript, React, Vite, Recharts — dashboard</a:t>
            </a:r>
            <a:endParaRPr lang="en-US" sz="1250" dirty="0"/>
          </a:p>
          <a:p>
            <a:pPr marL="342900" indent="-342900">
              <a:spcAft>
                <a:spcPts val="600"/>
              </a:spcAft>
              <a:buSzPct val="100000"/>
              <a:buChar char="•"/>
            </a:pPr>
            <a:r>
              <a:rPr lang="en-US" sz="1250" dirty="0">
                <a:solidFill>
                  <a:srgbClr val="61737C"/>
                </a:solidFill>
                <a:latin typeface="Calibri" pitchFamily="34" charset="0"/>
                <a:ea typeface="Calibri" pitchFamily="34" charset="-122"/>
                <a:cs typeface="Calibri" pitchFamily="34" charset="-120"/>
              </a:rPr>
              <a:t>Netlify — static hosting, no server at runtime</a:t>
            </a:r>
            <a:endParaRPr lang="en-US" sz="1250" dirty="0"/>
          </a:p>
        </p:txBody>
      </p:sp>
      <p:sp>
        <p:nvSpPr>
          <p:cNvPr id="34" name="Shape 32"/>
          <p:cNvSpPr/>
          <p:nvPr/>
        </p:nvSpPr>
        <p:spPr>
          <a:xfrm>
            <a:off x="6345936" y="3401568"/>
            <a:ext cx="5248656" cy="2286000"/>
          </a:xfrm>
          <a:prstGeom prst="roundRect">
            <a:avLst>
              <a:gd name="adj" fmla="val 2400"/>
            </a:avLst>
          </a:prstGeom>
          <a:solidFill>
            <a:srgbClr val="EAF3F2"/>
          </a:solidFill>
          <a:ln w="9525">
            <a:solidFill>
              <a:srgbClr val="D3E4E1"/>
            </a:solidFill>
            <a:prstDash val="solid"/>
          </a:ln>
          <a:effectLst>
            <a:outerShdw sx="100000" sy="100000" kx="0" ky="0" algn="bl" rotWithShape="0" blurRad="127000" dist="25400" dir="5400000">
              <a:srgbClr val="A3B3BA">
                <a:alpha val="30000"/>
              </a:srgbClr>
            </a:outerShdw>
          </a:effectLst>
        </p:spPr>
      </p:sp>
      <p:sp>
        <p:nvSpPr>
          <p:cNvPr id="35" name="Text 33"/>
          <p:cNvSpPr txBox="1"/>
          <p:nvPr/>
        </p:nvSpPr>
        <p:spPr>
          <a:xfrm>
            <a:off x="6601968" y="3566160"/>
            <a:ext cx="4736592"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WHY THE SPLIT MATTERS</a:t>
            </a:r>
            <a:endParaRPr lang="en-US" sz="1050" dirty="0"/>
          </a:p>
        </p:txBody>
      </p:sp>
      <p:sp>
        <p:nvSpPr>
          <p:cNvPr id="36" name="Text 34"/>
          <p:cNvSpPr txBox="1"/>
          <p:nvPr/>
        </p:nvSpPr>
        <p:spPr>
          <a:xfrm>
            <a:off x="6601968" y="3803904"/>
            <a:ext cx="4736592" cy="1719072"/>
          </a:xfrm>
          <a:prstGeom prst="rect">
            <a:avLst/>
          </a:prstGeom>
          <a:noFill/>
          <a:ln/>
        </p:spPr>
        <p:txBody>
          <a:bodyPr wrap="square" lIns="0" tIns="0" rIns="0" bIns="0" rtlCol="0" anchor="ctr"/>
          <a:lstStyle/>
          <a:p>
            <a:pPr indent="0" marL="0">
              <a:lnSpc>
                <a:spcPts val="1700"/>
              </a:lnSpc>
              <a:buNone/>
            </a:pPr>
            <a:r>
              <a:rPr lang="en-US" sz="1200" dirty="0">
                <a:solidFill>
                  <a:srgbClr val="3C5259"/>
                </a:solidFill>
                <a:latin typeface="Calibri" pitchFamily="34" charset="0"/>
                <a:ea typeface="Calibri" pitchFamily="34" charset="-122"/>
                <a:cs typeface="Calibri" pitchFamily="34" charset="-120"/>
              </a:rPr>
              <a:t>Model fitting is expensive and only needs to run when new sales data arrives, so it runs offline in Python and writes one JSON file.</a:t>
            </a:r>
            <a:endParaRPr lang="en-US" sz="1200" dirty="0"/>
          </a:p>
          <a:p>
            <a:pPr indent="0" marL="0">
              <a:lnSpc>
                <a:spcPts val="1700"/>
              </a:lnSpc>
              <a:buNone/>
            </a:pPr>
            <a:endParaRPr lang="en-US" sz="1200" dirty="0"/>
          </a:p>
          <a:p>
            <a:pPr indent="0" marL="0">
              <a:lnSpc>
                <a:spcPts val="1700"/>
              </a:lnSpc>
              <a:buNone/>
            </a:pPr>
            <a:r>
              <a:rPr lang="en-US" sz="1200" dirty="0">
                <a:solidFill>
                  <a:srgbClr val="3C5259"/>
                </a:solidFill>
                <a:latin typeface="Calibri" pitchFamily="34" charset="0"/>
                <a:ea typeface="Calibri" pitchFamily="34" charset="-122"/>
                <a:cs typeface="Calibri" pitchFamily="34" charset="-120"/>
              </a:rPr>
              <a:t>The inventory formulas are cheap and depend on inputs the planner changes constantly, so they run in the browser. Moving the service-level slider re-optimises all 90 lines with no server call, and refreshing the data means replacing one file.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RESULTS · FORECAST ACCURACY</a:t>
            </a:r>
            <a:endParaRPr lang="en-US" sz="1150" dirty="0"/>
          </a:p>
        </p:txBody>
      </p:sp>
      <p:sp>
        <p:nvSpPr>
          <p:cNvPr id="3" name="Text 1"/>
          <p:cNvSpPr txBox="1"/>
          <p:nvPr/>
        </p:nvSpPr>
        <p:spPr>
          <a:xfrm>
            <a:off x="566928" y="603504"/>
            <a:ext cx="10332720" cy="548640"/>
          </a:xfrm>
          <a:prstGeom prst="rect">
            <a:avLst/>
          </a:prstGeom>
          <a:noFill/>
          <a:ln/>
        </p:spPr>
        <p:txBody>
          <a:bodyPr wrap="square" lIns="0" tIns="0" rIns="0" bIns="0" rtlCol="0" anchor="ctr"/>
          <a:lstStyle/>
          <a:p>
            <a:pPr indent="0" marL="0">
              <a:buNone/>
            </a:pPr>
            <a:r>
              <a:rPr lang="en-US" sz="3100" b="1" dirty="0">
                <a:solidFill>
                  <a:srgbClr val="0E2A33"/>
                </a:solidFill>
                <a:latin typeface="Cambria" pitchFamily="34" charset="0"/>
                <a:ea typeface="Cambria" pitchFamily="34" charset="-122"/>
                <a:cs typeface="Cambria" pitchFamily="34" charset="-120"/>
              </a:rPr>
              <a:t>Lower error than the benchmark in every category</a:t>
            </a:r>
            <a:endParaRPr lang="en-US" sz="3100" dirty="0"/>
          </a:p>
        </p:txBody>
      </p:sp>
      <p:sp>
        <p:nvSpPr>
          <p:cNvPr id="4" name="Text 2"/>
          <p:cNvSpPr txBox="1"/>
          <p:nvPr/>
        </p:nvSpPr>
        <p:spPr>
          <a:xfrm>
            <a:off x="10972800" y="384048"/>
            <a:ext cx="640080" cy="457200"/>
          </a:xfrm>
          <a:prstGeom prst="rect">
            <a:avLst/>
          </a:prstGeom>
          <a:noFill/>
          <a:ln/>
        </p:spPr>
        <p:txBody>
          <a:bodyPr wrap="square" lIns="0" tIns="0" rIns="0" bIns="0" rtlCol="0" anchor="ctr"/>
          <a:lstStyle/>
          <a:p>
            <a:pPr algn="r" indent="0" marL="0">
              <a:buNone/>
            </a:pPr>
            <a:r>
              <a:rPr lang="en-US" sz="2400" b="1" dirty="0">
                <a:solidFill>
                  <a:srgbClr val="D6E1E3"/>
                </a:solidFill>
                <a:latin typeface="Cambria" pitchFamily="34" charset="0"/>
                <a:ea typeface="Cambria" pitchFamily="34" charset="-122"/>
                <a:cs typeface="Cambria" pitchFamily="34" charset="-120"/>
              </a:rPr>
              <a:t>09</a:t>
            </a:r>
            <a:endParaRPr lang="en-US" sz="2400" dirty="0"/>
          </a:p>
        </p:txBody>
      </p:sp>
      <p:graphicFrame>
        <p:nvGraphicFramePr>
          <p:cNvPr id="5" name="Chart 0" descr=""/>
          <p:cNvGraphicFramePr/>
          <p:nvPr/>
        </p:nvGraphicFramePr>
        <p:xfrm>
          <a:off x="566928" y="1463040"/>
          <a:ext cx="6858000" cy="29260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644384" y="1463040"/>
            <a:ext cx="3950208" cy="2926080"/>
          </a:xfrm>
          <a:prstGeom prst="roundRect">
            <a:avLst>
              <a:gd name="adj" fmla="val 1875"/>
            </a:avLst>
          </a:prstGeom>
          <a:solidFill>
            <a:srgbClr val="0E2A33"/>
          </a:solidFill>
          <a:ln w="9525">
            <a:solidFill>
              <a:srgbClr val="0E2A33"/>
            </a:solidFill>
            <a:prstDash val="solid"/>
          </a:ln>
          <a:effectLst>
            <a:outerShdw sx="100000" sy="100000" kx="0" ky="0" algn="bl" rotWithShape="0" blurRad="127000" dist="25400" dir="5400000">
              <a:srgbClr val="A3B3BA">
                <a:alpha val="30000"/>
              </a:srgbClr>
            </a:outerShdw>
          </a:effectLst>
        </p:spPr>
      </p:sp>
      <p:sp>
        <p:nvSpPr>
          <p:cNvPr id="7" name="Text 4"/>
          <p:cNvSpPr txBox="1"/>
          <p:nvPr/>
        </p:nvSpPr>
        <p:spPr>
          <a:xfrm>
            <a:off x="7900416" y="1682496"/>
            <a:ext cx="3474720" cy="237744"/>
          </a:xfrm>
          <a:prstGeom prst="rect">
            <a:avLst/>
          </a:prstGeom>
          <a:noFill/>
          <a:ln/>
        </p:spPr>
        <p:txBody>
          <a:bodyPr wrap="square" lIns="0" tIns="0" rIns="0" bIns="0" rtlCol="0" anchor="ctr"/>
          <a:lstStyle/>
          <a:p>
            <a:pPr indent="0" marL="0">
              <a:buNone/>
            </a:pPr>
            <a:r>
              <a:rPr lang="en-US" sz="1000" b="1" spc="120" kern="0" dirty="0">
                <a:solidFill>
                  <a:srgbClr val="39B7A4"/>
                </a:solidFill>
                <a:latin typeface="Calibri" pitchFamily="34" charset="0"/>
                <a:ea typeface="Calibri" pitchFamily="34" charset="-122"/>
                <a:cs typeface="Calibri" pitchFamily="34" charset="-120"/>
              </a:rPr>
              <a:t>DEMAND-WEIGHTED, ALL 90 SERIES</a:t>
            </a:r>
            <a:endParaRPr lang="en-US" sz="1000" dirty="0"/>
          </a:p>
        </p:txBody>
      </p:sp>
      <p:sp>
        <p:nvSpPr>
          <p:cNvPr id="8" name="Text 5"/>
          <p:cNvSpPr txBox="1"/>
          <p:nvPr/>
        </p:nvSpPr>
        <p:spPr>
          <a:xfrm>
            <a:off x="7900416" y="1938528"/>
            <a:ext cx="3474720" cy="6400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29.4%</a:t>
            </a:r>
            <a:endParaRPr lang="en-US" sz="4000" dirty="0"/>
          </a:p>
        </p:txBody>
      </p:sp>
      <p:sp>
        <p:nvSpPr>
          <p:cNvPr id="9" name="Text 6"/>
          <p:cNvSpPr txBox="1"/>
          <p:nvPr/>
        </p:nvSpPr>
        <p:spPr>
          <a:xfrm>
            <a:off x="7900416" y="2578608"/>
            <a:ext cx="3474720" cy="237744"/>
          </a:xfrm>
          <a:prstGeom prst="rect">
            <a:avLst/>
          </a:prstGeom>
          <a:noFill/>
          <a:ln/>
        </p:spPr>
        <p:txBody>
          <a:bodyPr wrap="square" lIns="0" tIns="0" rIns="0" bIns="0" rtlCol="0" anchor="ctr"/>
          <a:lstStyle/>
          <a:p>
            <a:pPr indent="0" marL="0">
              <a:buNone/>
            </a:pPr>
            <a:r>
              <a:rPr lang="en-US" sz="1200" dirty="0">
                <a:solidFill>
                  <a:srgbClr val="9FB6BD"/>
                </a:solidFill>
                <a:latin typeface="Calibri" pitchFamily="34" charset="0"/>
                <a:ea typeface="Calibri" pitchFamily="34" charset="-122"/>
                <a:cs typeface="Calibri" pitchFamily="34" charset="-120"/>
              </a:rPr>
              <a:t>model WAPE</a:t>
            </a:r>
            <a:endParaRPr lang="en-US" sz="1200" dirty="0"/>
          </a:p>
        </p:txBody>
      </p:sp>
      <p:sp>
        <p:nvSpPr>
          <p:cNvPr id="10" name="Text 7"/>
          <p:cNvSpPr txBox="1"/>
          <p:nvPr/>
        </p:nvSpPr>
        <p:spPr>
          <a:xfrm>
            <a:off x="7900416" y="2907792"/>
            <a:ext cx="3474720" cy="310896"/>
          </a:xfrm>
          <a:prstGeom prst="rect">
            <a:avLst/>
          </a:prstGeom>
          <a:noFill/>
          <a:ln/>
        </p:spPr>
        <p:txBody>
          <a:bodyPr wrap="square" lIns="0" tIns="0" rIns="0" bIns="0" rtlCol="0" anchor="ctr"/>
          <a:lstStyle/>
          <a:p>
            <a:pPr indent="0" marL="0">
              <a:buNone/>
            </a:pPr>
            <a:r>
              <a:rPr lang="en-US" sz="1500" b="1" dirty="0">
                <a:solidFill>
                  <a:srgbClr val="D98E37"/>
                </a:solidFill>
                <a:latin typeface="Calibri" pitchFamily="34" charset="0"/>
                <a:ea typeface="Calibri" pitchFamily="34" charset="-122"/>
                <a:cs typeface="Calibri" pitchFamily="34" charset="-120"/>
              </a:rPr>
              <a:t>38.3%  seasonal naive</a:t>
            </a:r>
            <a:endParaRPr lang="en-US" sz="1500" dirty="0"/>
          </a:p>
        </p:txBody>
      </p:sp>
      <p:sp>
        <p:nvSpPr>
          <p:cNvPr id="11" name="Text 8"/>
          <p:cNvSpPr txBox="1"/>
          <p:nvPr/>
        </p:nvSpPr>
        <p:spPr>
          <a:xfrm>
            <a:off x="7900416" y="3310128"/>
            <a:ext cx="3474720" cy="548640"/>
          </a:xfrm>
          <a:prstGeom prst="rect">
            <a:avLst/>
          </a:prstGeom>
          <a:noFill/>
          <a:ln/>
        </p:spPr>
        <p:txBody>
          <a:bodyPr wrap="square" lIns="0" tIns="0" rIns="0" bIns="0" rtlCol="0" anchor="ctr"/>
          <a:lstStyle/>
          <a:p>
            <a:pPr indent="0" marL="0">
              <a:lnSpc>
                <a:spcPts val="1900"/>
              </a:lnSpc>
              <a:buNone/>
            </a:pPr>
            <a:r>
              <a:rPr lang="en-US" sz="1400" b="1" dirty="0">
                <a:solidFill>
                  <a:srgbClr val="39B7A4"/>
                </a:solidFill>
                <a:latin typeface="Calibri" pitchFamily="34" charset="0"/>
                <a:ea typeface="Calibri" pitchFamily="34" charset="-122"/>
                <a:cs typeface="Calibri" pitchFamily="34" charset="-120"/>
              </a:rPr>
              <a:t>23% lower error than the benchmark</a:t>
            </a:r>
            <a:endParaRPr lang="en-US" sz="1400" dirty="0"/>
          </a:p>
        </p:txBody>
      </p:sp>
      <p:sp>
        <p:nvSpPr>
          <p:cNvPr id="12" name="Text 9"/>
          <p:cNvSpPr txBox="1"/>
          <p:nvPr/>
        </p:nvSpPr>
        <p:spPr>
          <a:xfrm>
            <a:off x="7900416" y="3913632"/>
            <a:ext cx="3474720" cy="274320"/>
          </a:xfrm>
          <a:prstGeom prst="rect">
            <a:avLst/>
          </a:prstGeom>
          <a:noFill/>
          <a:ln/>
        </p:spPr>
        <p:txBody>
          <a:bodyPr wrap="square" lIns="0" tIns="0" rIns="0" bIns="0" rtlCol="0" anchor="ctr"/>
          <a:lstStyle/>
          <a:p>
            <a:pPr indent="0" marL="0">
              <a:buNone/>
            </a:pPr>
            <a:r>
              <a:rPr lang="en-US" sz="1100" dirty="0">
                <a:solidFill>
                  <a:srgbClr val="8FA7AF"/>
                </a:solidFill>
                <a:latin typeface="Calibri" pitchFamily="34" charset="0"/>
                <a:ea typeface="Calibri" pitchFamily="34" charset="-122"/>
                <a:cs typeface="Calibri" pitchFamily="34" charset="-120"/>
              </a:rPr>
              <a:t>Rolling origin, 3 folds × 28 days</a:t>
            </a:r>
            <a:endParaRPr lang="en-US" sz="1100" dirty="0"/>
          </a:p>
        </p:txBody>
      </p:sp>
      <p:sp>
        <p:nvSpPr>
          <p:cNvPr id="13" name="Shape 10"/>
          <p:cNvSpPr/>
          <p:nvPr/>
        </p:nvSpPr>
        <p:spPr>
          <a:xfrm>
            <a:off x="566928" y="4553712"/>
            <a:ext cx="11027664" cy="1188720"/>
          </a:xfrm>
          <a:prstGeom prst="roundRect">
            <a:avLst>
              <a:gd name="adj" fmla="val 4615"/>
            </a:avLst>
          </a:prstGeom>
          <a:solidFill>
            <a:srgbClr val="EAF3F2"/>
          </a:solidFill>
          <a:ln w="9525">
            <a:solidFill>
              <a:srgbClr val="D3E4E1"/>
            </a:solidFill>
            <a:prstDash val="solid"/>
          </a:ln>
          <a:effectLst>
            <a:outerShdw sx="100000" sy="100000" kx="0" ky="0" algn="bl" rotWithShape="0" blurRad="127000" dist="25400" dir="5400000">
              <a:srgbClr val="A3B3BA">
                <a:alpha val="30000"/>
              </a:srgbClr>
            </a:outerShdw>
          </a:effectLst>
        </p:spPr>
      </p:sp>
      <p:sp>
        <p:nvSpPr>
          <p:cNvPr id="14" name="Text 11"/>
          <p:cNvSpPr txBox="1"/>
          <p:nvPr/>
        </p:nvSpPr>
        <p:spPr>
          <a:xfrm>
            <a:off x="822960" y="4718304"/>
            <a:ext cx="10515600"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WHAT WAPE IS, AND WHY THE BENCHMARK MATTERS</a:t>
            </a:r>
            <a:endParaRPr lang="en-US" sz="1050" dirty="0"/>
          </a:p>
        </p:txBody>
      </p:sp>
      <p:sp>
        <p:nvSpPr>
          <p:cNvPr id="15" name="Text 12"/>
          <p:cNvSpPr txBox="1"/>
          <p:nvPr/>
        </p:nvSpPr>
        <p:spPr>
          <a:xfrm>
            <a:off x="822960" y="4956048"/>
            <a:ext cx="10515600" cy="621792"/>
          </a:xfrm>
          <a:prstGeom prst="rect">
            <a:avLst/>
          </a:prstGeom>
          <a:noFill/>
          <a:ln/>
        </p:spPr>
        <p:txBody>
          <a:bodyPr wrap="square" lIns="0" tIns="0" rIns="0" bIns="0" rtlCol="0" anchor="ctr"/>
          <a:lstStyle/>
          <a:p>
            <a:pPr indent="0" marL="0">
              <a:lnSpc>
                <a:spcPts val="1700"/>
              </a:lnSpc>
              <a:buNone/>
            </a:pPr>
            <a:r>
              <a:rPr lang="en-US" sz="1200" dirty="0">
                <a:solidFill>
                  <a:srgbClr val="3C5259"/>
                </a:solidFill>
                <a:latin typeface="Calibri" pitchFamily="34" charset="0"/>
                <a:ea typeface="Calibri" pitchFamily="34" charset="-122"/>
                <a:cs typeface="Calibri" pitchFamily="34" charset="-120"/>
              </a:rPr>
              <a:t>WAPE is total absolute error divided by total actual demand, so 29.4% means the average unit of demand was missed by that proportion. On its own the number means little — it is only informative next to the seasonal-naive benchmark, which any planner can run for free. Electronics is hardest because those lines sell a handful of units a day, where each order is a large share of the total.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RESULTS · COST OPTIMISATION</a:t>
            </a:r>
            <a:endParaRPr lang="en-US" sz="1150" dirty="0"/>
          </a:p>
        </p:txBody>
      </p:sp>
      <p:sp>
        <p:nvSpPr>
          <p:cNvPr id="3" name="Text 1"/>
          <p:cNvSpPr txBox="1"/>
          <p:nvPr/>
        </p:nvSpPr>
        <p:spPr>
          <a:xfrm>
            <a:off x="566928" y="603504"/>
            <a:ext cx="10332720" cy="548640"/>
          </a:xfrm>
          <a:prstGeom prst="rect">
            <a:avLst/>
          </a:prstGeom>
          <a:noFill/>
          <a:ln/>
        </p:spPr>
        <p:txBody>
          <a:bodyPr wrap="square" lIns="0" tIns="0" rIns="0" bIns="0" rtlCol="0" anchor="ctr"/>
          <a:lstStyle/>
          <a:p>
            <a:pPr indent="0" marL="0">
              <a:buNone/>
            </a:pPr>
            <a:r>
              <a:rPr lang="en-US" sz="3100" b="1" dirty="0">
                <a:solidFill>
                  <a:srgbClr val="0E2A33"/>
                </a:solidFill>
                <a:latin typeface="Cambria" pitchFamily="34" charset="0"/>
                <a:ea typeface="Cambria" pitchFamily="34" charset="-122"/>
                <a:cs typeface="Cambria" pitchFamily="34" charset="-120"/>
              </a:rPr>
              <a:t>The right service level is an output, not a policy</a:t>
            </a:r>
            <a:endParaRPr lang="en-US" sz="3100" dirty="0"/>
          </a:p>
        </p:txBody>
      </p:sp>
      <p:sp>
        <p:nvSpPr>
          <p:cNvPr id="4" name="Text 2"/>
          <p:cNvSpPr txBox="1"/>
          <p:nvPr/>
        </p:nvSpPr>
        <p:spPr>
          <a:xfrm>
            <a:off x="10972800" y="384048"/>
            <a:ext cx="640080" cy="457200"/>
          </a:xfrm>
          <a:prstGeom prst="rect">
            <a:avLst/>
          </a:prstGeom>
          <a:noFill/>
          <a:ln/>
        </p:spPr>
        <p:txBody>
          <a:bodyPr wrap="square" lIns="0" tIns="0" rIns="0" bIns="0" rtlCol="0" anchor="ctr"/>
          <a:lstStyle/>
          <a:p>
            <a:pPr algn="r" indent="0" marL="0">
              <a:buNone/>
            </a:pPr>
            <a:r>
              <a:rPr lang="en-US" sz="2400" b="1" dirty="0">
                <a:solidFill>
                  <a:srgbClr val="D6E1E3"/>
                </a:solidFill>
                <a:latin typeface="Cambria" pitchFamily="34" charset="0"/>
                <a:ea typeface="Cambria" pitchFamily="34" charset="-122"/>
                <a:cs typeface="Cambria" pitchFamily="34" charset="-120"/>
              </a:rPr>
              <a:t>10</a:t>
            </a:r>
            <a:endParaRPr lang="en-US" sz="2400" dirty="0"/>
          </a:p>
        </p:txBody>
      </p:sp>
      <p:graphicFrame>
        <p:nvGraphicFramePr>
          <p:cNvPr id="5" name="Chart 0" descr=""/>
          <p:cNvGraphicFramePr/>
          <p:nvPr/>
        </p:nvGraphicFramePr>
        <p:xfrm>
          <a:off x="566928" y="1463040"/>
          <a:ext cx="6858000" cy="29260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644384" y="1463040"/>
            <a:ext cx="3950208" cy="1243584"/>
          </a:xfrm>
          <a:prstGeom prst="roundRect">
            <a:avLst>
              <a:gd name="adj" fmla="val 4412"/>
            </a:avLst>
          </a:prstGeom>
          <a:solidFill>
            <a:srgbClr val="0E2A33"/>
          </a:solidFill>
          <a:ln w="9525">
            <a:solidFill>
              <a:srgbClr val="0E2A33"/>
            </a:solidFill>
            <a:prstDash val="solid"/>
          </a:ln>
          <a:effectLst>
            <a:outerShdw sx="100000" sy="100000" kx="0" ky="0" algn="bl" rotWithShape="0" blurRad="127000" dist="25400" dir="5400000">
              <a:srgbClr val="A3B3BA">
                <a:alpha val="30000"/>
              </a:srgbClr>
            </a:outerShdw>
          </a:effectLst>
        </p:spPr>
      </p:sp>
      <p:sp>
        <p:nvSpPr>
          <p:cNvPr id="7" name="Text 4"/>
          <p:cNvSpPr txBox="1"/>
          <p:nvPr/>
        </p:nvSpPr>
        <p:spPr>
          <a:xfrm>
            <a:off x="7900416" y="1627632"/>
            <a:ext cx="3474720" cy="219456"/>
          </a:xfrm>
          <a:prstGeom prst="rect">
            <a:avLst/>
          </a:prstGeom>
          <a:noFill/>
          <a:ln/>
        </p:spPr>
        <p:txBody>
          <a:bodyPr wrap="square" lIns="0" tIns="0" rIns="0" bIns="0" rtlCol="0" anchor="ctr"/>
          <a:lstStyle/>
          <a:p>
            <a:pPr indent="0" marL="0">
              <a:buNone/>
            </a:pPr>
            <a:r>
              <a:rPr lang="en-US" sz="1000" b="1" spc="120" kern="0" dirty="0">
                <a:solidFill>
                  <a:srgbClr val="39B7A4"/>
                </a:solidFill>
                <a:latin typeface="Calibri" pitchFamily="34" charset="0"/>
                <a:ea typeface="Calibri" pitchFamily="34" charset="-122"/>
                <a:cs typeface="Calibri" pitchFamily="34" charset="-120"/>
              </a:rPr>
              <a:t>COST-MINIMISING LEVEL</a:t>
            </a:r>
            <a:endParaRPr lang="en-US" sz="1000" dirty="0"/>
          </a:p>
        </p:txBody>
      </p:sp>
      <p:sp>
        <p:nvSpPr>
          <p:cNvPr id="8" name="Text 5"/>
          <p:cNvSpPr txBox="1"/>
          <p:nvPr/>
        </p:nvSpPr>
        <p:spPr>
          <a:xfrm>
            <a:off x="7900416" y="1847088"/>
            <a:ext cx="18288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98.7%</a:t>
            </a:r>
            <a:endParaRPr lang="en-US" sz="3200" dirty="0"/>
          </a:p>
        </p:txBody>
      </p:sp>
      <p:sp>
        <p:nvSpPr>
          <p:cNvPr id="9" name="Text 6"/>
          <p:cNvSpPr txBox="1"/>
          <p:nvPr/>
        </p:nvSpPr>
        <p:spPr>
          <a:xfrm>
            <a:off x="9601200" y="1883664"/>
            <a:ext cx="1783080" cy="566928"/>
          </a:xfrm>
          <a:prstGeom prst="rect">
            <a:avLst/>
          </a:prstGeom>
          <a:noFill/>
          <a:ln/>
        </p:spPr>
        <p:txBody>
          <a:bodyPr wrap="square" lIns="0" tIns="0" rIns="0" bIns="0" rtlCol="0" anchor="ctr"/>
          <a:lstStyle/>
          <a:p>
            <a:pPr indent="0" marL="0">
              <a:lnSpc>
                <a:spcPts val="1500"/>
              </a:lnSpc>
              <a:buNone/>
            </a:pPr>
            <a:r>
              <a:rPr lang="en-US" sz="1100" dirty="0">
                <a:solidFill>
                  <a:srgbClr val="A9BDC4"/>
                </a:solidFill>
                <a:latin typeface="Calibri" pitchFamily="34" charset="0"/>
                <a:ea typeface="Calibri" pitchFamily="34" charset="-122"/>
                <a:cs typeface="Calibri" pitchFamily="34" charset="-120"/>
              </a:rPr>
              <a:t>$206,179/yr</a:t>
            </a:r>
            <a:endParaRPr lang="en-US" sz="1100" dirty="0"/>
          </a:p>
          <a:p>
            <a:pPr indent="0" marL="0">
              <a:lnSpc>
                <a:spcPts val="1500"/>
              </a:lnSpc>
              <a:buNone/>
            </a:pPr>
            <a:r>
              <a:rPr lang="en-US" sz="1100" dirty="0">
                <a:solidFill>
                  <a:srgbClr val="A9BDC4"/>
                </a:solidFill>
                <a:latin typeface="Calibri" pitchFamily="34" charset="0"/>
                <a:ea typeface="Calibri" pitchFamily="34" charset="-122"/>
                <a:cs typeface="Calibri" pitchFamily="34" charset="-120"/>
              </a:rPr>
              <a:t>vs $513,898 at 50%</a:t>
            </a:r>
            <a:endParaRPr lang="en-US" sz="1100" dirty="0"/>
          </a:p>
        </p:txBody>
      </p:sp>
      <p:sp>
        <p:nvSpPr>
          <p:cNvPr id="10" name="Text 7"/>
          <p:cNvSpPr txBox="1"/>
          <p:nvPr/>
        </p:nvSpPr>
        <p:spPr>
          <a:xfrm>
            <a:off x="7644384" y="2816352"/>
            <a:ext cx="3950208" cy="256032"/>
          </a:xfrm>
          <a:prstGeom prst="rect">
            <a:avLst/>
          </a:prstGeom>
          <a:noFill/>
          <a:ln/>
        </p:spPr>
        <p:txBody>
          <a:bodyPr wrap="square" lIns="0" tIns="0" rIns="0" bIns="0" rtlCol="0" anchor="ctr"/>
          <a:lstStyle/>
          <a:p>
            <a:pPr indent="0" marL="0">
              <a:buNone/>
            </a:pPr>
            <a:r>
              <a:rPr lang="en-US" sz="1250" b="1" dirty="0">
                <a:solidFill>
                  <a:srgbClr val="0E2A33"/>
                </a:solidFill>
                <a:latin typeface="Calibri" pitchFamily="34" charset="0"/>
                <a:ea typeface="Calibri" pitchFamily="34" charset="-122"/>
                <a:cs typeface="Calibri" pitchFamily="34" charset="-120"/>
              </a:rPr>
              <a:t>It moves with the penalty assumed</a:t>
            </a:r>
            <a:endParaRPr lang="en-US" sz="1250" dirty="0"/>
          </a:p>
        </p:txBody>
      </p:sp>
      <p:sp>
        <p:nvSpPr>
          <p:cNvPr id="11" name="Text 8"/>
          <p:cNvSpPr txBox="1"/>
          <p:nvPr/>
        </p:nvSpPr>
        <p:spPr>
          <a:xfrm>
            <a:off x="7717536" y="3127248"/>
            <a:ext cx="2286000" cy="237744"/>
          </a:xfrm>
          <a:prstGeom prst="rect">
            <a:avLst/>
          </a:prstGeom>
          <a:noFill/>
          <a:ln/>
        </p:spPr>
        <p:txBody>
          <a:bodyPr wrap="square" lIns="0" tIns="0" rIns="0" bIns="0" rtlCol="0" anchor="ctr"/>
          <a:lstStyle/>
          <a:p>
            <a:pPr indent="0" marL="0">
              <a:buNone/>
            </a:pPr>
            <a:r>
              <a:rPr lang="en-US" sz="1150" dirty="0">
                <a:solidFill>
                  <a:srgbClr val="61737C"/>
                </a:solidFill>
                <a:latin typeface="Calibri" pitchFamily="34" charset="0"/>
                <a:ea typeface="Calibri" pitchFamily="34" charset="-122"/>
                <a:cs typeface="Calibri" pitchFamily="34" charset="-120"/>
              </a:rPr>
              <a:t>$2 per unit short</a:t>
            </a:r>
            <a:endParaRPr lang="en-US" sz="1150" dirty="0"/>
          </a:p>
        </p:txBody>
      </p:sp>
      <p:sp>
        <p:nvSpPr>
          <p:cNvPr id="12" name="Text 9"/>
          <p:cNvSpPr txBox="1"/>
          <p:nvPr/>
        </p:nvSpPr>
        <p:spPr>
          <a:xfrm>
            <a:off x="10058400" y="3127248"/>
            <a:ext cx="1371600" cy="237744"/>
          </a:xfrm>
          <a:prstGeom prst="rect">
            <a:avLst/>
          </a:prstGeom>
          <a:noFill/>
          <a:ln/>
        </p:spPr>
        <p:txBody>
          <a:bodyPr wrap="square" lIns="0" tIns="0" rIns="0" bIns="0" rtlCol="0" anchor="ctr"/>
          <a:lstStyle/>
          <a:p>
            <a:pPr algn="r" indent="0" marL="0">
              <a:buNone/>
            </a:pPr>
            <a:r>
              <a:rPr lang="en-US" sz="1150" b="1" dirty="0">
                <a:solidFill>
                  <a:srgbClr val="0F8A7E"/>
                </a:solidFill>
                <a:latin typeface="Calibri" pitchFamily="34" charset="0"/>
                <a:ea typeface="Calibri" pitchFamily="34" charset="-122"/>
                <a:cs typeface="Calibri" pitchFamily="34" charset="-120"/>
              </a:rPr>
              <a:t>95.4%</a:t>
            </a:r>
            <a:endParaRPr lang="en-US" sz="1150" dirty="0"/>
          </a:p>
        </p:txBody>
      </p:sp>
      <p:sp>
        <p:nvSpPr>
          <p:cNvPr id="13" name="Text 10"/>
          <p:cNvSpPr txBox="1"/>
          <p:nvPr/>
        </p:nvSpPr>
        <p:spPr>
          <a:xfrm>
            <a:off x="7717536" y="3392424"/>
            <a:ext cx="2286000" cy="237744"/>
          </a:xfrm>
          <a:prstGeom prst="rect">
            <a:avLst/>
          </a:prstGeom>
          <a:noFill/>
          <a:ln/>
        </p:spPr>
        <p:txBody>
          <a:bodyPr wrap="square" lIns="0" tIns="0" rIns="0" bIns="0" rtlCol="0" anchor="ctr"/>
          <a:lstStyle/>
          <a:p>
            <a:pPr indent="0" marL="0">
              <a:buNone/>
            </a:pPr>
            <a:r>
              <a:rPr lang="en-US" sz="1150" dirty="0">
                <a:solidFill>
                  <a:srgbClr val="61737C"/>
                </a:solidFill>
                <a:latin typeface="Calibri" pitchFamily="34" charset="0"/>
                <a:ea typeface="Calibri" pitchFamily="34" charset="-122"/>
                <a:cs typeface="Calibri" pitchFamily="34" charset="-120"/>
              </a:rPr>
              <a:t>$3 per unit short</a:t>
            </a:r>
            <a:endParaRPr lang="en-US" sz="1150" dirty="0"/>
          </a:p>
        </p:txBody>
      </p:sp>
      <p:sp>
        <p:nvSpPr>
          <p:cNvPr id="14" name="Text 11"/>
          <p:cNvSpPr txBox="1"/>
          <p:nvPr/>
        </p:nvSpPr>
        <p:spPr>
          <a:xfrm>
            <a:off x="10058400" y="3392424"/>
            <a:ext cx="1371600" cy="237744"/>
          </a:xfrm>
          <a:prstGeom prst="rect">
            <a:avLst/>
          </a:prstGeom>
          <a:noFill/>
          <a:ln/>
        </p:spPr>
        <p:txBody>
          <a:bodyPr wrap="square" lIns="0" tIns="0" rIns="0" bIns="0" rtlCol="0" anchor="ctr"/>
          <a:lstStyle/>
          <a:p>
            <a:pPr algn="r" indent="0" marL="0">
              <a:buNone/>
            </a:pPr>
            <a:r>
              <a:rPr lang="en-US" sz="1150" b="1" dirty="0">
                <a:solidFill>
                  <a:srgbClr val="0F8A7E"/>
                </a:solidFill>
                <a:latin typeface="Calibri" pitchFamily="34" charset="0"/>
                <a:ea typeface="Calibri" pitchFamily="34" charset="-122"/>
                <a:cs typeface="Calibri" pitchFamily="34" charset="-120"/>
              </a:rPr>
              <a:t>97.0%</a:t>
            </a:r>
            <a:endParaRPr lang="en-US" sz="1150" dirty="0"/>
          </a:p>
        </p:txBody>
      </p:sp>
      <p:sp>
        <p:nvSpPr>
          <p:cNvPr id="15" name="Text 12"/>
          <p:cNvSpPr txBox="1"/>
          <p:nvPr/>
        </p:nvSpPr>
        <p:spPr>
          <a:xfrm>
            <a:off x="7717536" y="3657600"/>
            <a:ext cx="2286000" cy="237744"/>
          </a:xfrm>
          <a:prstGeom prst="rect">
            <a:avLst/>
          </a:prstGeom>
          <a:noFill/>
          <a:ln/>
        </p:spPr>
        <p:txBody>
          <a:bodyPr wrap="square" lIns="0" tIns="0" rIns="0" bIns="0" rtlCol="0" anchor="ctr"/>
          <a:lstStyle/>
          <a:p>
            <a:pPr indent="0" marL="0">
              <a:buNone/>
            </a:pPr>
            <a:r>
              <a:rPr lang="en-US" sz="1150" dirty="0">
                <a:solidFill>
                  <a:srgbClr val="61737C"/>
                </a:solidFill>
                <a:latin typeface="Calibri" pitchFamily="34" charset="0"/>
                <a:ea typeface="Calibri" pitchFamily="34" charset="-122"/>
                <a:cs typeface="Calibri" pitchFamily="34" charset="-120"/>
              </a:rPr>
              <a:t>$5 per unit short</a:t>
            </a:r>
            <a:endParaRPr lang="en-US" sz="1150" dirty="0"/>
          </a:p>
        </p:txBody>
      </p:sp>
      <p:sp>
        <p:nvSpPr>
          <p:cNvPr id="16" name="Text 13"/>
          <p:cNvSpPr txBox="1"/>
          <p:nvPr/>
        </p:nvSpPr>
        <p:spPr>
          <a:xfrm>
            <a:off x="10058400" y="3657600"/>
            <a:ext cx="1371600" cy="237744"/>
          </a:xfrm>
          <a:prstGeom prst="rect">
            <a:avLst/>
          </a:prstGeom>
          <a:noFill/>
          <a:ln/>
        </p:spPr>
        <p:txBody>
          <a:bodyPr wrap="square" lIns="0" tIns="0" rIns="0" bIns="0" rtlCol="0" anchor="ctr"/>
          <a:lstStyle/>
          <a:p>
            <a:pPr algn="r" indent="0" marL="0">
              <a:buNone/>
            </a:pPr>
            <a:r>
              <a:rPr lang="en-US" sz="1150" b="1" dirty="0">
                <a:solidFill>
                  <a:srgbClr val="0F8A7E"/>
                </a:solidFill>
                <a:latin typeface="Calibri" pitchFamily="34" charset="0"/>
                <a:ea typeface="Calibri" pitchFamily="34" charset="-122"/>
                <a:cs typeface="Calibri" pitchFamily="34" charset="-120"/>
              </a:rPr>
              <a:t>98.7%</a:t>
            </a:r>
            <a:endParaRPr lang="en-US" sz="1150" dirty="0"/>
          </a:p>
        </p:txBody>
      </p:sp>
      <p:sp>
        <p:nvSpPr>
          <p:cNvPr id="17" name="Text 14"/>
          <p:cNvSpPr txBox="1"/>
          <p:nvPr/>
        </p:nvSpPr>
        <p:spPr>
          <a:xfrm>
            <a:off x="7717536" y="3922776"/>
            <a:ext cx="2286000" cy="237744"/>
          </a:xfrm>
          <a:prstGeom prst="rect">
            <a:avLst/>
          </a:prstGeom>
          <a:noFill/>
          <a:ln/>
        </p:spPr>
        <p:txBody>
          <a:bodyPr wrap="square" lIns="0" tIns="0" rIns="0" bIns="0" rtlCol="0" anchor="ctr"/>
          <a:lstStyle/>
          <a:p>
            <a:pPr indent="0" marL="0">
              <a:buNone/>
            </a:pPr>
            <a:r>
              <a:rPr lang="en-US" sz="1150" dirty="0">
                <a:solidFill>
                  <a:srgbClr val="61737C"/>
                </a:solidFill>
                <a:latin typeface="Calibri" pitchFamily="34" charset="0"/>
                <a:ea typeface="Calibri" pitchFamily="34" charset="-122"/>
                <a:cs typeface="Calibri" pitchFamily="34" charset="-120"/>
              </a:rPr>
              <a:t>$9 per unit short</a:t>
            </a:r>
            <a:endParaRPr lang="en-US" sz="1150" dirty="0"/>
          </a:p>
        </p:txBody>
      </p:sp>
      <p:sp>
        <p:nvSpPr>
          <p:cNvPr id="18" name="Text 15"/>
          <p:cNvSpPr txBox="1"/>
          <p:nvPr/>
        </p:nvSpPr>
        <p:spPr>
          <a:xfrm>
            <a:off x="10058400" y="3922776"/>
            <a:ext cx="1371600" cy="237744"/>
          </a:xfrm>
          <a:prstGeom prst="rect">
            <a:avLst/>
          </a:prstGeom>
          <a:noFill/>
          <a:ln/>
        </p:spPr>
        <p:txBody>
          <a:bodyPr wrap="square" lIns="0" tIns="0" rIns="0" bIns="0" rtlCol="0" anchor="ctr"/>
          <a:lstStyle/>
          <a:p>
            <a:pPr algn="r" indent="0" marL="0">
              <a:buNone/>
            </a:pPr>
            <a:r>
              <a:rPr lang="en-US" sz="1150" b="1" dirty="0">
                <a:solidFill>
                  <a:srgbClr val="0F8A7E"/>
                </a:solidFill>
                <a:latin typeface="Calibri" pitchFamily="34" charset="0"/>
                <a:ea typeface="Calibri" pitchFamily="34" charset="-122"/>
                <a:cs typeface="Calibri" pitchFamily="34" charset="-120"/>
              </a:rPr>
              <a:t>98.7%</a:t>
            </a:r>
            <a:endParaRPr lang="en-US" sz="1150" dirty="0"/>
          </a:p>
        </p:txBody>
      </p:sp>
      <p:sp>
        <p:nvSpPr>
          <p:cNvPr id="19" name="Text 16"/>
          <p:cNvSpPr txBox="1"/>
          <p:nvPr/>
        </p:nvSpPr>
        <p:spPr>
          <a:xfrm>
            <a:off x="7717536" y="4187952"/>
            <a:ext cx="2286000" cy="237744"/>
          </a:xfrm>
          <a:prstGeom prst="rect">
            <a:avLst/>
          </a:prstGeom>
          <a:noFill/>
          <a:ln/>
        </p:spPr>
        <p:txBody>
          <a:bodyPr wrap="square" lIns="0" tIns="0" rIns="0" bIns="0" rtlCol="0" anchor="ctr"/>
          <a:lstStyle/>
          <a:p>
            <a:pPr indent="0" marL="0">
              <a:buNone/>
            </a:pPr>
            <a:r>
              <a:rPr lang="en-US" sz="1150" dirty="0">
                <a:solidFill>
                  <a:srgbClr val="61737C"/>
                </a:solidFill>
                <a:latin typeface="Calibri" pitchFamily="34" charset="0"/>
                <a:ea typeface="Calibri" pitchFamily="34" charset="-122"/>
                <a:cs typeface="Calibri" pitchFamily="34" charset="-120"/>
              </a:rPr>
              <a:t>$15 per unit short</a:t>
            </a:r>
            <a:endParaRPr lang="en-US" sz="1150" dirty="0"/>
          </a:p>
        </p:txBody>
      </p:sp>
      <p:sp>
        <p:nvSpPr>
          <p:cNvPr id="20" name="Text 17"/>
          <p:cNvSpPr txBox="1"/>
          <p:nvPr/>
        </p:nvSpPr>
        <p:spPr>
          <a:xfrm>
            <a:off x="10058400" y="4187952"/>
            <a:ext cx="1371600" cy="237744"/>
          </a:xfrm>
          <a:prstGeom prst="rect">
            <a:avLst/>
          </a:prstGeom>
          <a:noFill/>
          <a:ln/>
        </p:spPr>
        <p:txBody>
          <a:bodyPr wrap="square" lIns="0" tIns="0" rIns="0" bIns="0" rtlCol="0" anchor="ctr"/>
          <a:lstStyle/>
          <a:p>
            <a:pPr algn="r" indent="0" marL="0">
              <a:buNone/>
            </a:pPr>
            <a:r>
              <a:rPr lang="en-US" sz="1150" b="1" dirty="0">
                <a:solidFill>
                  <a:srgbClr val="0F8A7E"/>
                </a:solidFill>
                <a:latin typeface="Calibri" pitchFamily="34" charset="0"/>
                <a:ea typeface="Calibri" pitchFamily="34" charset="-122"/>
                <a:cs typeface="Calibri" pitchFamily="34" charset="-120"/>
              </a:rPr>
              <a:t>99.5%</a:t>
            </a:r>
            <a:endParaRPr lang="en-US" sz="1150" dirty="0"/>
          </a:p>
        </p:txBody>
      </p:sp>
      <p:sp>
        <p:nvSpPr>
          <p:cNvPr id="21" name="Shape 18"/>
          <p:cNvSpPr/>
          <p:nvPr/>
        </p:nvSpPr>
        <p:spPr>
          <a:xfrm>
            <a:off x="566928" y="4553712"/>
            <a:ext cx="11027664" cy="1188720"/>
          </a:xfrm>
          <a:prstGeom prst="roundRect">
            <a:avLst>
              <a:gd name="adj" fmla="val 4615"/>
            </a:avLst>
          </a:prstGeom>
          <a:solidFill>
            <a:srgbClr val="EAF3F2"/>
          </a:solidFill>
          <a:ln w="9525">
            <a:solidFill>
              <a:srgbClr val="D3E4E1"/>
            </a:solidFill>
            <a:prstDash val="solid"/>
          </a:ln>
          <a:effectLst>
            <a:outerShdw sx="100000" sy="100000" kx="0" ky="0" algn="bl" rotWithShape="0" blurRad="127000" dist="25400" dir="5400000">
              <a:srgbClr val="A3B3BA">
                <a:alpha val="30000"/>
              </a:srgbClr>
            </a:outerShdw>
          </a:effectLst>
        </p:spPr>
      </p:sp>
      <p:sp>
        <p:nvSpPr>
          <p:cNvPr id="22" name="Text 19"/>
          <p:cNvSpPr txBox="1"/>
          <p:nvPr/>
        </p:nvSpPr>
        <p:spPr>
          <a:xfrm>
            <a:off x="822960" y="4718304"/>
            <a:ext cx="10515600"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READING THE TRADE-OFF</a:t>
            </a:r>
            <a:endParaRPr lang="en-US" sz="1050" dirty="0"/>
          </a:p>
        </p:txBody>
      </p:sp>
      <p:sp>
        <p:nvSpPr>
          <p:cNvPr id="23" name="Text 20"/>
          <p:cNvSpPr txBox="1"/>
          <p:nvPr/>
        </p:nvSpPr>
        <p:spPr>
          <a:xfrm>
            <a:off x="822960" y="4956048"/>
            <a:ext cx="10515600" cy="621792"/>
          </a:xfrm>
          <a:prstGeom prst="rect">
            <a:avLst/>
          </a:prstGeom>
          <a:noFill/>
          <a:ln/>
        </p:spPr>
        <p:txBody>
          <a:bodyPr wrap="square" lIns="0" tIns="0" rIns="0" bIns="0" rtlCol="0" anchor="ctr"/>
          <a:lstStyle/>
          <a:p>
            <a:pPr indent="0" marL="0">
              <a:lnSpc>
                <a:spcPts val="1700"/>
              </a:lnSpc>
              <a:buNone/>
            </a:pPr>
            <a:r>
              <a:rPr lang="en-US" sz="1200" dirty="0">
                <a:solidFill>
                  <a:srgbClr val="3C5259"/>
                </a:solidFill>
                <a:latin typeface="Calibri" pitchFamily="34" charset="0"/>
                <a:ea typeface="Calibri" pitchFamily="34" charset="-122"/>
                <a:cs typeface="Calibri" pitchFamily="34" charset="-120"/>
              </a:rPr>
              <a:t>Raising the service level buys down the red curve (expected shortage cost) by paying for the purple one (safety-stock holding). The black curve is their sum, and its lowest point is the economically correct target. Where that point sits depends entirely on what a stockout is assumed to cost — which is why the dashboard makes that assumption a slider rather than burying it in a constant.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RESULTS · ABC ANALYSIS</a:t>
            </a:r>
            <a:endParaRPr lang="en-US" sz="1150" dirty="0"/>
          </a:p>
        </p:txBody>
      </p:sp>
      <p:sp>
        <p:nvSpPr>
          <p:cNvPr id="3" name="Text 1"/>
          <p:cNvSpPr txBox="1"/>
          <p:nvPr/>
        </p:nvSpPr>
        <p:spPr>
          <a:xfrm>
            <a:off x="566928" y="603504"/>
            <a:ext cx="10332720" cy="548640"/>
          </a:xfrm>
          <a:prstGeom prst="rect">
            <a:avLst/>
          </a:prstGeom>
          <a:noFill/>
          <a:ln/>
        </p:spPr>
        <p:txBody>
          <a:bodyPr wrap="square" lIns="0" tIns="0" rIns="0" bIns="0" rtlCol="0" anchor="ctr"/>
          <a:lstStyle/>
          <a:p>
            <a:pPr indent="0" marL="0">
              <a:buNone/>
            </a:pPr>
            <a:r>
              <a:rPr lang="en-US" sz="3100" b="1" dirty="0">
                <a:solidFill>
                  <a:srgbClr val="0E2A33"/>
                </a:solidFill>
                <a:latin typeface="Cambria" pitchFamily="34" charset="0"/>
                <a:ea typeface="Cambria" pitchFamily="34" charset="-122"/>
                <a:cs typeface="Cambria" pitchFamily="34" charset="-120"/>
              </a:rPr>
              <a:t>Five SKUs carry roughly three quarters of revenue</a:t>
            </a:r>
            <a:endParaRPr lang="en-US" sz="3100" dirty="0"/>
          </a:p>
        </p:txBody>
      </p:sp>
      <p:sp>
        <p:nvSpPr>
          <p:cNvPr id="4" name="Text 2"/>
          <p:cNvSpPr txBox="1"/>
          <p:nvPr/>
        </p:nvSpPr>
        <p:spPr>
          <a:xfrm>
            <a:off x="10972800" y="384048"/>
            <a:ext cx="640080" cy="457200"/>
          </a:xfrm>
          <a:prstGeom prst="rect">
            <a:avLst/>
          </a:prstGeom>
          <a:noFill/>
          <a:ln/>
        </p:spPr>
        <p:txBody>
          <a:bodyPr wrap="square" lIns="0" tIns="0" rIns="0" bIns="0" rtlCol="0" anchor="ctr"/>
          <a:lstStyle/>
          <a:p>
            <a:pPr algn="r" indent="0" marL="0">
              <a:buNone/>
            </a:pPr>
            <a:r>
              <a:rPr lang="en-US" sz="2400" b="1" dirty="0">
                <a:solidFill>
                  <a:srgbClr val="D6E1E3"/>
                </a:solidFill>
                <a:latin typeface="Cambria" pitchFamily="34" charset="0"/>
                <a:ea typeface="Cambria" pitchFamily="34" charset="-122"/>
                <a:cs typeface="Cambria" pitchFamily="34" charset="-120"/>
              </a:rPr>
              <a:t>11</a:t>
            </a:r>
            <a:endParaRPr lang="en-US" sz="2400" dirty="0"/>
          </a:p>
        </p:txBody>
      </p:sp>
      <p:graphicFrame>
        <p:nvGraphicFramePr>
          <p:cNvPr id="5" name="Chart 0" descr=""/>
          <p:cNvGraphicFramePr/>
          <p:nvPr/>
        </p:nvGraphicFramePr>
        <p:xfrm>
          <a:off x="566928" y="1463040"/>
          <a:ext cx="6858000" cy="29260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644384" y="1463040"/>
            <a:ext cx="3950208" cy="877824"/>
          </a:xfrm>
          <a:prstGeom prst="roundRect">
            <a:avLst>
              <a:gd name="adj" fmla="val 6250"/>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7" name="Shape 4"/>
          <p:cNvSpPr/>
          <p:nvPr/>
        </p:nvSpPr>
        <p:spPr>
          <a:xfrm>
            <a:off x="7863840" y="1682496"/>
            <a:ext cx="420624" cy="420624"/>
          </a:xfrm>
          <a:prstGeom prst="ellipse">
            <a:avLst/>
          </a:prstGeom>
          <a:solidFill>
            <a:srgbClr val="0F8A7E"/>
          </a:solidFill>
          <a:ln/>
        </p:spPr>
      </p:sp>
      <p:sp>
        <p:nvSpPr>
          <p:cNvPr id="8" name="Text 5"/>
          <p:cNvSpPr txBox="1"/>
          <p:nvPr/>
        </p:nvSpPr>
        <p:spPr>
          <a:xfrm>
            <a:off x="7863840" y="168249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8412480" y="1645920"/>
            <a:ext cx="3017520" cy="256032"/>
          </a:xfrm>
          <a:prstGeom prst="rect">
            <a:avLst/>
          </a:prstGeom>
          <a:noFill/>
          <a:ln/>
        </p:spPr>
        <p:txBody>
          <a:bodyPr wrap="square" lIns="0" tIns="0" rIns="0" bIns="0" rtlCol="0" anchor="ctr"/>
          <a:lstStyle/>
          <a:p>
            <a:pPr indent="0" marL="0">
              <a:buNone/>
            </a:pPr>
            <a:r>
              <a:rPr lang="en-US" sz="1250" b="1" dirty="0">
                <a:solidFill>
                  <a:srgbClr val="0E2A33"/>
                </a:solidFill>
                <a:latin typeface="Calibri" pitchFamily="34" charset="0"/>
                <a:ea typeface="Calibri" pitchFamily="34" charset="-122"/>
                <a:cs typeface="Calibri" pitchFamily="34" charset="-120"/>
              </a:rPr>
              <a:t>5 SKUs · 73% of revenue</a:t>
            </a:r>
            <a:endParaRPr lang="en-US" sz="1250" dirty="0"/>
          </a:p>
        </p:txBody>
      </p:sp>
      <p:sp>
        <p:nvSpPr>
          <p:cNvPr id="10" name="Text 7"/>
          <p:cNvSpPr txBox="1"/>
          <p:nvPr/>
        </p:nvSpPr>
        <p:spPr>
          <a:xfrm>
            <a:off x="8412480" y="1901952"/>
            <a:ext cx="3017520" cy="329184"/>
          </a:xfrm>
          <a:prstGeom prst="rect">
            <a:avLst/>
          </a:prstGeom>
          <a:noFill/>
          <a:ln/>
        </p:spPr>
        <p:txBody>
          <a:bodyPr wrap="square" lIns="0" tIns="0" rIns="0" bIns="0" rtlCol="0" anchor="ctr"/>
          <a:lstStyle/>
          <a:p>
            <a:pPr indent="0" marL="0">
              <a:buNone/>
            </a:pPr>
            <a:r>
              <a:rPr lang="en-US" sz="1100" dirty="0">
                <a:solidFill>
                  <a:srgbClr val="61737C"/>
                </a:solidFill>
                <a:latin typeface="Calibri" pitchFamily="34" charset="0"/>
                <a:ea typeface="Calibri" pitchFamily="34" charset="-122"/>
                <a:cs typeface="Calibri" pitchFamily="34" charset="-120"/>
              </a:rPr>
              <a:t>Tight forecasts, frequent review, thin buffers.</a:t>
            </a:r>
            <a:endParaRPr lang="en-US" sz="1100" dirty="0"/>
          </a:p>
        </p:txBody>
      </p:sp>
      <p:sp>
        <p:nvSpPr>
          <p:cNvPr id="11" name="Shape 8"/>
          <p:cNvSpPr/>
          <p:nvPr/>
        </p:nvSpPr>
        <p:spPr>
          <a:xfrm>
            <a:off x="7644384" y="2468880"/>
            <a:ext cx="3950208" cy="877824"/>
          </a:xfrm>
          <a:prstGeom prst="roundRect">
            <a:avLst>
              <a:gd name="adj" fmla="val 6250"/>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12" name="Shape 9"/>
          <p:cNvSpPr/>
          <p:nvPr/>
        </p:nvSpPr>
        <p:spPr>
          <a:xfrm>
            <a:off x="7863840" y="2688336"/>
            <a:ext cx="420624" cy="420624"/>
          </a:xfrm>
          <a:prstGeom prst="ellipse">
            <a:avLst/>
          </a:prstGeom>
          <a:solidFill>
            <a:srgbClr val="39B7A4"/>
          </a:solidFill>
          <a:ln/>
        </p:spPr>
      </p:sp>
      <p:sp>
        <p:nvSpPr>
          <p:cNvPr id="13" name="Text 10"/>
          <p:cNvSpPr txBox="1"/>
          <p:nvPr/>
        </p:nvSpPr>
        <p:spPr>
          <a:xfrm>
            <a:off x="7863840" y="2688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4" name="Text 11"/>
          <p:cNvSpPr txBox="1"/>
          <p:nvPr/>
        </p:nvSpPr>
        <p:spPr>
          <a:xfrm>
            <a:off x="8412480" y="2651760"/>
            <a:ext cx="3017520" cy="256032"/>
          </a:xfrm>
          <a:prstGeom prst="rect">
            <a:avLst/>
          </a:prstGeom>
          <a:noFill/>
          <a:ln/>
        </p:spPr>
        <p:txBody>
          <a:bodyPr wrap="square" lIns="0" tIns="0" rIns="0" bIns="0" rtlCol="0" anchor="ctr"/>
          <a:lstStyle/>
          <a:p>
            <a:pPr indent="0" marL="0">
              <a:buNone/>
            </a:pPr>
            <a:r>
              <a:rPr lang="en-US" sz="1250" b="1" dirty="0">
                <a:solidFill>
                  <a:srgbClr val="0E2A33"/>
                </a:solidFill>
                <a:latin typeface="Calibri" pitchFamily="34" charset="0"/>
                <a:ea typeface="Calibri" pitchFamily="34" charset="-122"/>
                <a:cs typeface="Calibri" pitchFamily="34" charset="-120"/>
              </a:rPr>
              <a:t>4 SKUs · 22% of revenue</a:t>
            </a:r>
            <a:endParaRPr lang="en-US" sz="1250" dirty="0"/>
          </a:p>
        </p:txBody>
      </p:sp>
      <p:sp>
        <p:nvSpPr>
          <p:cNvPr id="15" name="Text 12"/>
          <p:cNvSpPr txBox="1"/>
          <p:nvPr/>
        </p:nvSpPr>
        <p:spPr>
          <a:xfrm>
            <a:off x="8412480" y="2907792"/>
            <a:ext cx="3017520" cy="329184"/>
          </a:xfrm>
          <a:prstGeom prst="rect">
            <a:avLst/>
          </a:prstGeom>
          <a:noFill/>
          <a:ln/>
        </p:spPr>
        <p:txBody>
          <a:bodyPr wrap="square" lIns="0" tIns="0" rIns="0" bIns="0" rtlCol="0" anchor="ctr"/>
          <a:lstStyle/>
          <a:p>
            <a:pPr indent="0" marL="0">
              <a:buNone/>
            </a:pPr>
            <a:r>
              <a:rPr lang="en-US" sz="1100" dirty="0">
                <a:solidFill>
                  <a:srgbClr val="61737C"/>
                </a:solidFill>
                <a:latin typeface="Calibri" pitchFamily="34" charset="0"/>
                <a:ea typeface="Calibri" pitchFamily="34" charset="-122"/>
                <a:cs typeface="Calibri" pitchFamily="34" charset="-120"/>
              </a:rPr>
              <a:t>Standard policy on the normal cycle.</a:t>
            </a:r>
            <a:endParaRPr lang="en-US" sz="1100" dirty="0"/>
          </a:p>
        </p:txBody>
      </p:sp>
      <p:sp>
        <p:nvSpPr>
          <p:cNvPr id="16" name="Shape 13"/>
          <p:cNvSpPr/>
          <p:nvPr/>
        </p:nvSpPr>
        <p:spPr>
          <a:xfrm>
            <a:off x="7644384" y="3474720"/>
            <a:ext cx="3950208" cy="877824"/>
          </a:xfrm>
          <a:prstGeom prst="roundRect">
            <a:avLst>
              <a:gd name="adj" fmla="val 6250"/>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17" name="Shape 14"/>
          <p:cNvSpPr/>
          <p:nvPr/>
        </p:nvSpPr>
        <p:spPr>
          <a:xfrm>
            <a:off x="7863840" y="3694176"/>
            <a:ext cx="420624" cy="420624"/>
          </a:xfrm>
          <a:prstGeom prst="ellipse">
            <a:avLst/>
          </a:prstGeom>
          <a:solidFill>
            <a:srgbClr val="AFC0C6"/>
          </a:solidFill>
          <a:ln/>
        </p:spPr>
      </p:sp>
      <p:sp>
        <p:nvSpPr>
          <p:cNvPr id="18" name="Text 15"/>
          <p:cNvSpPr txBox="1"/>
          <p:nvPr/>
        </p:nvSpPr>
        <p:spPr>
          <a:xfrm>
            <a:off x="7863840" y="36941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9" name="Text 16"/>
          <p:cNvSpPr txBox="1"/>
          <p:nvPr/>
        </p:nvSpPr>
        <p:spPr>
          <a:xfrm>
            <a:off x="8412480" y="3657600"/>
            <a:ext cx="3017520" cy="256032"/>
          </a:xfrm>
          <a:prstGeom prst="rect">
            <a:avLst/>
          </a:prstGeom>
          <a:noFill/>
          <a:ln/>
        </p:spPr>
        <p:txBody>
          <a:bodyPr wrap="square" lIns="0" tIns="0" rIns="0" bIns="0" rtlCol="0" anchor="ctr"/>
          <a:lstStyle/>
          <a:p>
            <a:pPr indent="0" marL="0">
              <a:buNone/>
            </a:pPr>
            <a:r>
              <a:rPr lang="en-US" sz="1250" b="1" dirty="0">
                <a:solidFill>
                  <a:srgbClr val="0E2A33"/>
                </a:solidFill>
                <a:latin typeface="Calibri" pitchFamily="34" charset="0"/>
                <a:ea typeface="Calibri" pitchFamily="34" charset="-122"/>
                <a:cs typeface="Calibri" pitchFamily="34" charset="-120"/>
              </a:rPr>
              <a:t>6 SKUs · 5% of revenue</a:t>
            </a:r>
            <a:endParaRPr lang="en-US" sz="1250" dirty="0"/>
          </a:p>
        </p:txBody>
      </p:sp>
      <p:sp>
        <p:nvSpPr>
          <p:cNvPr id="20" name="Text 17"/>
          <p:cNvSpPr txBox="1"/>
          <p:nvPr/>
        </p:nvSpPr>
        <p:spPr>
          <a:xfrm>
            <a:off x="8412480" y="3913632"/>
            <a:ext cx="3017520" cy="329184"/>
          </a:xfrm>
          <a:prstGeom prst="rect">
            <a:avLst/>
          </a:prstGeom>
          <a:noFill/>
          <a:ln/>
        </p:spPr>
        <p:txBody>
          <a:bodyPr wrap="square" lIns="0" tIns="0" rIns="0" bIns="0" rtlCol="0" anchor="ctr"/>
          <a:lstStyle/>
          <a:p>
            <a:pPr indent="0" marL="0">
              <a:buNone/>
            </a:pPr>
            <a:r>
              <a:rPr lang="en-US" sz="1100" dirty="0">
                <a:solidFill>
                  <a:srgbClr val="61737C"/>
                </a:solidFill>
                <a:latin typeface="Calibri" pitchFamily="34" charset="0"/>
                <a:ea typeface="Calibri" pitchFamily="34" charset="-122"/>
                <a:cs typeface="Calibri" pitchFamily="34" charset="-120"/>
              </a:rPr>
              <a:t>Bigger buffer, less attention.</a:t>
            </a:r>
            <a:endParaRPr lang="en-US" sz="1100" dirty="0"/>
          </a:p>
        </p:txBody>
      </p:sp>
      <p:sp>
        <p:nvSpPr>
          <p:cNvPr id="21" name="Shape 18"/>
          <p:cNvSpPr/>
          <p:nvPr/>
        </p:nvSpPr>
        <p:spPr>
          <a:xfrm>
            <a:off x="566928" y="4553712"/>
            <a:ext cx="11027664" cy="1188720"/>
          </a:xfrm>
          <a:prstGeom prst="roundRect">
            <a:avLst>
              <a:gd name="adj" fmla="val 4615"/>
            </a:avLst>
          </a:prstGeom>
          <a:solidFill>
            <a:srgbClr val="EAF3F2"/>
          </a:solidFill>
          <a:ln w="9525">
            <a:solidFill>
              <a:srgbClr val="D3E4E1"/>
            </a:solidFill>
            <a:prstDash val="solid"/>
          </a:ln>
          <a:effectLst>
            <a:outerShdw sx="100000" sy="100000" kx="0" ky="0" algn="bl" rotWithShape="0" blurRad="127000" dist="25400" dir="5400000">
              <a:srgbClr val="A3B3BA">
                <a:alpha val="30000"/>
              </a:srgbClr>
            </a:outerShdw>
          </a:effectLst>
        </p:spPr>
      </p:sp>
      <p:sp>
        <p:nvSpPr>
          <p:cNvPr id="22" name="Text 19"/>
          <p:cNvSpPr txBox="1"/>
          <p:nvPr/>
        </p:nvSpPr>
        <p:spPr>
          <a:xfrm>
            <a:off x="822960" y="4718304"/>
            <a:ext cx="10515600"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WHY CLASSIFY AT ALL</a:t>
            </a:r>
            <a:endParaRPr lang="en-US" sz="1050" dirty="0"/>
          </a:p>
        </p:txBody>
      </p:sp>
      <p:sp>
        <p:nvSpPr>
          <p:cNvPr id="23" name="Text 20"/>
          <p:cNvSpPr txBox="1"/>
          <p:nvPr/>
        </p:nvSpPr>
        <p:spPr>
          <a:xfrm>
            <a:off x="822960" y="4956048"/>
            <a:ext cx="10515600" cy="621792"/>
          </a:xfrm>
          <a:prstGeom prst="rect">
            <a:avLst/>
          </a:prstGeom>
          <a:noFill/>
          <a:ln/>
        </p:spPr>
        <p:txBody>
          <a:bodyPr wrap="square" lIns="0" tIns="0" rIns="0" bIns="0" rtlCol="0" anchor="ctr"/>
          <a:lstStyle/>
          <a:p>
            <a:pPr indent="0" marL="0">
              <a:lnSpc>
                <a:spcPts val="1700"/>
              </a:lnSpc>
              <a:buNone/>
            </a:pPr>
            <a:r>
              <a:rPr lang="en-US" sz="1200" dirty="0">
                <a:solidFill>
                  <a:srgbClr val="3C5259"/>
                </a:solidFill>
                <a:latin typeface="Calibri" pitchFamily="34" charset="0"/>
                <a:ea typeface="Calibri" pitchFamily="34" charset="-122"/>
                <a:cs typeface="Calibri" pitchFamily="34" charset="-120"/>
              </a:rPr>
              <a:t>Planner attention is the scarce resource, not storage. Class A lines repay careful forecasting because a small percentage saved is a large amount of money; class C lines do not, so the cheaper answer there is to hold a slightly bigger buffer and stop thinking about them. The classification is recomputed from revenue, so it follows the assortment rather than being maintained by hand.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LIVE SIMULATION MODULE</a:t>
            </a:r>
            <a:endParaRPr lang="en-US" sz="1150" dirty="0"/>
          </a:p>
        </p:txBody>
      </p:sp>
      <p:sp>
        <p:nvSpPr>
          <p:cNvPr id="3" name="Text 1"/>
          <p:cNvSpPr txBox="1"/>
          <p:nvPr/>
        </p:nvSpPr>
        <p:spPr>
          <a:xfrm>
            <a:off x="566928" y="603504"/>
            <a:ext cx="10332720" cy="548640"/>
          </a:xfrm>
          <a:prstGeom prst="rect">
            <a:avLst/>
          </a:prstGeom>
          <a:noFill/>
          <a:ln/>
        </p:spPr>
        <p:txBody>
          <a:bodyPr wrap="square" lIns="0" tIns="0" rIns="0" bIns="0" rtlCol="0" anchor="ctr"/>
          <a:lstStyle/>
          <a:p>
            <a:pPr indent="0" marL="0">
              <a:buNone/>
            </a:pPr>
            <a:r>
              <a:rPr lang="en-US" sz="3100" b="1" dirty="0">
                <a:solidFill>
                  <a:srgbClr val="0E2A33"/>
                </a:solidFill>
                <a:latin typeface="Cambria" pitchFamily="34" charset="0"/>
                <a:ea typeface="Cambria" pitchFamily="34" charset="-122"/>
                <a:cs typeface="Cambria" pitchFamily="34" charset="-120"/>
              </a:rPr>
              <a:t>Watching a trading day against the plan</a:t>
            </a:r>
            <a:endParaRPr lang="en-US" sz="3100" dirty="0"/>
          </a:p>
        </p:txBody>
      </p:sp>
      <p:sp>
        <p:nvSpPr>
          <p:cNvPr id="4" name="Text 2"/>
          <p:cNvSpPr txBox="1"/>
          <p:nvPr/>
        </p:nvSpPr>
        <p:spPr>
          <a:xfrm>
            <a:off x="10972800" y="384048"/>
            <a:ext cx="640080" cy="457200"/>
          </a:xfrm>
          <a:prstGeom prst="rect">
            <a:avLst/>
          </a:prstGeom>
          <a:noFill/>
          <a:ln/>
        </p:spPr>
        <p:txBody>
          <a:bodyPr wrap="square" lIns="0" tIns="0" rIns="0" bIns="0" rtlCol="0" anchor="ctr"/>
          <a:lstStyle/>
          <a:p>
            <a:pPr algn="r" indent="0" marL="0">
              <a:buNone/>
            </a:pPr>
            <a:r>
              <a:rPr lang="en-US" sz="2400" b="1" dirty="0">
                <a:solidFill>
                  <a:srgbClr val="D6E1E3"/>
                </a:solidFill>
                <a:latin typeface="Cambria" pitchFamily="34" charset="0"/>
                <a:ea typeface="Cambria" pitchFamily="34" charset="-122"/>
                <a:cs typeface="Cambria" pitchFamily="34" charset="-120"/>
              </a:rPr>
              <a:t>12</a:t>
            </a:r>
            <a:endParaRPr lang="en-US" sz="2400" dirty="0"/>
          </a:p>
        </p:txBody>
      </p:sp>
      <p:sp>
        <p:nvSpPr>
          <p:cNvPr id="5" name="Shape 3"/>
          <p:cNvSpPr/>
          <p:nvPr/>
        </p:nvSpPr>
        <p:spPr>
          <a:xfrm>
            <a:off x="566928" y="1463040"/>
            <a:ext cx="384048" cy="384048"/>
          </a:xfrm>
          <a:prstGeom prst="ellipse">
            <a:avLst/>
          </a:prstGeom>
          <a:solidFill>
            <a:srgbClr val="0F8A7E"/>
          </a:solidFill>
          <a:ln/>
        </p:spPr>
      </p:sp>
      <p:sp>
        <p:nvSpPr>
          <p:cNvPr id="6" name="Text 4"/>
          <p:cNvSpPr txBox="1"/>
          <p:nvPr/>
        </p:nvSpPr>
        <p:spPr>
          <a:xfrm>
            <a:off x="566928" y="1463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33856" y="1435608"/>
            <a:ext cx="4828032"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Arrivals are generated from the forecast</a:t>
            </a:r>
            <a:endParaRPr lang="en-US" sz="1500" dirty="0"/>
          </a:p>
        </p:txBody>
      </p:sp>
      <p:sp>
        <p:nvSpPr>
          <p:cNvPr id="8" name="Text 6"/>
          <p:cNvSpPr txBox="1"/>
          <p:nvPr/>
        </p:nvSpPr>
        <p:spPr>
          <a:xfrm>
            <a:off x="1133856" y="1728216"/>
            <a:ext cx="4828032" cy="731520"/>
          </a:xfrm>
          <a:prstGeom prst="rect">
            <a:avLst/>
          </a:prstGeom>
          <a:noFill/>
          <a:ln/>
        </p:spPr>
        <p:txBody>
          <a:bodyPr wrap="square" lIns="0" tIns="0" rIns="0" bIns="0" rtlCol="0" anchor="ctr"/>
          <a:lstStyle/>
          <a:p>
            <a:pPr indent="0" marL="0">
              <a:lnSpc>
                <a:spcPts val="1600"/>
              </a:lnSpc>
              <a:buNone/>
            </a:pPr>
            <a:r>
              <a:rPr lang="en-US" sz="1250" dirty="0">
                <a:solidFill>
                  <a:srgbClr val="61737C"/>
                </a:solidFill>
                <a:latin typeface="Calibri" pitchFamily="34" charset="0"/>
                <a:ea typeface="Calibri" pitchFamily="34" charset="-122"/>
                <a:cs typeface="Calibri" pitchFamily="34" charset="-120"/>
              </a:rPr>
              <a:t>Each line takes its arrival rate from day 1 of its own forecast — an inhomogeneous Poisson process, spread across trading hours by a shared intraday curve.</a:t>
            </a:r>
            <a:endParaRPr lang="en-US" sz="1250" dirty="0"/>
          </a:p>
        </p:txBody>
      </p:sp>
      <p:sp>
        <p:nvSpPr>
          <p:cNvPr id="9" name="Shape 7"/>
          <p:cNvSpPr/>
          <p:nvPr/>
        </p:nvSpPr>
        <p:spPr>
          <a:xfrm>
            <a:off x="566928" y="2688336"/>
            <a:ext cx="384048" cy="384048"/>
          </a:xfrm>
          <a:prstGeom prst="ellipse">
            <a:avLst/>
          </a:prstGeom>
          <a:solidFill>
            <a:srgbClr val="0F8A7E"/>
          </a:solidFill>
          <a:ln/>
        </p:spPr>
      </p:sp>
      <p:sp>
        <p:nvSpPr>
          <p:cNvPr id="10" name="Text 8"/>
          <p:cNvSpPr txBox="1"/>
          <p:nvPr/>
        </p:nvSpPr>
        <p:spPr>
          <a:xfrm>
            <a:off x="566928" y="26883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33856" y="2660904"/>
            <a:ext cx="4828032"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The stream and the plan are one model</a:t>
            </a:r>
            <a:endParaRPr lang="en-US" sz="1500" dirty="0"/>
          </a:p>
        </p:txBody>
      </p:sp>
      <p:sp>
        <p:nvSpPr>
          <p:cNvPr id="12" name="Text 10"/>
          <p:cNvSpPr txBox="1"/>
          <p:nvPr/>
        </p:nvSpPr>
        <p:spPr>
          <a:xfrm>
            <a:off x="1133856" y="2953512"/>
            <a:ext cx="4828032" cy="731520"/>
          </a:xfrm>
          <a:prstGeom prst="rect">
            <a:avLst/>
          </a:prstGeom>
          <a:noFill/>
          <a:ln/>
        </p:spPr>
        <p:txBody>
          <a:bodyPr wrap="square" lIns="0" tIns="0" rIns="0" bIns="0" rtlCol="0" anchor="ctr"/>
          <a:lstStyle/>
          <a:p>
            <a:pPr indent="0" marL="0">
              <a:lnSpc>
                <a:spcPts val="1600"/>
              </a:lnSpc>
              <a:buNone/>
            </a:pPr>
            <a:r>
              <a:rPr lang="en-US" sz="1250" dirty="0">
                <a:solidFill>
                  <a:srgbClr val="61737C"/>
                </a:solidFill>
                <a:latin typeface="Calibri" pitchFamily="34" charset="0"/>
                <a:ea typeface="Calibri" pitchFamily="34" charset="-122"/>
                <a:cs typeface="Calibri" pitchFamily="34" charset="-120"/>
              </a:rPr>
              <a:t>Aggregated over a full day, the simulated transactions reproduce the daily forecast in expectation. It is not an unrelated animation placed next to a static chart.</a:t>
            </a:r>
            <a:endParaRPr lang="en-US" sz="1250" dirty="0"/>
          </a:p>
        </p:txBody>
      </p:sp>
      <p:sp>
        <p:nvSpPr>
          <p:cNvPr id="13" name="Shape 11"/>
          <p:cNvSpPr/>
          <p:nvPr/>
        </p:nvSpPr>
        <p:spPr>
          <a:xfrm>
            <a:off x="566928" y="3913632"/>
            <a:ext cx="384048" cy="384048"/>
          </a:xfrm>
          <a:prstGeom prst="ellipse">
            <a:avLst/>
          </a:prstGeom>
          <a:solidFill>
            <a:srgbClr val="0F8A7E"/>
          </a:solidFill>
          <a:ln/>
        </p:spPr>
      </p:sp>
      <p:sp>
        <p:nvSpPr>
          <p:cNvPr id="14" name="Text 12"/>
          <p:cNvSpPr txBox="1"/>
          <p:nvPr/>
        </p:nvSpPr>
        <p:spPr>
          <a:xfrm>
            <a:off x="566928" y="3913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133856" y="3886200"/>
            <a:ext cx="4828032" cy="274320"/>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Every sale moves the board</a:t>
            </a:r>
            <a:endParaRPr lang="en-US" sz="1500" dirty="0"/>
          </a:p>
        </p:txBody>
      </p:sp>
      <p:sp>
        <p:nvSpPr>
          <p:cNvPr id="16" name="Text 14"/>
          <p:cNvSpPr txBox="1"/>
          <p:nvPr/>
        </p:nvSpPr>
        <p:spPr>
          <a:xfrm>
            <a:off x="1133856" y="4178808"/>
            <a:ext cx="4828032" cy="731520"/>
          </a:xfrm>
          <a:prstGeom prst="rect">
            <a:avLst/>
          </a:prstGeom>
          <a:noFill/>
          <a:ln/>
        </p:spPr>
        <p:txBody>
          <a:bodyPr wrap="square" lIns="0" tIns="0" rIns="0" bIns="0" rtlCol="0" anchor="ctr"/>
          <a:lstStyle/>
          <a:p>
            <a:pPr indent="0" marL="0">
              <a:lnSpc>
                <a:spcPts val="1600"/>
              </a:lnSpc>
              <a:buNone/>
            </a:pPr>
            <a:r>
              <a:rPr lang="en-US" sz="1250" dirty="0">
                <a:solidFill>
                  <a:srgbClr val="61737C"/>
                </a:solidFill>
                <a:latin typeface="Calibri" pitchFamily="34" charset="0"/>
                <a:ea typeface="Calibri" pitchFamily="34" charset="-122"/>
                <a:cs typeface="Calibri" pitchFamily="34" charset="-120"/>
              </a:rPr>
              <a:t>Sales decrement on-hand, so pace against plan, reorder-point crossings and the exception queue all update while the day runs. Fourteen trading hours take about ninety seconds.</a:t>
            </a:r>
            <a:endParaRPr lang="en-US" sz="1250" dirty="0"/>
          </a:p>
        </p:txBody>
      </p:sp>
      <p:sp>
        <p:nvSpPr>
          <p:cNvPr id="17" name="Shape 15"/>
          <p:cNvSpPr/>
          <p:nvPr/>
        </p:nvSpPr>
        <p:spPr>
          <a:xfrm>
            <a:off x="6446520" y="1463040"/>
            <a:ext cx="5148072" cy="2743200"/>
          </a:xfrm>
          <a:prstGeom prst="roundRect">
            <a:avLst>
              <a:gd name="adj" fmla="val 2000"/>
            </a:avLst>
          </a:prstGeom>
          <a:solidFill>
            <a:srgbClr val="0E2A33"/>
          </a:solidFill>
          <a:ln w="9525">
            <a:solidFill>
              <a:srgbClr val="0E2A33"/>
            </a:solidFill>
            <a:prstDash val="solid"/>
          </a:ln>
          <a:effectLst>
            <a:outerShdw sx="100000" sy="100000" kx="0" ky="0" algn="bl" rotWithShape="0" blurRad="127000" dist="25400" dir="5400000">
              <a:srgbClr val="A3B3BA">
                <a:alpha val="30000"/>
              </a:srgbClr>
            </a:outerShdw>
          </a:effectLst>
        </p:spPr>
      </p:sp>
      <p:sp>
        <p:nvSpPr>
          <p:cNvPr id="18" name="Text 16"/>
          <p:cNvSpPr txBox="1"/>
          <p:nvPr/>
        </p:nvSpPr>
        <p:spPr>
          <a:xfrm>
            <a:off x="6711696" y="1664208"/>
            <a:ext cx="4572000" cy="237744"/>
          </a:xfrm>
          <a:prstGeom prst="rect">
            <a:avLst/>
          </a:prstGeom>
          <a:noFill/>
          <a:ln/>
        </p:spPr>
        <p:txBody>
          <a:bodyPr wrap="square" lIns="0" tIns="0" rIns="0" bIns="0" rtlCol="0" anchor="ctr"/>
          <a:lstStyle/>
          <a:p>
            <a:pPr indent="0" marL="0">
              <a:buNone/>
            </a:pPr>
            <a:r>
              <a:rPr lang="en-US" sz="1050" b="1" spc="130" kern="0" dirty="0">
                <a:solidFill>
                  <a:srgbClr val="39B7A4"/>
                </a:solidFill>
                <a:latin typeface="Calibri" pitchFamily="34" charset="0"/>
                <a:ea typeface="Calibri" pitchFamily="34" charset="-122"/>
                <a:cs typeface="Calibri" pitchFamily="34" charset="-120"/>
              </a:rPr>
              <a:t>WHAT THE PLANNER WATCHES</a:t>
            </a:r>
            <a:endParaRPr lang="en-US" sz="1050" dirty="0"/>
          </a:p>
        </p:txBody>
      </p:sp>
      <p:sp>
        <p:nvSpPr>
          <p:cNvPr id="19" name="Shape 17"/>
          <p:cNvSpPr/>
          <p:nvPr/>
        </p:nvSpPr>
        <p:spPr>
          <a:xfrm>
            <a:off x="6711696" y="2057400"/>
            <a:ext cx="146304" cy="146304"/>
          </a:xfrm>
          <a:prstGeom prst="ellipse">
            <a:avLst/>
          </a:prstGeom>
          <a:solidFill>
            <a:srgbClr val="39B7A4"/>
          </a:solidFill>
          <a:ln/>
        </p:spPr>
      </p:sp>
      <p:sp>
        <p:nvSpPr>
          <p:cNvPr id="20" name="Text 18"/>
          <p:cNvSpPr txBox="1"/>
          <p:nvPr/>
        </p:nvSpPr>
        <p:spPr>
          <a:xfrm>
            <a:off x="6967728" y="1993392"/>
            <a:ext cx="438912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Pace vs plan</a:t>
            </a:r>
            <a:endParaRPr lang="en-US" sz="1300" dirty="0"/>
          </a:p>
        </p:txBody>
      </p:sp>
      <p:sp>
        <p:nvSpPr>
          <p:cNvPr id="21" name="Text 19"/>
          <p:cNvSpPr txBox="1"/>
          <p:nvPr/>
        </p:nvSpPr>
        <p:spPr>
          <a:xfrm>
            <a:off x="6967728" y="2249424"/>
            <a:ext cx="4389120" cy="365760"/>
          </a:xfrm>
          <a:prstGeom prst="rect">
            <a:avLst/>
          </a:prstGeom>
          <a:noFill/>
          <a:ln/>
        </p:spPr>
        <p:txBody>
          <a:bodyPr wrap="square" lIns="0" tIns="0" rIns="0" bIns="0" rtlCol="0" anchor="ctr"/>
          <a:lstStyle/>
          <a:p>
            <a:pPr indent="0" marL="0">
              <a:lnSpc>
                <a:spcPts val="1500"/>
              </a:lnSpc>
              <a:buNone/>
            </a:pPr>
            <a:r>
              <a:rPr lang="en-US" sz="1150" dirty="0">
                <a:solidFill>
                  <a:srgbClr val="A0B6BD"/>
                </a:solidFill>
                <a:latin typeface="Calibri" pitchFamily="34" charset="0"/>
                <a:ea typeface="Calibri" pitchFamily="34" charset="-122"/>
                <a:cs typeface="Calibri" pitchFamily="34" charset="-120"/>
              </a:rPr>
              <a:t>sales so far against the expected intraday curve</a:t>
            </a:r>
            <a:endParaRPr lang="en-US" sz="1150" dirty="0"/>
          </a:p>
        </p:txBody>
      </p:sp>
      <p:sp>
        <p:nvSpPr>
          <p:cNvPr id="22" name="Shape 20"/>
          <p:cNvSpPr/>
          <p:nvPr/>
        </p:nvSpPr>
        <p:spPr>
          <a:xfrm>
            <a:off x="6711696" y="2770632"/>
            <a:ext cx="146304" cy="146304"/>
          </a:xfrm>
          <a:prstGeom prst="ellipse">
            <a:avLst/>
          </a:prstGeom>
          <a:solidFill>
            <a:srgbClr val="39B7A4"/>
          </a:solidFill>
          <a:ln/>
        </p:spPr>
      </p:sp>
      <p:sp>
        <p:nvSpPr>
          <p:cNvPr id="23" name="Text 21"/>
          <p:cNvSpPr txBox="1"/>
          <p:nvPr/>
        </p:nvSpPr>
        <p:spPr>
          <a:xfrm>
            <a:off x="6967728" y="2706624"/>
            <a:ext cx="438912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Cover below lead time</a:t>
            </a:r>
            <a:endParaRPr lang="en-US" sz="1300" dirty="0"/>
          </a:p>
        </p:txBody>
      </p:sp>
      <p:sp>
        <p:nvSpPr>
          <p:cNvPr id="24" name="Text 22"/>
          <p:cNvSpPr txBox="1"/>
          <p:nvPr/>
        </p:nvSpPr>
        <p:spPr>
          <a:xfrm>
            <a:off x="6967728" y="2962656"/>
            <a:ext cx="4389120" cy="365760"/>
          </a:xfrm>
          <a:prstGeom prst="rect">
            <a:avLst/>
          </a:prstGeom>
          <a:noFill/>
          <a:ln/>
        </p:spPr>
        <p:txBody>
          <a:bodyPr wrap="square" lIns="0" tIns="0" rIns="0" bIns="0" rtlCol="0" anchor="ctr"/>
          <a:lstStyle/>
          <a:p>
            <a:pPr indent="0" marL="0">
              <a:lnSpc>
                <a:spcPts val="1500"/>
              </a:lnSpc>
              <a:buNone/>
            </a:pPr>
            <a:r>
              <a:rPr lang="en-US" sz="1150" dirty="0">
                <a:solidFill>
                  <a:srgbClr val="A0B6BD"/>
                </a:solidFill>
                <a:latin typeface="Calibri" pitchFamily="34" charset="0"/>
                <a:ea typeface="Calibri" pitchFamily="34" charset="-122"/>
                <a:cs typeface="Calibri" pitchFamily="34" charset="-120"/>
              </a:rPr>
              <a:t>the line will stock out before a PO can land</a:t>
            </a:r>
            <a:endParaRPr lang="en-US" sz="1150" dirty="0"/>
          </a:p>
        </p:txBody>
      </p:sp>
      <p:sp>
        <p:nvSpPr>
          <p:cNvPr id="25" name="Shape 23"/>
          <p:cNvSpPr/>
          <p:nvPr/>
        </p:nvSpPr>
        <p:spPr>
          <a:xfrm>
            <a:off x="6711696" y="3483864"/>
            <a:ext cx="146304" cy="146304"/>
          </a:xfrm>
          <a:prstGeom prst="ellipse">
            <a:avLst/>
          </a:prstGeom>
          <a:solidFill>
            <a:srgbClr val="39B7A4"/>
          </a:solidFill>
          <a:ln/>
        </p:spPr>
      </p:sp>
      <p:sp>
        <p:nvSpPr>
          <p:cNvPr id="26" name="Text 24"/>
          <p:cNvSpPr txBox="1"/>
          <p:nvPr/>
        </p:nvSpPr>
        <p:spPr>
          <a:xfrm>
            <a:off x="6967728" y="3419856"/>
            <a:ext cx="438912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Reorder crossings</a:t>
            </a:r>
            <a:endParaRPr lang="en-US" sz="1300" dirty="0"/>
          </a:p>
        </p:txBody>
      </p:sp>
      <p:sp>
        <p:nvSpPr>
          <p:cNvPr id="27" name="Text 25"/>
          <p:cNvSpPr txBox="1"/>
          <p:nvPr/>
        </p:nvSpPr>
        <p:spPr>
          <a:xfrm>
            <a:off x="6967728" y="3675888"/>
            <a:ext cx="4389120" cy="365760"/>
          </a:xfrm>
          <a:prstGeom prst="rect">
            <a:avLst/>
          </a:prstGeom>
          <a:noFill/>
          <a:ln/>
        </p:spPr>
        <p:txBody>
          <a:bodyPr wrap="square" lIns="0" tIns="0" rIns="0" bIns="0" rtlCol="0" anchor="ctr"/>
          <a:lstStyle/>
          <a:p>
            <a:pPr indent="0" marL="0">
              <a:lnSpc>
                <a:spcPts val="1500"/>
              </a:lnSpc>
              <a:buNone/>
            </a:pPr>
            <a:r>
              <a:rPr lang="en-US" sz="1150" dirty="0">
                <a:solidFill>
                  <a:srgbClr val="A0B6BD"/>
                </a:solidFill>
                <a:latin typeface="Calibri" pitchFamily="34" charset="0"/>
                <a:ea typeface="Calibri" pitchFamily="34" charset="-122"/>
                <a:cs typeface="Calibri" pitchFamily="34" charset="-120"/>
              </a:rPr>
              <a:t>position drops through s, a quantity is suggested</a:t>
            </a:r>
            <a:endParaRPr lang="en-US" sz="1150" dirty="0"/>
          </a:p>
        </p:txBody>
      </p:sp>
      <p:sp>
        <p:nvSpPr>
          <p:cNvPr id="28" name="Shape 26"/>
          <p:cNvSpPr/>
          <p:nvPr/>
        </p:nvSpPr>
        <p:spPr>
          <a:xfrm>
            <a:off x="6446520" y="4352544"/>
            <a:ext cx="5148072" cy="1335024"/>
          </a:xfrm>
          <a:prstGeom prst="roundRect">
            <a:avLst>
              <a:gd name="adj" fmla="val 4110"/>
            </a:avLst>
          </a:prstGeom>
          <a:solidFill>
            <a:srgbClr val="EAF3F2"/>
          </a:solidFill>
          <a:ln w="9525">
            <a:solidFill>
              <a:srgbClr val="D3E4E1"/>
            </a:solidFill>
            <a:prstDash val="solid"/>
          </a:ln>
          <a:effectLst>
            <a:outerShdw sx="100000" sy="100000" kx="0" ky="0" algn="bl" rotWithShape="0" blurRad="127000" dist="25400" dir="5400000">
              <a:srgbClr val="A3B3BA">
                <a:alpha val="30000"/>
              </a:srgbClr>
            </a:outerShdw>
          </a:effectLst>
        </p:spPr>
      </p:sp>
      <p:sp>
        <p:nvSpPr>
          <p:cNvPr id="29" name="Text 27"/>
          <p:cNvSpPr txBox="1"/>
          <p:nvPr/>
        </p:nvSpPr>
        <p:spPr>
          <a:xfrm>
            <a:off x="6702552" y="4517136"/>
            <a:ext cx="4636008"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WHY THIS MODULE EXISTS</a:t>
            </a:r>
            <a:endParaRPr lang="en-US" sz="1050" dirty="0"/>
          </a:p>
        </p:txBody>
      </p:sp>
      <p:sp>
        <p:nvSpPr>
          <p:cNvPr id="30" name="Text 28"/>
          <p:cNvSpPr txBox="1"/>
          <p:nvPr/>
        </p:nvSpPr>
        <p:spPr>
          <a:xfrm>
            <a:off x="6702552" y="4754880"/>
            <a:ext cx="4636008" cy="768096"/>
          </a:xfrm>
          <a:prstGeom prst="rect">
            <a:avLst/>
          </a:prstGeom>
          <a:noFill/>
          <a:ln/>
        </p:spPr>
        <p:txBody>
          <a:bodyPr wrap="square" lIns="0" tIns="0" rIns="0" bIns="0" rtlCol="0" anchor="ctr"/>
          <a:lstStyle/>
          <a:p>
            <a:pPr indent="0" marL="0">
              <a:lnSpc>
                <a:spcPts val="1700"/>
              </a:lnSpc>
              <a:buNone/>
            </a:pPr>
            <a:r>
              <a:rPr lang="en-US" sz="1200" dirty="0">
                <a:solidFill>
                  <a:srgbClr val="3C5259"/>
                </a:solidFill>
                <a:latin typeface="Calibri" pitchFamily="34" charset="0"/>
                <a:ea typeface="Calibri" pitchFamily="34" charset="-122"/>
                <a:cs typeface="Calibri" pitchFamily="34" charset="-120"/>
              </a:rPr>
              <a:t>A daily forecast cannot tell a planner whether today is going well. This closes the loop between a number produced overnight and a decision that has to be made by lunchtime.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65760"/>
            <a:ext cx="8229600" cy="237744"/>
          </a:xfrm>
          <a:prstGeom prst="rect">
            <a:avLst/>
          </a:prstGeom>
          <a:noFill/>
          <a:ln/>
        </p:spPr>
        <p:txBody>
          <a:bodyPr wrap="square" lIns="0" tIns="0" rIns="0" bIns="0" rtlCol="0" anchor="ctr"/>
          <a:lstStyle/>
          <a:p>
            <a:pPr indent="0" marL="0">
              <a:buNone/>
            </a:pPr>
            <a:r>
              <a:rPr lang="en-US" sz="1150" b="1" spc="160" kern="0" dirty="0">
                <a:solidFill>
                  <a:srgbClr val="0F8A7E"/>
                </a:solidFill>
                <a:latin typeface="Calibri" pitchFamily="34" charset="0"/>
                <a:ea typeface="Calibri" pitchFamily="34" charset="-122"/>
                <a:cs typeface="Calibri" pitchFamily="34" charset="-120"/>
              </a:rPr>
              <a:t>CONCLUSION</a:t>
            </a:r>
            <a:endParaRPr lang="en-US" sz="1150" dirty="0"/>
          </a:p>
        </p:txBody>
      </p:sp>
      <p:sp>
        <p:nvSpPr>
          <p:cNvPr id="3" name="Text 1"/>
          <p:cNvSpPr txBox="1"/>
          <p:nvPr/>
        </p:nvSpPr>
        <p:spPr>
          <a:xfrm>
            <a:off x="566928" y="603504"/>
            <a:ext cx="10332720" cy="548640"/>
          </a:xfrm>
          <a:prstGeom prst="rect">
            <a:avLst/>
          </a:prstGeom>
          <a:noFill/>
          <a:ln/>
        </p:spPr>
        <p:txBody>
          <a:bodyPr wrap="square" lIns="0" tIns="0" rIns="0" bIns="0" rtlCol="0" anchor="ctr"/>
          <a:lstStyle/>
          <a:p>
            <a:pPr indent="0" marL="0">
              <a:buNone/>
            </a:pPr>
            <a:r>
              <a:rPr lang="en-US" sz="3100" b="1" dirty="0">
                <a:solidFill>
                  <a:srgbClr val="0E2A33"/>
                </a:solidFill>
                <a:latin typeface="Cambria" pitchFamily="34" charset="0"/>
                <a:ea typeface="Cambria" pitchFamily="34" charset="-122"/>
                <a:cs typeface="Cambria" pitchFamily="34" charset="-120"/>
              </a:rPr>
              <a:t>What works, what is limited, what comes next</a:t>
            </a:r>
            <a:endParaRPr lang="en-US" sz="3100" dirty="0"/>
          </a:p>
        </p:txBody>
      </p:sp>
      <p:sp>
        <p:nvSpPr>
          <p:cNvPr id="4" name="Text 2"/>
          <p:cNvSpPr txBox="1"/>
          <p:nvPr/>
        </p:nvSpPr>
        <p:spPr>
          <a:xfrm>
            <a:off x="10972800" y="384048"/>
            <a:ext cx="640080" cy="457200"/>
          </a:xfrm>
          <a:prstGeom prst="rect">
            <a:avLst/>
          </a:prstGeom>
          <a:noFill/>
          <a:ln/>
        </p:spPr>
        <p:txBody>
          <a:bodyPr wrap="square" lIns="0" tIns="0" rIns="0" bIns="0" rtlCol="0" anchor="ctr"/>
          <a:lstStyle/>
          <a:p>
            <a:pPr algn="r" indent="0" marL="0">
              <a:buNone/>
            </a:pPr>
            <a:r>
              <a:rPr lang="en-US" sz="2400" b="1" dirty="0">
                <a:solidFill>
                  <a:srgbClr val="D6E1E3"/>
                </a:solidFill>
                <a:latin typeface="Cambria" pitchFamily="34" charset="0"/>
                <a:ea typeface="Cambria" pitchFamily="34" charset="-122"/>
                <a:cs typeface="Cambria" pitchFamily="34" charset="-120"/>
              </a:rPr>
              <a:t>13</a:t>
            </a:r>
            <a:endParaRPr lang="en-US" sz="2400" dirty="0"/>
          </a:p>
        </p:txBody>
      </p:sp>
      <p:sp>
        <p:nvSpPr>
          <p:cNvPr id="5" name="Shape 3"/>
          <p:cNvSpPr/>
          <p:nvPr/>
        </p:nvSpPr>
        <p:spPr>
          <a:xfrm>
            <a:off x="566928" y="1463040"/>
            <a:ext cx="3493008" cy="3657600"/>
          </a:xfrm>
          <a:prstGeom prst="roundRect">
            <a:avLst>
              <a:gd name="adj" fmla="val 1571"/>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6" name="Shape 4"/>
          <p:cNvSpPr/>
          <p:nvPr/>
        </p:nvSpPr>
        <p:spPr>
          <a:xfrm>
            <a:off x="822960" y="1664208"/>
            <a:ext cx="310896" cy="310896"/>
          </a:xfrm>
          <a:prstGeom prst="ellipse">
            <a:avLst/>
          </a:prstGeom>
          <a:solidFill>
            <a:srgbClr val="0F8A7E"/>
          </a:solidFill>
          <a:ln/>
        </p:spPr>
      </p:sp>
      <p:sp>
        <p:nvSpPr>
          <p:cNvPr id="7" name="Text 5"/>
          <p:cNvSpPr txBox="1"/>
          <p:nvPr/>
        </p:nvSpPr>
        <p:spPr>
          <a:xfrm>
            <a:off x="1243584" y="1645920"/>
            <a:ext cx="2651760" cy="310896"/>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Achieved</a:t>
            </a:r>
            <a:endParaRPr lang="en-US" sz="1500" dirty="0"/>
          </a:p>
        </p:txBody>
      </p:sp>
      <p:sp>
        <p:nvSpPr>
          <p:cNvPr id="8" name="Shape 6"/>
          <p:cNvSpPr/>
          <p:nvPr/>
        </p:nvSpPr>
        <p:spPr>
          <a:xfrm>
            <a:off x="841248" y="2212848"/>
            <a:ext cx="128016" cy="128016"/>
          </a:xfrm>
          <a:prstGeom prst="ellipse">
            <a:avLst/>
          </a:prstGeom>
          <a:solidFill>
            <a:srgbClr val="0F8A7E"/>
          </a:solidFill>
          <a:ln/>
        </p:spPr>
      </p:sp>
      <p:sp>
        <p:nvSpPr>
          <p:cNvPr id="9" name="Text 7"/>
          <p:cNvSpPr txBox="1"/>
          <p:nvPr/>
        </p:nvSpPr>
        <p:spPr>
          <a:xfrm>
            <a:off x="1078992" y="2139696"/>
            <a:ext cx="2743200" cy="658368"/>
          </a:xfrm>
          <a:prstGeom prst="rect">
            <a:avLst/>
          </a:prstGeom>
          <a:noFill/>
          <a:ln/>
        </p:spPr>
        <p:txBody>
          <a:bodyPr wrap="square" lIns="0" tIns="0" rIns="0" bIns="0" rtlCol="0" anchor="ctr"/>
          <a:lstStyle/>
          <a:p>
            <a:pPr indent="0" marL="0">
              <a:lnSpc>
                <a:spcPts val="1500"/>
              </a:lnSpc>
              <a:buNone/>
            </a:pPr>
            <a:r>
              <a:rPr lang="en-US" sz="1150" dirty="0">
                <a:solidFill>
                  <a:srgbClr val="61737C"/>
                </a:solidFill>
                <a:latin typeface="Calibri" pitchFamily="34" charset="0"/>
                <a:ea typeface="Calibri" pitchFamily="34" charset="-122"/>
                <a:cs typeface="Calibri" pitchFamily="34" charset="-120"/>
              </a:rPr>
              <a:t>A 28-day forecast for all 90 lines, 23% more accurate than the benchmark</a:t>
            </a:r>
            <a:endParaRPr lang="en-US" sz="1150" dirty="0"/>
          </a:p>
        </p:txBody>
      </p:sp>
      <p:sp>
        <p:nvSpPr>
          <p:cNvPr id="10" name="Shape 8"/>
          <p:cNvSpPr/>
          <p:nvPr/>
        </p:nvSpPr>
        <p:spPr>
          <a:xfrm>
            <a:off x="841248" y="2944368"/>
            <a:ext cx="128016" cy="128016"/>
          </a:xfrm>
          <a:prstGeom prst="ellipse">
            <a:avLst/>
          </a:prstGeom>
          <a:solidFill>
            <a:srgbClr val="0F8A7E"/>
          </a:solidFill>
          <a:ln/>
        </p:spPr>
      </p:sp>
      <p:sp>
        <p:nvSpPr>
          <p:cNvPr id="11" name="Text 9"/>
          <p:cNvSpPr txBox="1"/>
          <p:nvPr/>
        </p:nvSpPr>
        <p:spPr>
          <a:xfrm>
            <a:off x="1078992" y="2871216"/>
            <a:ext cx="2743200" cy="658368"/>
          </a:xfrm>
          <a:prstGeom prst="rect">
            <a:avLst/>
          </a:prstGeom>
          <a:noFill/>
          <a:ln/>
        </p:spPr>
        <p:txBody>
          <a:bodyPr wrap="square" lIns="0" tIns="0" rIns="0" bIns="0" rtlCol="0" anchor="ctr"/>
          <a:lstStyle/>
          <a:p>
            <a:pPr indent="0" marL="0">
              <a:lnSpc>
                <a:spcPts val="1500"/>
              </a:lnSpc>
              <a:buNone/>
            </a:pPr>
            <a:r>
              <a:rPr lang="en-US" sz="1150" dirty="0">
                <a:solidFill>
                  <a:srgbClr val="61737C"/>
                </a:solidFill>
                <a:latin typeface="Calibri" pitchFamily="34" charset="0"/>
                <a:ea typeface="Calibri" pitchFamily="34" charset="-122"/>
                <a:cs typeface="Calibri" pitchFamily="34" charset="-120"/>
              </a:rPr>
              <a:t>Safety stock and reorder points derived from measured forecast error</a:t>
            </a:r>
            <a:endParaRPr lang="en-US" sz="1150" dirty="0"/>
          </a:p>
        </p:txBody>
      </p:sp>
      <p:sp>
        <p:nvSpPr>
          <p:cNvPr id="12" name="Shape 10"/>
          <p:cNvSpPr/>
          <p:nvPr/>
        </p:nvSpPr>
        <p:spPr>
          <a:xfrm>
            <a:off x="841248" y="3675888"/>
            <a:ext cx="128016" cy="128016"/>
          </a:xfrm>
          <a:prstGeom prst="ellipse">
            <a:avLst/>
          </a:prstGeom>
          <a:solidFill>
            <a:srgbClr val="0F8A7E"/>
          </a:solidFill>
          <a:ln/>
        </p:spPr>
      </p:sp>
      <p:sp>
        <p:nvSpPr>
          <p:cNvPr id="13" name="Text 11"/>
          <p:cNvSpPr txBox="1"/>
          <p:nvPr/>
        </p:nvSpPr>
        <p:spPr>
          <a:xfrm>
            <a:off x="1078992" y="3602736"/>
            <a:ext cx="2743200" cy="658368"/>
          </a:xfrm>
          <a:prstGeom prst="rect">
            <a:avLst/>
          </a:prstGeom>
          <a:noFill/>
          <a:ln/>
        </p:spPr>
        <p:txBody>
          <a:bodyPr wrap="square" lIns="0" tIns="0" rIns="0" bIns="0" rtlCol="0" anchor="ctr"/>
          <a:lstStyle/>
          <a:p>
            <a:pPr indent="0" marL="0">
              <a:lnSpc>
                <a:spcPts val="1500"/>
              </a:lnSpc>
              <a:buNone/>
            </a:pPr>
            <a:r>
              <a:rPr lang="en-US" sz="1150" dirty="0">
                <a:solidFill>
                  <a:srgbClr val="61737C"/>
                </a:solidFill>
                <a:latin typeface="Calibri" pitchFamily="34" charset="0"/>
                <a:ea typeface="Calibri" pitchFamily="34" charset="-122"/>
                <a:cs typeface="Calibri" pitchFamily="34" charset="-120"/>
              </a:rPr>
              <a:t>Service level shown as a cost curve rather than assumed</a:t>
            </a:r>
            <a:endParaRPr lang="en-US" sz="1150" dirty="0"/>
          </a:p>
        </p:txBody>
      </p:sp>
      <p:sp>
        <p:nvSpPr>
          <p:cNvPr id="14" name="Shape 12"/>
          <p:cNvSpPr/>
          <p:nvPr/>
        </p:nvSpPr>
        <p:spPr>
          <a:xfrm>
            <a:off x="841248" y="4407408"/>
            <a:ext cx="128016" cy="128016"/>
          </a:xfrm>
          <a:prstGeom prst="ellipse">
            <a:avLst/>
          </a:prstGeom>
          <a:solidFill>
            <a:srgbClr val="0F8A7E"/>
          </a:solidFill>
          <a:ln/>
        </p:spPr>
      </p:sp>
      <p:sp>
        <p:nvSpPr>
          <p:cNvPr id="15" name="Text 13"/>
          <p:cNvSpPr txBox="1"/>
          <p:nvPr/>
        </p:nvSpPr>
        <p:spPr>
          <a:xfrm>
            <a:off x="1078992" y="4334256"/>
            <a:ext cx="2743200" cy="658368"/>
          </a:xfrm>
          <a:prstGeom prst="rect">
            <a:avLst/>
          </a:prstGeom>
          <a:noFill/>
          <a:ln/>
        </p:spPr>
        <p:txBody>
          <a:bodyPr wrap="square" lIns="0" tIns="0" rIns="0" bIns="0" rtlCol="0" anchor="ctr"/>
          <a:lstStyle/>
          <a:p>
            <a:pPr indent="0" marL="0">
              <a:lnSpc>
                <a:spcPts val="1500"/>
              </a:lnSpc>
              <a:buNone/>
            </a:pPr>
            <a:r>
              <a:rPr lang="en-US" sz="1150" dirty="0">
                <a:solidFill>
                  <a:srgbClr val="61737C"/>
                </a:solidFill>
                <a:latin typeface="Calibri" pitchFamily="34" charset="0"/>
                <a:ea typeface="Calibri" pitchFamily="34" charset="-122"/>
                <a:cs typeface="Calibri" pitchFamily="34" charset="-120"/>
              </a:rPr>
              <a:t>Deployed publicly and usable by anyone with the link</a:t>
            </a:r>
            <a:endParaRPr lang="en-US" sz="1150" dirty="0"/>
          </a:p>
        </p:txBody>
      </p:sp>
      <p:sp>
        <p:nvSpPr>
          <p:cNvPr id="16" name="Shape 14"/>
          <p:cNvSpPr/>
          <p:nvPr/>
        </p:nvSpPr>
        <p:spPr>
          <a:xfrm>
            <a:off x="4334256" y="1463040"/>
            <a:ext cx="3493008" cy="3657600"/>
          </a:xfrm>
          <a:prstGeom prst="roundRect">
            <a:avLst>
              <a:gd name="adj" fmla="val 1571"/>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17" name="Shape 15"/>
          <p:cNvSpPr/>
          <p:nvPr/>
        </p:nvSpPr>
        <p:spPr>
          <a:xfrm>
            <a:off x="4590288" y="1664208"/>
            <a:ext cx="310896" cy="310896"/>
          </a:xfrm>
          <a:prstGeom prst="ellipse">
            <a:avLst/>
          </a:prstGeom>
          <a:solidFill>
            <a:srgbClr val="D98E37"/>
          </a:solidFill>
          <a:ln/>
        </p:spPr>
      </p:sp>
      <p:sp>
        <p:nvSpPr>
          <p:cNvPr id="18" name="Text 16"/>
          <p:cNvSpPr txBox="1"/>
          <p:nvPr/>
        </p:nvSpPr>
        <p:spPr>
          <a:xfrm>
            <a:off x="5010912" y="1645920"/>
            <a:ext cx="2651760" cy="310896"/>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Limitations</a:t>
            </a:r>
            <a:endParaRPr lang="en-US" sz="1500" dirty="0"/>
          </a:p>
        </p:txBody>
      </p:sp>
      <p:sp>
        <p:nvSpPr>
          <p:cNvPr id="19" name="Shape 17"/>
          <p:cNvSpPr/>
          <p:nvPr/>
        </p:nvSpPr>
        <p:spPr>
          <a:xfrm>
            <a:off x="4608576" y="2212848"/>
            <a:ext cx="128016" cy="128016"/>
          </a:xfrm>
          <a:prstGeom prst="ellipse">
            <a:avLst/>
          </a:prstGeom>
          <a:solidFill>
            <a:srgbClr val="D98E37"/>
          </a:solidFill>
          <a:ln/>
        </p:spPr>
      </p:sp>
      <p:sp>
        <p:nvSpPr>
          <p:cNvPr id="20" name="Text 18"/>
          <p:cNvSpPr txBox="1"/>
          <p:nvPr/>
        </p:nvSpPr>
        <p:spPr>
          <a:xfrm>
            <a:off x="4846320" y="2139696"/>
            <a:ext cx="2743200" cy="658368"/>
          </a:xfrm>
          <a:prstGeom prst="rect">
            <a:avLst/>
          </a:prstGeom>
          <a:noFill/>
          <a:ln/>
        </p:spPr>
        <p:txBody>
          <a:bodyPr wrap="square" lIns="0" tIns="0" rIns="0" bIns="0" rtlCol="0" anchor="ctr"/>
          <a:lstStyle/>
          <a:p>
            <a:pPr indent="0" marL="0">
              <a:lnSpc>
                <a:spcPts val="1500"/>
              </a:lnSpc>
              <a:buNone/>
            </a:pPr>
            <a:r>
              <a:rPr lang="en-US" sz="1150" dirty="0">
                <a:solidFill>
                  <a:srgbClr val="61737C"/>
                </a:solidFill>
                <a:latin typeface="Calibri" pitchFamily="34" charset="0"/>
                <a:ea typeface="Calibri" pitchFamily="34" charset="-122"/>
                <a:cs typeface="Calibri" pitchFamily="34" charset="-120"/>
              </a:rPr>
              <a:t>Demand data is synthetic, so real promotional cannibalisation is absent</a:t>
            </a:r>
            <a:endParaRPr lang="en-US" sz="1150" dirty="0"/>
          </a:p>
        </p:txBody>
      </p:sp>
      <p:sp>
        <p:nvSpPr>
          <p:cNvPr id="21" name="Shape 19"/>
          <p:cNvSpPr/>
          <p:nvPr/>
        </p:nvSpPr>
        <p:spPr>
          <a:xfrm>
            <a:off x="4608576" y="2944368"/>
            <a:ext cx="128016" cy="128016"/>
          </a:xfrm>
          <a:prstGeom prst="ellipse">
            <a:avLst/>
          </a:prstGeom>
          <a:solidFill>
            <a:srgbClr val="D98E37"/>
          </a:solidFill>
          <a:ln/>
        </p:spPr>
      </p:sp>
      <p:sp>
        <p:nvSpPr>
          <p:cNvPr id="22" name="Text 20"/>
          <p:cNvSpPr txBox="1"/>
          <p:nvPr/>
        </p:nvSpPr>
        <p:spPr>
          <a:xfrm>
            <a:off x="4846320" y="2871216"/>
            <a:ext cx="2743200" cy="658368"/>
          </a:xfrm>
          <a:prstGeom prst="rect">
            <a:avLst/>
          </a:prstGeom>
          <a:noFill/>
          <a:ln/>
        </p:spPr>
        <p:txBody>
          <a:bodyPr wrap="square" lIns="0" tIns="0" rIns="0" bIns="0" rtlCol="0" anchor="ctr"/>
          <a:lstStyle/>
          <a:p>
            <a:pPr indent="0" marL="0">
              <a:lnSpc>
                <a:spcPts val="1500"/>
              </a:lnSpc>
              <a:buNone/>
            </a:pPr>
            <a:r>
              <a:rPr lang="en-US" sz="1150" dirty="0">
                <a:solidFill>
                  <a:srgbClr val="61737C"/>
                </a:solidFill>
                <a:latin typeface="Calibri" pitchFamily="34" charset="0"/>
                <a:ea typeface="Calibri" pitchFamily="34" charset="-122"/>
                <a:cs typeface="Calibri" pitchFamily="34" charset="-120"/>
              </a:rPr>
              <a:t>Lost sales are not censored — real history hides demand that was never met</a:t>
            </a:r>
            <a:endParaRPr lang="en-US" sz="1150" dirty="0"/>
          </a:p>
        </p:txBody>
      </p:sp>
      <p:sp>
        <p:nvSpPr>
          <p:cNvPr id="23" name="Shape 21"/>
          <p:cNvSpPr/>
          <p:nvPr/>
        </p:nvSpPr>
        <p:spPr>
          <a:xfrm>
            <a:off x="4608576" y="3675888"/>
            <a:ext cx="128016" cy="128016"/>
          </a:xfrm>
          <a:prstGeom prst="ellipse">
            <a:avLst/>
          </a:prstGeom>
          <a:solidFill>
            <a:srgbClr val="D98E37"/>
          </a:solidFill>
          <a:ln/>
        </p:spPr>
      </p:sp>
      <p:sp>
        <p:nvSpPr>
          <p:cNvPr id="24" name="Text 22"/>
          <p:cNvSpPr txBox="1"/>
          <p:nvPr/>
        </p:nvSpPr>
        <p:spPr>
          <a:xfrm>
            <a:off x="4846320" y="3602736"/>
            <a:ext cx="2743200" cy="658368"/>
          </a:xfrm>
          <a:prstGeom prst="rect">
            <a:avLst/>
          </a:prstGeom>
          <a:noFill/>
          <a:ln/>
        </p:spPr>
        <p:txBody>
          <a:bodyPr wrap="square" lIns="0" tIns="0" rIns="0" bIns="0" rtlCol="0" anchor="ctr"/>
          <a:lstStyle/>
          <a:p>
            <a:pPr indent="0" marL="0">
              <a:lnSpc>
                <a:spcPts val="1500"/>
              </a:lnSpc>
              <a:buNone/>
            </a:pPr>
            <a:r>
              <a:rPr lang="en-US" sz="1150" dirty="0">
                <a:solidFill>
                  <a:srgbClr val="61737C"/>
                </a:solidFill>
                <a:latin typeface="Calibri" pitchFamily="34" charset="0"/>
                <a:ea typeface="Calibri" pitchFamily="34" charset="-122"/>
                <a:cs typeface="Calibri" pitchFamily="34" charset="-120"/>
              </a:rPr>
              <a:t>Lead times are treated as fixed, not as a distribution</a:t>
            </a:r>
            <a:endParaRPr lang="en-US" sz="1150" dirty="0"/>
          </a:p>
        </p:txBody>
      </p:sp>
      <p:sp>
        <p:nvSpPr>
          <p:cNvPr id="25" name="Shape 23"/>
          <p:cNvSpPr/>
          <p:nvPr/>
        </p:nvSpPr>
        <p:spPr>
          <a:xfrm>
            <a:off x="4608576" y="4407408"/>
            <a:ext cx="128016" cy="128016"/>
          </a:xfrm>
          <a:prstGeom prst="ellipse">
            <a:avLst/>
          </a:prstGeom>
          <a:solidFill>
            <a:srgbClr val="D98E37"/>
          </a:solidFill>
          <a:ln/>
        </p:spPr>
      </p:sp>
      <p:sp>
        <p:nvSpPr>
          <p:cNvPr id="26" name="Text 24"/>
          <p:cNvSpPr txBox="1"/>
          <p:nvPr/>
        </p:nvSpPr>
        <p:spPr>
          <a:xfrm>
            <a:off x="4846320" y="4334256"/>
            <a:ext cx="2743200" cy="658368"/>
          </a:xfrm>
          <a:prstGeom prst="rect">
            <a:avLst/>
          </a:prstGeom>
          <a:noFill/>
          <a:ln/>
        </p:spPr>
        <p:txBody>
          <a:bodyPr wrap="square" lIns="0" tIns="0" rIns="0" bIns="0" rtlCol="0" anchor="ctr"/>
          <a:lstStyle/>
          <a:p>
            <a:pPr indent="0" marL="0">
              <a:lnSpc>
                <a:spcPts val="1500"/>
              </a:lnSpc>
              <a:buNone/>
            </a:pPr>
            <a:r>
              <a:rPr lang="en-US" sz="1150" dirty="0">
                <a:solidFill>
                  <a:srgbClr val="61737C"/>
                </a:solidFill>
                <a:latin typeface="Calibri" pitchFamily="34" charset="0"/>
                <a:ea typeface="Calibri" pitchFamily="34" charset="-122"/>
                <a:cs typeface="Calibri" pitchFamily="34" charset="-120"/>
              </a:rPr>
              <a:t>Series are optimised independently, with no shared warehouse constraint</a:t>
            </a:r>
            <a:endParaRPr lang="en-US" sz="1150" dirty="0"/>
          </a:p>
        </p:txBody>
      </p:sp>
      <p:sp>
        <p:nvSpPr>
          <p:cNvPr id="27" name="Shape 25"/>
          <p:cNvSpPr/>
          <p:nvPr/>
        </p:nvSpPr>
        <p:spPr>
          <a:xfrm>
            <a:off x="8101584" y="1463040"/>
            <a:ext cx="3493008" cy="3657600"/>
          </a:xfrm>
          <a:prstGeom prst="roundRect">
            <a:avLst>
              <a:gd name="adj" fmla="val 1571"/>
            </a:avLst>
          </a:prstGeom>
          <a:solidFill>
            <a:srgbClr val="F1F5F6"/>
          </a:solidFill>
          <a:ln w="9525">
            <a:solidFill>
              <a:srgbClr val="E2E9EB"/>
            </a:solidFill>
            <a:prstDash val="solid"/>
          </a:ln>
          <a:effectLst>
            <a:outerShdw sx="100000" sy="100000" kx="0" ky="0" algn="bl" rotWithShape="0" blurRad="127000" dist="25400" dir="5400000">
              <a:srgbClr val="A3B3BA">
                <a:alpha val="30000"/>
              </a:srgbClr>
            </a:outerShdw>
          </a:effectLst>
        </p:spPr>
      </p:sp>
      <p:sp>
        <p:nvSpPr>
          <p:cNvPr id="28" name="Shape 26"/>
          <p:cNvSpPr/>
          <p:nvPr/>
        </p:nvSpPr>
        <p:spPr>
          <a:xfrm>
            <a:off x="8357616" y="1664208"/>
            <a:ext cx="310896" cy="310896"/>
          </a:xfrm>
          <a:prstGeom prst="ellipse">
            <a:avLst/>
          </a:prstGeom>
          <a:solidFill>
            <a:srgbClr val="6B5BA8"/>
          </a:solidFill>
          <a:ln/>
        </p:spPr>
      </p:sp>
      <p:sp>
        <p:nvSpPr>
          <p:cNvPr id="29" name="Text 27"/>
          <p:cNvSpPr txBox="1"/>
          <p:nvPr/>
        </p:nvSpPr>
        <p:spPr>
          <a:xfrm>
            <a:off x="8778240" y="1645920"/>
            <a:ext cx="2651760" cy="310896"/>
          </a:xfrm>
          <a:prstGeom prst="rect">
            <a:avLst/>
          </a:prstGeom>
          <a:noFill/>
          <a:ln/>
        </p:spPr>
        <p:txBody>
          <a:bodyPr wrap="square" lIns="0" tIns="0" rIns="0" bIns="0" rtlCol="0" anchor="ctr"/>
          <a:lstStyle/>
          <a:p>
            <a:pPr indent="0" marL="0">
              <a:buNone/>
            </a:pPr>
            <a:r>
              <a:rPr lang="en-US" sz="1500" b="1" dirty="0">
                <a:solidFill>
                  <a:srgbClr val="0E2A33"/>
                </a:solidFill>
                <a:latin typeface="Calibri" pitchFamily="34" charset="0"/>
                <a:ea typeface="Calibri" pitchFamily="34" charset="-122"/>
                <a:cs typeface="Calibri" pitchFamily="34" charset="-120"/>
              </a:rPr>
              <a:t>Future scope</a:t>
            </a:r>
            <a:endParaRPr lang="en-US" sz="1500" dirty="0"/>
          </a:p>
        </p:txBody>
      </p:sp>
      <p:sp>
        <p:nvSpPr>
          <p:cNvPr id="30" name="Shape 28"/>
          <p:cNvSpPr/>
          <p:nvPr/>
        </p:nvSpPr>
        <p:spPr>
          <a:xfrm>
            <a:off x="8375904" y="2212848"/>
            <a:ext cx="128016" cy="128016"/>
          </a:xfrm>
          <a:prstGeom prst="ellipse">
            <a:avLst/>
          </a:prstGeom>
          <a:solidFill>
            <a:srgbClr val="6B5BA8"/>
          </a:solidFill>
          <a:ln/>
        </p:spPr>
      </p:sp>
      <p:sp>
        <p:nvSpPr>
          <p:cNvPr id="31" name="Text 29"/>
          <p:cNvSpPr txBox="1"/>
          <p:nvPr/>
        </p:nvSpPr>
        <p:spPr>
          <a:xfrm>
            <a:off x="8613648" y="2139696"/>
            <a:ext cx="2743200" cy="658368"/>
          </a:xfrm>
          <a:prstGeom prst="rect">
            <a:avLst/>
          </a:prstGeom>
          <a:noFill/>
          <a:ln/>
        </p:spPr>
        <p:txBody>
          <a:bodyPr wrap="square" lIns="0" tIns="0" rIns="0" bIns="0" rtlCol="0" anchor="ctr"/>
          <a:lstStyle/>
          <a:p>
            <a:pPr indent="0" marL="0">
              <a:lnSpc>
                <a:spcPts val="1500"/>
              </a:lnSpc>
              <a:buNone/>
            </a:pPr>
            <a:r>
              <a:rPr lang="en-US" sz="1150" dirty="0">
                <a:solidFill>
                  <a:srgbClr val="61737C"/>
                </a:solidFill>
                <a:latin typeface="Calibri" pitchFamily="34" charset="0"/>
                <a:ea typeface="Calibri" pitchFamily="34" charset="-122"/>
                <a:cs typeface="Calibri" pitchFamily="34" charset="-120"/>
              </a:rPr>
              <a:t>Fit on real point-of-sale extracts; only the loader changes</a:t>
            </a:r>
            <a:endParaRPr lang="en-US" sz="1150" dirty="0"/>
          </a:p>
        </p:txBody>
      </p:sp>
      <p:sp>
        <p:nvSpPr>
          <p:cNvPr id="32" name="Shape 30"/>
          <p:cNvSpPr/>
          <p:nvPr/>
        </p:nvSpPr>
        <p:spPr>
          <a:xfrm>
            <a:off x="8375904" y="2944368"/>
            <a:ext cx="128016" cy="128016"/>
          </a:xfrm>
          <a:prstGeom prst="ellipse">
            <a:avLst/>
          </a:prstGeom>
          <a:solidFill>
            <a:srgbClr val="6B5BA8"/>
          </a:solidFill>
          <a:ln/>
        </p:spPr>
      </p:sp>
      <p:sp>
        <p:nvSpPr>
          <p:cNvPr id="33" name="Text 31"/>
          <p:cNvSpPr txBox="1"/>
          <p:nvPr/>
        </p:nvSpPr>
        <p:spPr>
          <a:xfrm>
            <a:off x="8613648" y="2871216"/>
            <a:ext cx="2743200" cy="658368"/>
          </a:xfrm>
          <a:prstGeom prst="rect">
            <a:avLst/>
          </a:prstGeom>
          <a:noFill/>
          <a:ln/>
        </p:spPr>
        <p:txBody>
          <a:bodyPr wrap="square" lIns="0" tIns="0" rIns="0" bIns="0" rtlCol="0" anchor="ctr"/>
          <a:lstStyle/>
          <a:p>
            <a:pPr indent="0" marL="0">
              <a:lnSpc>
                <a:spcPts val="1500"/>
              </a:lnSpc>
              <a:buNone/>
            </a:pPr>
            <a:r>
              <a:rPr lang="en-US" sz="1150" dirty="0">
                <a:solidFill>
                  <a:srgbClr val="61737C"/>
                </a:solidFill>
                <a:latin typeface="Calibri" pitchFamily="34" charset="0"/>
                <a:ea typeface="Calibri" pitchFamily="34" charset="-122"/>
                <a:cs typeface="Calibri" pitchFamily="34" charset="-120"/>
              </a:rPr>
              <a:t>Gradient-boosted trees as a challenger, judged on the same backtest</a:t>
            </a:r>
            <a:endParaRPr lang="en-US" sz="1150" dirty="0"/>
          </a:p>
        </p:txBody>
      </p:sp>
      <p:sp>
        <p:nvSpPr>
          <p:cNvPr id="34" name="Shape 32"/>
          <p:cNvSpPr/>
          <p:nvPr/>
        </p:nvSpPr>
        <p:spPr>
          <a:xfrm>
            <a:off x="8375904" y="3675888"/>
            <a:ext cx="128016" cy="128016"/>
          </a:xfrm>
          <a:prstGeom prst="ellipse">
            <a:avLst/>
          </a:prstGeom>
          <a:solidFill>
            <a:srgbClr val="6B5BA8"/>
          </a:solidFill>
          <a:ln/>
        </p:spPr>
      </p:sp>
      <p:sp>
        <p:nvSpPr>
          <p:cNvPr id="35" name="Text 33"/>
          <p:cNvSpPr txBox="1"/>
          <p:nvPr/>
        </p:nvSpPr>
        <p:spPr>
          <a:xfrm>
            <a:off x="8613648" y="3602736"/>
            <a:ext cx="2743200" cy="658368"/>
          </a:xfrm>
          <a:prstGeom prst="rect">
            <a:avLst/>
          </a:prstGeom>
          <a:noFill/>
          <a:ln/>
        </p:spPr>
        <p:txBody>
          <a:bodyPr wrap="square" lIns="0" tIns="0" rIns="0" bIns="0" rtlCol="0" anchor="ctr"/>
          <a:lstStyle/>
          <a:p>
            <a:pPr indent="0" marL="0">
              <a:lnSpc>
                <a:spcPts val="1500"/>
              </a:lnSpc>
              <a:buNone/>
            </a:pPr>
            <a:r>
              <a:rPr lang="en-US" sz="1150" dirty="0">
                <a:solidFill>
                  <a:srgbClr val="61737C"/>
                </a:solidFill>
                <a:latin typeface="Calibri" pitchFamily="34" charset="0"/>
                <a:ea typeface="Calibri" pitchFamily="34" charset="-122"/>
                <a:cs typeface="Calibri" pitchFamily="34" charset="-120"/>
              </a:rPr>
              <a:t>Stochastic lead times folded into the protection interval</a:t>
            </a:r>
            <a:endParaRPr lang="en-US" sz="1150" dirty="0"/>
          </a:p>
        </p:txBody>
      </p:sp>
      <p:sp>
        <p:nvSpPr>
          <p:cNvPr id="36" name="Shape 34"/>
          <p:cNvSpPr/>
          <p:nvPr/>
        </p:nvSpPr>
        <p:spPr>
          <a:xfrm>
            <a:off x="8375904" y="4407408"/>
            <a:ext cx="128016" cy="128016"/>
          </a:xfrm>
          <a:prstGeom prst="ellipse">
            <a:avLst/>
          </a:prstGeom>
          <a:solidFill>
            <a:srgbClr val="6B5BA8"/>
          </a:solidFill>
          <a:ln/>
        </p:spPr>
      </p:sp>
      <p:sp>
        <p:nvSpPr>
          <p:cNvPr id="37" name="Text 35"/>
          <p:cNvSpPr txBox="1"/>
          <p:nvPr/>
        </p:nvSpPr>
        <p:spPr>
          <a:xfrm>
            <a:off x="8613648" y="4334256"/>
            <a:ext cx="2743200" cy="658368"/>
          </a:xfrm>
          <a:prstGeom prst="rect">
            <a:avLst/>
          </a:prstGeom>
          <a:noFill/>
          <a:ln/>
        </p:spPr>
        <p:txBody>
          <a:bodyPr wrap="square" lIns="0" tIns="0" rIns="0" bIns="0" rtlCol="0" anchor="ctr"/>
          <a:lstStyle/>
          <a:p>
            <a:pPr indent="0" marL="0">
              <a:lnSpc>
                <a:spcPts val="1500"/>
              </a:lnSpc>
              <a:buNone/>
            </a:pPr>
            <a:r>
              <a:rPr lang="en-US" sz="1150" dirty="0">
                <a:solidFill>
                  <a:srgbClr val="61737C"/>
                </a:solidFill>
                <a:latin typeface="Calibri" pitchFamily="34" charset="0"/>
                <a:ea typeface="Calibri" pitchFamily="34" charset="-122"/>
                <a:cs typeface="Calibri" pitchFamily="34" charset="-120"/>
              </a:rPr>
              <a:t>Multi-echelon allocation across a distribution centre</a:t>
            </a:r>
            <a:endParaRPr lang="en-US" sz="1150" dirty="0"/>
          </a:p>
        </p:txBody>
      </p:sp>
      <p:sp>
        <p:nvSpPr>
          <p:cNvPr id="38" name="Shape 36"/>
          <p:cNvSpPr/>
          <p:nvPr/>
        </p:nvSpPr>
        <p:spPr>
          <a:xfrm>
            <a:off x="566928" y="5212080"/>
            <a:ext cx="11027664" cy="932688"/>
          </a:xfrm>
          <a:prstGeom prst="roundRect">
            <a:avLst>
              <a:gd name="adj" fmla="val 5882"/>
            </a:avLst>
          </a:prstGeom>
          <a:solidFill>
            <a:srgbClr val="EAF3F2"/>
          </a:solidFill>
          <a:ln w="9525">
            <a:solidFill>
              <a:srgbClr val="D3E4E1"/>
            </a:solidFill>
            <a:prstDash val="solid"/>
          </a:ln>
          <a:effectLst>
            <a:outerShdw sx="100000" sy="100000" kx="0" ky="0" algn="bl" rotWithShape="0" blurRad="127000" dist="25400" dir="5400000">
              <a:srgbClr val="A3B3BA">
                <a:alpha val="30000"/>
              </a:srgbClr>
            </a:outerShdw>
          </a:effectLst>
        </p:spPr>
      </p:sp>
      <p:sp>
        <p:nvSpPr>
          <p:cNvPr id="39" name="Text 37"/>
          <p:cNvSpPr txBox="1"/>
          <p:nvPr/>
        </p:nvSpPr>
        <p:spPr>
          <a:xfrm>
            <a:off x="822960" y="5376672"/>
            <a:ext cx="10515600" cy="219456"/>
          </a:xfrm>
          <a:prstGeom prst="rect">
            <a:avLst/>
          </a:prstGeom>
          <a:noFill/>
          <a:ln/>
        </p:spPr>
        <p:txBody>
          <a:bodyPr wrap="square" lIns="0" tIns="0" rIns="0" bIns="0" rtlCol="0" anchor="ctr"/>
          <a:lstStyle/>
          <a:p>
            <a:pPr indent="0" marL="0">
              <a:buNone/>
            </a:pPr>
            <a:r>
              <a:rPr lang="en-US" sz="1050" b="1" spc="120" kern="0" dirty="0">
                <a:solidFill>
                  <a:srgbClr val="0F8A7E"/>
                </a:solidFill>
                <a:latin typeface="Calibri" pitchFamily="34" charset="0"/>
                <a:ea typeface="Calibri" pitchFamily="34" charset="-122"/>
                <a:cs typeface="Calibri" pitchFamily="34" charset="-120"/>
              </a:rPr>
              <a:t>THE HONEST SUMMARY</a:t>
            </a:r>
            <a:endParaRPr lang="en-US" sz="1050" dirty="0"/>
          </a:p>
        </p:txBody>
      </p:sp>
      <p:sp>
        <p:nvSpPr>
          <p:cNvPr id="40" name="Text 38"/>
          <p:cNvSpPr txBox="1"/>
          <p:nvPr/>
        </p:nvSpPr>
        <p:spPr>
          <a:xfrm>
            <a:off x="822960" y="5614416"/>
            <a:ext cx="10515600" cy="365760"/>
          </a:xfrm>
          <a:prstGeom prst="rect">
            <a:avLst/>
          </a:prstGeom>
          <a:noFill/>
          <a:ln/>
        </p:spPr>
        <p:txBody>
          <a:bodyPr wrap="square" lIns="0" tIns="0" rIns="0" bIns="0" rtlCol="0" anchor="ctr"/>
          <a:lstStyle/>
          <a:p>
            <a:pPr indent="0" marL="0">
              <a:lnSpc>
                <a:spcPts val="1700"/>
              </a:lnSpc>
              <a:buNone/>
            </a:pPr>
            <a:r>
              <a:rPr lang="en-US" sz="1200" dirty="0">
                <a:solidFill>
                  <a:srgbClr val="3C5259"/>
                </a:solidFill>
                <a:latin typeface="Calibri" pitchFamily="34" charset="0"/>
                <a:ea typeface="Calibri" pitchFamily="34" charset="-122"/>
                <a:cs typeface="Calibri" pitchFamily="34" charset="-120"/>
              </a:rPr>
              <a:t>The forecasting is competent rather than novel; the contribution is the chain from error measurement to a stocking decision a planner can act on, with every assumption exposed.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2A33"/>
        </a:solidFill>
      </p:bgPr>
    </p:bg>
    <p:spTree>
      <p:nvGrpSpPr>
        <p:cNvPr id="1" name=""/>
        <p:cNvGrpSpPr/>
        <p:nvPr/>
      </p:nvGrpSpPr>
      <p:grpSpPr>
        <a:xfrm>
          <a:off x="0" y="0"/>
          <a:ext cx="0" cy="0"/>
          <a:chOff x="0" y="0"/>
          <a:chExt cx="0" cy="0"/>
        </a:xfrm>
      </p:grpSpPr>
      <p:sp>
        <p:nvSpPr>
          <p:cNvPr id="2" name="Shape 0"/>
          <p:cNvSpPr/>
          <p:nvPr/>
        </p:nvSpPr>
        <p:spPr>
          <a:xfrm>
            <a:off x="-1737360" y="2926080"/>
            <a:ext cx="4937760" cy="4937760"/>
          </a:xfrm>
          <a:prstGeom prst="ellipse">
            <a:avLst/>
          </a:prstGeom>
          <a:solidFill>
            <a:srgbClr val="0F8A7E">
              <a:alpha val="16000"/>
            </a:srgbClr>
          </a:solidFill>
          <a:ln/>
        </p:spPr>
      </p:sp>
      <p:sp>
        <p:nvSpPr>
          <p:cNvPr id="3" name="Shape 1"/>
          <p:cNvSpPr/>
          <p:nvPr/>
        </p:nvSpPr>
        <p:spPr>
          <a:xfrm>
            <a:off x="9692640" y="-1280160"/>
            <a:ext cx="4023360" cy="4023360"/>
          </a:xfrm>
          <a:prstGeom prst="ellipse">
            <a:avLst/>
          </a:prstGeom>
          <a:solidFill>
            <a:srgbClr val="39B7A4">
              <a:alpha val="12000"/>
            </a:srgbClr>
          </a:solidFill>
          <a:ln/>
        </p:spPr>
      </p:sp>
      <p:sp>
        <p:nvSpPr>
          <p:cNvPr id="4" name="Text 2"/>
          <p:cNvSpPr txBox="1"/>
          <p:nvPr/>
        </p:nvSpPr>
        <p:spPr>
          <a:xfrm>
            <a:off x="566928" y="1371600"/>
            <a:ext cx="82296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3"/>
          <p:cNvSpPr txBox="1"/>
          <p:nvPr/>
        </p:nvSpPr>
        <p:spPr>
          <a:xfrm>
            <a:off x="566928" y="2194560"/>
            <a:ext cx="7680960" cy="365760"/>
          </a:xfrm>
          <a:prstGeom prst="rect">
            <a:avLst/>
          </a:prstGeom>
          <a:noFill/>
          <a:ln/>
        </p:spPr>
        <p:txBody>
          <a:bodyPr wrap="square" lIns="0" tIns="0" rIns="0" bIns="0" rtlCol="0" anchor="ctr"/>
          <a:lstStyle/>
          <a:p>
            <a:pPr indent="0" marL="0">
              <a:buNone/>
            </a:pPr>
            <a:r>
              <a:rPr lang="en-US" sz="1400" dirty="0">
                <a:solidFill>
                  <a:srgbClr val="A9BDC4"/>
                </a:solidFill>
                <a:latin typeface="Calibri" pitchFamily="34" charset="0"/>
                <a:ea typeface="Calibri" pitchFamily="34" charset="-122"/>
                <a:cs typeface="Calibri" pitchFamily="34" charset="-120"/>
              </a:rPr>
              <a:t>Questions are welcome — the dashboard is live and can be driven during the discussion.</a:t>
            </a:r>
            <a:endParaRPr lang="en-US" sz="1400" dirty="0"/>
          </a:p>
        </p:txBody>
      </p:sp>
      <p:sp>
        <p:nvSpPr>
          <p:cNvPr id="6" name="Shape 4"/>
          <p:cNvSpPr/>
          <p:nvPr/>
        </p:nvSpPr>
        <p:spPr>
          <a:xfrm>
            <a:off x="566928" y="2926080"/>
            <a:ext cx="2011680" cy="0"/>
          </a:xfrm>
          <a:prstGeom prst="line">
            <a:avLst/>
          </a:prstGeom>
          <a:noFill/>
          <a:ln w="25400">
            <a:solidFill>
              <a:srgbClr val="39B7A4"/>
            </a:solidFill>
            <a:prstDash val="solid"/>
          </a:ln>
        </p:spPr>
      </p:sp>
      <p:sp>
        <p:nvSpPr>
          <p:cNvPr id="7" name="Text 5"/>
          <p:cNvSpPr txBox="1"/>
          <p:nvPr/>
        </p:nvSpPr>
        <p:spPr>
          <a:xfrm>
            <a:off x="566928" y="3108960"/>
            <a:ext cx="4572000" cy="219456"/>
          </a:xfrm>
          <a:prstGeom prst="rect">
            <a:avLst/>
          </a:prstGeom>
          <a:noFill/>
          <a:ln/>
        </p:spPr>
        <p:txBody>
          <a:bodyPr wrap="square" lIns="0" tIns="0" rIns="0" bIns="0" rtlCol="0" anchor="ctr"/>
          <a:lstStyle/>
          <a:p>
            <a:pPr indent="0" marL="0">
              <a:buNone/>
            </a:pPr>
            <a:r>
              <a:rPr lang="en-US" sz="1100" b="1" spc="150" kern="0" dirty="0">
                <a:solidFill>
                  <a:srgbClr val="7C959D"/>
                </a:solidFill>
                <a:latin typeface="Calibri" pitchFamily="34" charset="0"/>
                <a:ea typeface="Calibri" pitchFamily="34" charset="-122"/>
                <a:cs typeface="Calibri" pitchFamily="34" charset="-120"/>
              </a:rPr>
              <a:t>PRESENTED BY</a:t>
            </a:r>
            <a:endParaRPr lang="en-US" sz="1100" dirty="0"/>
          </a:p>
        </p:txBody>
      </p:sp>
      <p:sp>
        <p:nvSpPr>
          <p:cNvPr id="8" name="Text 6"/>
          <p:cNvSpPr txBox="1"/>
          <p:nvPr/>
        </p:nvSpPr>
        <p:spPr>
          <a:xfrm>
            <a:off x="566928" y="3383280"/>
            <a:ext cx="274320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Arnav Mishra</a:t>
            </a:r>
            <a:endParaRPr lang="en-US" sz="2000" dirty="0"/>
          </a:p>
        </p:txBody>
      </p:sp>
      <p:sp>
        <p:nvSpPr>
          <p:cNvPr id="9" name="Text 7"/>
          <p:cNvSpPr txBox="1"/>
          <p:nvPr/>
        </p:nvSpPr>
        <p:spPr>
          <a:xfrm>
            <a:off x="3493008" y="3383280"/>
            <a:ext cx="274320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Ritesh Rana</a:t>
            </a:r>
            <a:endParaRPr lang="en-US" sz="2000" dirty="0"/>
          </a:p>
        </p:txBody>
      </p:sp>
      <p:sp>
        <p:nvSpPr>
          <p:cNvPr id="10" name="Text 8"/>
          <p:cNvSpPr txBox="1"/>
          <p:nvPr/>
        </p:nvSpPr>
        <p:spPr>
          <a:xfrm>
            <a:off x="566928" y="4480560"/>
            <a:ext cx="5486400" cy="640080"/>
          </a:xfrm>
          <a:prstGeom prst="rect">
            <a:avLst/>
          </a:prstGeom>
          <a:noFill/>
          <a:ln/>
        </p:spPr>
        <p:txBody>
          <a:bodyPr wrap="square" lIns="0" tIns="0" rIns="0" bIns="0" rtlCol="0" anchor="ctr"/>
          <a:lstStyle/>
          <a:p>
            <a:pPr indent="0" marL="0">
              <a:lnSpc>
                <a:spcPts val="2000"/>
              </a:lnSpc>
              <a:buNone/>
            </a:pPr>
            <a:r>
              <a:rPr lang="en-US" sz="1100" dirty="0">
                <a:solidFill>
                  <a:srgbClr val="7C959D"/>
                </a:solidFill>
                <a:latin typeface="Calibri" pitchFamily="34" charset="0"/>
                <a:ea typeface="Calibri" pitchFamily="34" charset="-122"/>
                <a:cs typeface="Calibri" pitchFamily="34" charset="-120"/>
              </a:rPr>
              <a:t>Live dashboard
</a:t>
            </a:r>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retail-demand-forecasting.netlify.app</a:t>
            </a:r>
            <a:endParaRPr lang="en-US" sz="1100" dirty="0"/>
          </a:p>
        </p:txBody>
      </p:sp>
      <p:sp>
        <p:nvSpPr>
          <p:cNvPr id="11" name="Text 9"/>
          <p:cNvSpPr txBox="1"/>
          <p:nvPr/>
        </p:nvSpPr>
        <p:spPr>
          <a:xfrm>
            <a:off x="6217920" y="4480560"/>
            <a:ext cx="5486400" cy="640080"/>
          </a:xfrm>
          <a:prstGeom prst="rect">
            <a:avLst/>
          </a:prstGeom>
          <a:noFill/>
          <a:ln/>
        </p:spPr>
        <p:txBody>
          <a:bodyPr wrap="square" lIns="0" tIns="0" rIns="0" bIns="0" rtlCol="0" anchor="ctr"/>
          <a:lstStyle/>
          <a:p>
            <a:pPr indent="0" marL="0">
              <a:lnSpc>
                <a:spcPts val="2000"/>
              </a:lnSpc>
              <a:buNone/>
            </a:pPr>
            <a:r>
              <a:rPr lang="en-US" sz="1100" dirty="0">
                <a:solidFill>
                  <a:srgbClr val="7C959D"/>
                </a:solidFill>
                <a:latin typeface="Calibri" pitchFamily="34" charset="0"/>
                <a:ea typeface="Calibri" pitchFamily="34" charset="-122"/>
                <a:cs typeface="Calibri" pitchFamily="34" charset="-120"/>
              </a:rPr>
              <a:t>Source code
</a:t>
            </a:r>
            <a:pPr indent="0" marL="0">
              <a:lnSpc>
                <a:spcPts val="2000"/>
              </a:lnSpc>
              <a:buNone/>
            </a:pPr>
            <a:r>
              <a:rPr lang="en-US" sz="1500" b="1" dirty="0">
                <a:solidFill>
                  <a:srgbClr val="FFFFFF"/>
                </a:solidFill>
                <a:latin typeface="Calibri" pitchFamily="34" charset="0"/>
                <a:ea typeface="Calibri" pitchFamily="34" charset="-122"/>
                <a:cs typeface="Calibri" pitchFamily="34" charset="-120"/>
              </a:rPr>
              <a:t>github.com/Arnavmishra002/retail-demand-forecasting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Academic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Demand Forecasting &amp; Inventory Optimization Dashboard</dc:title>
  <dc:subject>PptxGenJS Presentation</dc:subject>
  <dc:creator>Arnav Mishra, Ritesh Rana</dc:creator>
  <cp:lastModifiedBy>Arnav Mishra, Ritesh Rana</cp:lastModifiedBy>
  <cp:revision>1</cp:revision>
  <dcterms:created xsi:type="dcterms:W3CDTF">2026-09-16T06:05:38Z</dcterms:created>
  <dcterms:modified xsi:type="dcterms:W3CDTF">2026-09-16T06:05:38Z</dcterms:modified>
</cp:coreProperties>
</file>