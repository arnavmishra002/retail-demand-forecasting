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2A33"/>
                </a:solidFill>
                <a:latin typeface="Calibri"/>
              </a:defRPr>
            </a:pPr>
            <a:r>
              <a:rPr sz="1200" b="0" i="0" u="none" strike="noStrike">
                <a:solidFill>
                  <a:srgbClr val="0E2A33"/>
                </a:solidFill>
                <a:latin typeface="Calibri"/>
              </a:rPr>
              <a:t>Network demand, weekly — 26 weeks history, 4 weeks forecast</a:t>
            </a:r>
          </a:p>
        </c:rich>
      </c:tx>
      <c:layout/>
      <c:overlay val="0"/>
    </c:title>
    <c:autoTitleDeleted val="0"/>
    <c:plotArea>
      <c:layout/>
      <c:lineChart>
        <c:varyColors val="0"/>
        <c:ser>
          <c:idx val="0"/>
          <c:order val="0"/>
          <c:tx>
            <c:strRef>
              <c:f>Sheet1!$B$1</c:f>
              <c:strCache>
                <c:ptCount val="1"/>
                <c:pt idx="0">
                  <c:v>Actual (weekly units)</c:v>
                </c:pt>
              </c:strCache>
            </c:strRef>
          </c:tx>
          <c:spPr>
            <a:solidFill>
              <a:srgbClr val="6B7C85"/>
            </a:solidFill>
            <a:ln w="31750" cap="flat">
              <a:solidFill>
                <a:srgbClr val="6B7C8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6B7C85"/>
              </a:solidFill>
              <a:ln w="9525" cap="flat">
                <a:solidFill>
                  <a:srgbClr val="6B7C85"/>
                </a:solidFill>
                <a:prstDash val="solid"/>
                <a:round/>
              </a:ln>
              <a:effectLst/>
            </c:spPr>
          </c:marker>
          <c:cat>
            <c:multiLvlStrRef>
              <c:f>Sheet1!$A$2:$A$31</c:f>
              <c:multiLvlStrCache>
                <c:ptCount val="30"/>
                <c:lvl>
                  <c:pt idx="0">
                    <c:v>03-18</c:v>
                  </c:pt>
                  <c:pt idx="1">
                    <c:v>03-25</c:v>
                  </c:pt>
                  <c:pt idx="2">
                    <c:v>04-01</c:v>
                  </c:pt>
                  <c:pt idx="3">
                    <c:v>04-08</c:v>
                  </c:pt>
                  <c:pt idx="4">
                    <c:v>04-15</c:v>
                  </c:pt>
                  <c:pt idx="5">
                    <c:v>04-22</c:v>
                  </c:pt>
                  <c:pt idx="6">
                    <c:v>04-29</c:v>
                  </c:pt>
                  <c:pt idx="7">
                    <c:v>05-06</c:v>
                  </c:pt>
                  <c:pt idx="8">
                    <c:v>05-13</c:v>
                  </c:pt>
                  <c:pt idx="9">
                    <c:v>05-20</c:v>
                  </c:pt>
                  <c:pt idx="10">
                    <c:v>05-27</c:v>
                  </c:pt>
                  <c:pt idx="11">
                    <c:v>06-03</c:v>
                  </c:pt>
                  <c:pt idx="12">
                    <c:v>06-10</c:v>
                  </c:pt>
                  <c:pt idx="13">
                    <c:v>06-17</c:v>
                  </c:pt>
                  <c:pt idx="14">
                    <c:v>06-24</c:v>
                  </c:pt>
                  <c:pt idx="15">
                    <c:v>07-01</c:v>
                  </c:pt>
                  <c:pt idx="16">
                    <c:v>07-08</c:v>
                  </c:pt>
                  <c:pt idx="17">
                    <c:v>07-15</c:v>
                  </c:pt>
                  <c:pt idx="18">
                    <c:v>07-22</c:v>
                  </c:pt>
                  <c:pt idx="19">
                    <c:v>07-29</c:v>
                  </c:pt>
                  <c:pt idx="20">
                    <c:v>08-05</c:v>
                  </c:pt>
                  <c:pt idx="21">
                    <c:v>08-12</c:v>
                  </c:pt>
                  <c:pt idx="22">
                    <c:v>08-19</c:v>
                  </c:pt>
                  <c:pt idx="23">
                    <c:v>08-26</c:v>
                  </c:pt>
                  <c:pt idx="24">
                    <c:v>09-02</c:v>
                  </c:pt>
                  <c:pt idx="25">
                    <c:v>09-09</c:v>
                  </c:pt>
                  <c:pt idx="26">
                    <c:v>09-16</c:v>
                  </c:pt>
                  <c:pt idx="27">
                    <c:v>09-23</c:v>
                  </c:pt>
                  <c:pt idx="28">
                    <c:v>09-30</c:v>
                  </c:pt>
                  <c:pt idx="29">
                    <c:v>10-07</c:v>
                  </c:pt>
                </c:lvl>
              </c:multiLvlStrCache>
            </c:multiLvlStrRef>
          </c:cat>
          <c:val>
            <c:numRef>
              <c:f>Sheet1!$B$2:$B$31</c:f>
              <c:numCache>
                <c:formatCode>General</c:formatCode>
                <c:ptCount val="30"/>
                <c:pt idx="0">
                  <c:v>24504</c:v>
                </c:pt>
                <c:pt idx="1">
                  <c:v>24666</c:v>
                </c:pt>
                <c:pt idx="2">
                  <c:v>26793</c:v>
                </c:pt>
                <c:pt idx="3">
                  <c:v>25805</c:v>
                </c:pt>
                <c:pt idx="4">
                  <c:v>25864</c:v>
                </c:pt>
                <c:pt idx="5">
                  <c:v>25703</c:v>
                </c:pt>
                <c:pt idx="6">
                  <c:v>26771</c:v>
                </c:pt>
                <c:pt idx="7">
                  <c:v>28887</c:v>
                </c:pt>
                <c:pt idx="8">
                  <c:v>28420</c:v>
                </c:pt>
                <c:pt idx="9">
                  <c:v>31094</c:v>
                </c:pt>
                <c:pt idx="10">
                  <c:v>28956</c:v>
                </c:pt>
                <c:pt idx="11">
                  <c:v>31489</c:v>
                </c:pt>
                <c:pt idx="12">
                  <c:v>28858</c:v>
                </c:pt>
                <c:pt idx="13">
                  <c:v>31436</c:v>
                </c:pt>
                <c:pt idx="14">
                  <c:v>31757</c:v>
                </c:pt>
                <c:pt idx="15">
                  <c:v>33276</c:v>
                </c:pt>
                <c:pt idx="16">
                  <c:v>32911</c:v>
                </c:pt>
                <c:pt idx="17">
                  <c:v>35664</c:v>
                </c:pt>
                <c:pt idx="18">
                  <c:v>34479</c:v>
                </c:pt>
                <c:pt idx="19">
                  <c:v>33788</c:v>
                </c:pt>
                <c:pt idx="20">
                  <c:v>35207</c:v>
                </c:pt>
                <c:pt idx="21">
                  <c:v>36758</c:v>
                </c:pt>
                <c:pt idx="22">
                  <c:v>35755</c:v>
                </c:pt>
                <c:pt idx="23">
                  <c:v>40610</c:v>
                </c:pt>
                <c:pt idx="24">
                  <c:v>37815</c:v>
                </c:pt>
                <c:pt idx="25">
                  <c:v>34329</c:v>
                </c:pt>
                <c:pt idx="26">
                  <c:v/>
                </c:pt>
                <c:pt idx="27">
                  <c:v/>
                </c:pt>
                <c:pt idx="28">
                  <c:v/>
                </c:pt>
                <c:pt idx="29">
                  <c:v/>
                </c:pt>
              </c:numCache>
            </c:numRef>
          </c:val>
          <c:smooth val="0"/>
        </c:ser>
        <c:ser>
          <c:idx val="1"/>
          <c:order val="1"/>
          <c:tx>
            <c:strRef>
              <c:f>Sheet1!$C$1</c:f>
              <c:strCache>
                <c:ptCount val="1"/>
                <c:pt idx="0">
                  <c:v>Forecast</c:v>
                </c:pt>
              </c:strCache>
            </c:strRef>
          </c:tx>
          <c:spPr>
            <a:solidFill>
              <a:srgbClr val="0F8A7E"/>
            </a:solidFill>
            <a:ln w="31750" cap="flat">
              <a:solidFill>
                <a:srgbClr val="0F8A7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8A7E"/>
              </a:solidFill>
              <a:ln w="9525" cap="flat">
                <a:solidFill>
                  <a:srgbClr val="0F8A7E"/>
                </a:solidFill>
                <a:prstDash val="solid"/>
                <a:round/>
              </a:ln>
              <a:effectLst/>
            </c:spPr>
          </c:marker>
          <c:cat>
            <c:multiLvlStrRef>
              <c:f>Sheet1!$A$2:$A$31</c:f>
              <c:multiLvlStrCache>
                <c:ptCount val="30"/>
                <c:lvl>
                  <c:pt idx="0">
                    <c:v>03-18</c:v>
                  </c:pt>
                  <c:pt idx="1">
                    <c:v>03-25</c:v>
                  </c:pt>
                  <c:pt idx="2">
                    <c:v>04-01</c:v>
                  </c:pt>
                  <c:pt idx="3">
                    <c:v>04-08</c:v>
                  </c:pt>
                  <c:pt idx="4">
                    <c:v>04-15</c:v>
                  </c:pt>
                  <c:pt idx="5">
                    <c:v>04-22</c:v>
                  </c:pt>
                  <c:pt idx="6">
                    <c:v>04-29</c:v>
                  </c:pt>
                  <c:pt idx="7">
                    <c:v>05-06</c:v>
                  </c:pt>
                  <c:pt idx="8">
                    <c:v>05-13</c:v>
                  </c:pt>
                  <c:pt idx="9">
                    <c:v>05-20</c:v>
                  </c:pt>
                  <c:pt idx="10">
                    <c:v>05-27</c:v>
                  </c:pt>
                  <c:pt idx="11">
                    <c:v>06-03</c:v>
                  </c:pt>
                  <c:pt idx="12">
                    <c:v>06-10</c:v>
                  </c:pt>
                  <c:pt idx="13">
                    <c:v>06-17</c:v>
                  </c:pt>
                  <c:pt idx="14">
                    <c:v>06-24</c:v>
                  </c:pt>
                  <c:pt idx="15">
                    <c:v>07-01</c:v>
                  </c:pt>
                  <c:pt idx="16">
                    <c:v>07-08</c:v>
                  </c:pt>
                  <c:pt idx="17">
                    <c:v>07-15</c:v>
                  </c:pt>
                  <c:pt idx="18">
                    <c:v>07-22</c:v>
                  </c:pt>
                  <c:pt idx="19">
                    <c:v>07-29</c:v>
                  </c:pt>
                  <c:pt idx="20">
                    <c:v>08-05</c:v>
                  </c:pt>
                  <c:pt idx="21">
                    <c:v>08-12</c:v>
                  </c:pt>
                  <c:pt idx="22">
                    <c:v>08-19</c:v>
                  </c:pt>
                  <c:pt idx="23">
                    <c:v>08-26</c:v>
                  </c:pt>
                  <c:pt idx="24">
                    <c:v>09-02</c:v>
                  </c:pt>
                  <c:pt idx="25">
                    <c:v>09-09</c:v>
                  </c:pt>
                  <c:pt idx="26">
                    <c:v>09-16</c:v>
                  </c:pt>
                  <c:pt idx="27">
                    <c:v>09-23</c:v>
                  </c:pt>
                  <c:pt idx="28">
                    <c:v>09-30</c:v>
                  </c:pt>
                  <c:pt idx="29">
                    <c:v>10-07</c:v>
                  </c:pt>
                </c:lvl>
              </c:multiLvlStrCache>
            </c:multiLvlStrRef>
          </c:cat>
          <c:val>
            <c:numRef>
              <c:f>Sheet1!$C$2:$C$31</c:f>
              <c:numCache>
                <c:formatCode>General</c:formatCode>
                <c:ptCount val="30"/>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34329</c:v>
                </c:pt>
                <c:pt idx="26">
                  <c:v>37043</c:v>
                </c:pt>
                <c:pt idx="27">
                  <c:v>40474</c:v>
                </c:pt>
                <c:pt idx="28">
                  <c:v>39515</c:v>
                </c:pt>
                <c:pt idx="29">
                  <c:v>38501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1000" b="0" i="0" u="none" strike="noStrike">
                <a:solidFill>
                  <a:srgbClr val="6B7C85"/>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C85"/>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B7C85"/>
              </a:solidFill>
            </a:defRPr>
          </a:pPr>
          <a:endParaRPr lang="en-US"/>
        </a:p>
      </c:txPr>
    </c:legend>
    <c:plotVisOnly val="1"/>
    <c:dispBlanksAs val="gap"/>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2A33"/>
                </a:solidFill>
                <a:latin typeface="Calibri"/>
              </a:defRPr>
            </a:pPr>
            <a:r>
              <a:rPr sz="1200" b="0" i="0" u="none" strike="noStrike">
                <a:solidFill>
                  <a:srgbClr val="0E2A33"/>
                </a:solidFill>
                <a:latin typeface="Calibri"/>
              </a:rPr>
              <a:t>WAPE by category — lower is better</a:t>
            </a:r>
          </a:p>
        </c:rich>
      </c:tx>
      <c:layout/>
      <c:overlay val="0"/>
    </c:title>
    <c:autoTitleDeleted val="0"/>
    <c:plotArea>
      <c:layout/>
      <c:barChart>
        <c:barDir val="col"/>
        <c:grouping val="clustered"/>
        <c:varyColors val="0"/>
        <c:ser>
          <c:idx val="0"/>
          <c:order val="0"/>
          <c:tx>
            <c:strRef>
              <c:f>Sheet1!$B$1</c:f>
              <c:strCache>
                <c:ptCount val="1"/>
                <c:pt idx="0">
                  <c:v>Seasonal naive</c:v>
                </c:pt>
              </c:strCache>
            </c:strRef>
          </c:tx>
          <c:spPr>
            <a:solidFill>
              <a:srgbClr val="D98E37"/>
            </a:solidFill>
            <a:ln w="9525" cap="flat">
              <a:solidFill>
                <a:srgbClr val="FFFFFF"/>
              </a:solidFill>
              <a:prstDash val="solid"/>
              <a:round/>
            </a:ln>
            <a:effectLst/>
          </c:spPr>
          <c:invertIfNegative val="0"/>
          <c:dLbls>
            <c:numFmt formatCode="0%" sourceLinked="0"/>
            <c:txPr>
              <a:bodyPr/>
              <a:lstStyle/>
              <a:p>
                <a:pPr>
                  <a:defRPr b="0" i="0" strike="noStrike" sz="900" u="none">
                    <a:solidFill>
                      <a:srgbClr val="6B7C85"/>
                    </a:solidFill>
                    <a:latin typeface="Arial"/>
                  </a:defRPr>
                </a:pPr>
              </a:p>
            </c:txPr>
            <c:showLegendKey val="0"/>
            <c:showVal val="1"/>
            <c:showCatName val="0"/>
            <c:showSerName val="0"/>
            <c:showPercent val="0"/>
            <c:showBubbleSize val="0"/>
            <c:showLeaderLines val="0"/>
          </c:dLbls>
          <c:cat>
            <c:multiLvlStrRef>
              <c:f>Sheet1!$A$2:$A$6</c:f>
              <c:multiLvlStrCache>
                <c:ptCount val="5"/>
                <c:lvl>
                  <c:pt idx="0">
                    <c:v>Beverages</c:v>
                  </c:pt>
                  <c:pt idx="1">
                    <c:v>Electronics</c:v>
                  </c:pt>
                  <c:pt idx="2">
                    <c:v>Household</c:v>
                  </c:pt>
                  <c:pt idx="3">
                    <c:v>Seasonal</c:v>
                  </c:pt>
                  <c:pt idx="4">
                    <c:v>Snacks</c:v>
                  </c:pt>
                </c:lvl>
              </c:multiLvlStrCache>
            </c:multiLvlStrRef>
          </c:cat>
          <c:val>
            <c:numRef>
              <c:f>Sheet1!$B$2:$B$6</c:f>
              <c:numCache>
                <c:formatCode>General</c:formatCode>
                <c:ptCount val="5"/>
                <c:pt idx="0">
                  <c:v>0.3726</c:v>
                </c:pt>
                <c:pt idx="1">
                  <c:v>0.5907</c:v>
                </c:pt>
                <c:pt idx="2">
                  <c:v>0.3869</c:v>
                </c:pt>
                <c:pt idx="3">
                  <c:v>0.5191</c:v>
                </c:pt>
                <c:pt idx="4">
                  <c:v>0.3757</c:v>
                </c:pt>
              </c:numCache>
            </c:numRef>
          </c:val>
        </c:ser>
        <c:ser>
          <c:idx val="1"/>
          <c:order val="1"/>
          <c:tx>
            <c:strRef>
              <c:f>Sheet1!$C$1</c:f>
              <c:strCache>
                <c:ptCount val="1"/>
                <c:pt idx="0">
                  <c:v>Ridge model</c:v>
                </c:pt>
              </c:strCache>
            </c:strRef>
          </c:tx>
          <c:spPr>
            <a:solidFill>
              <a:srgbClr val="0F8A7E"/>
            </a:solidFill>
            <a:ln w="9525" cap="flat">
              <a:solidFill>
                <a:srgbClr val="FFFFFF"/>
              </a:solidFill>
              <a:prstDash val="solid"/>
              <a:round/>
            </a:ln>
            <a:effectLst/>
          </c:spPr>
          <c:invertIfNegative val="0"/>
          <c:dLbls>
            <c:numFmt formatCode="0%" sourceLinked="0"/>
            <c:txPr>
              <a:bodyPr/>
              <a:lstStyle/>
              <a:p>
                <a:pPr>
                  <a:defRPr b="0" i="0" strike="noStrike" sz="900" u="none">
                    <a:solidFill>
                      <a:srgbClr val="6B7C85"/>
                    </a:solidFill>
                    <a:latin typeface="Arial"/>
                  </a:defRPr>
                </a:pPr>
              </a:p>
            </c:txPr>
            <c:showLegendKey val="0"/>
            <c:showVal val="1"/>
            <c:showCatName val="0"/>
            <c:showSerName val="0"/>
            <c:showPercent val="0"/>
            <c:showBubbleSize val="0"/>
            <c:showLeaderLines val="0"/>
          </c:dLbls>
          <c:cat>
            <c:multiLvlStrRef>
              <c:f>Sheet1!$A$2:$A$6</c:f>
              <c:multiLvlStrCache>
                <c:ptCount val="5"/>
                <c:lvl>
                  <c:pt idx="0">
                    <c:v>Beverages</c:v>
                  </c:pt>
                  <c:pt idx="1">
                    <c:v>Electronics</c:v>
                  </c:pt>
                  <c:pt idx="2">
                    <c:v>Household</c:v>
                  </c:pt>
                  <c:pt idx="3">
                    <c:v>Seasonal</c:v>
                  </c:pt>
                  <c:pt idx="4">
                    <c:v>Snacks</c:v>
                  </c:pt>
                </c:lvl>
              </c:multiLvlStrCache>
            </c:multiLvlStrRef>
          </c:cat>
          <c:val>
            <c:numRef>
              <c:f>Sheet1!$C$2:$C$6</c:f>
              <c:numCache>
                <c:formatCode>General</c:formatCode>
                <c:ptCount val="5"/>
                <c:pt idx="0">
                  <c:v>0.2834</c:v>
                </c:pt>
                <c:pt idx="1">
                  <c:v>0.4846</c:v>
                </c:pt>
                <c:pt idx="2">
                  <c:v>0.3135</c:v>
                </c:pt>
                <c:pt idx="3">
                  <c:v>0.4338</c:v>
                </c:pt>
                <c:pt idx="4">
                  <c:v>0.2844</c:v>
                </c:pt>
              </c:numCache>
            </c:numRef>
          </c:val>
        </c:ser>
        <c:dLbls>
          <c:numFmt formatCode="0%" sourceLinked="0"/>
          <c:txPr>
            <a:bodyPr/>
            <a:lstStyle/>
            <a:p>
              <a:pPr>
                <a:defRPr b="0" i="0" strike="noStrike" sz="900" u="none">
                  <a:solidFill>
                    <a:srgbClr val="6B7C85"/>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C85"/>
                </a:solidFill>
                <a:latin typeface="Calibri"/>
              </a:defRPr>
            </a:pPr>
            <a:endParaRPr lang="en-US"/>
          </a:p>
        </c:txPr>
        <c:crossAx val="2094734552"/>
        <c:crosses val="autoZero"/>
        <c:auto val="1"/>
        <c:lblAlgn val="ctr"/>
        <c:noMultiLvlLbl val="1"/>
      </c:catAx>
      <c:valAx>
        <c:axId val="2094734552"/>
        <c:scaling>
          <c:orientation val="minMax"/>
          <c:max val="0.7"/>
        </c:scaling>
        <c:delete val="0"/>
        <c:axPos val="l"/>
        <c:majorGridlines>
          <c:spPr>
            <a:ln w="12700" cap="flat">
              <a:solidFill>
                <a:srgbClr val="E4EA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C85"/>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B7C85"/>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2A33"/>
                </a:solidFill>
                <a:latin typeface="Calibri"/>
              </a:defRPr>
            </a:pPr>
            <a:r>
              <a:rPr sz="1200" b="0" i="0" u="none" strike="noStrike">
                <a:solidFill>
                  <a:srgbClr val="0E2A33"/>
                </a:solidFill>
                <a:latin typeface="Calibri"/>
              </a:rPr>
              <a:t>Annual cost across service levels, at a $9/unit stockout penalty</a:t>
            </a:r>
          </a:p>
        </c:rich>
      </c:tx>
      <c:layout/>
      <c:overlay val="0"/>
    </c:title>
    <c:autoTitleDeleted val="0"/>
    <c:plotArea>
      <c:layout/>
      <c:lineChart>
        <c:varyColors val="0"/>
        <c:ser>
          <c:idx val="0"/>
          <c:order val="0"/>
          <c:tx>
            <c:strRef>
              <c:f>Sheet1!$B$1</c:f>
              <c:strCache>
                <c:ptCount val="1"/>
                <c:pt idx="0">
                  <c:v>Total cost</c:v>
                </c:pt>
              </c:strCache>
            </c:strRef>
          </c:tx>
          <c:spPr>
            <a:solidFill>
              <a:srgbClr val="0E2A33"/>
            </a:solidFill>
            <a:ln w="31750" cap="flat">
              <a:solidFill>
                <a:srgbClr val="0E2A3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2A33"/>
              </a:solidFill>
              <a:ln w="9525" cap="flat">
                <a:solidFill>
                  <a:srgbClr val="0E2A33"/>
                </a:solidFill>
                <a:prstDash val="solid"/>
                <a:round/>
              </a:ln>
              <a:effectLst/>
            </c:spPr>
          </c:marker>
          <c:cat>
            <c:multiLvlStrRef>
              <c:f>Sheet1!$A$2:$A$17</c:f>
              <c:multiLvlStrCache>
                <c:ptCount val="16"/>
                <c:lvl>
                  <c:pt idx="0">
                    <c:v>50%</c:v>
                  </c:pt>
                  <c:pt idx="1">
                    <c:v>53%</c:v>
                  </c:pt>
                  <c:pt idx="2">
                    <c:v>57%</c:v>
                  </c:pt>
                  <c:pt idx="3">
                    <c:v>60%</c:v>
                  </c:pt>
                  <c:pt idx="4">
                    <c:v>63%</c:v>
                  </c:pt>
                  <c:pt idx="5">
                    <c:v>67%</c:v>
                  </c:pt>
                  <c:pt idx="6">
                    <c:v>70%</c:v>
                  </c:pt>
                  <c:pt idx="7">
                    <c:v>73%</c:v>
                  </c:pt>
                  <c:pt idx="8">
                    <c:v>76%</c:v>
                  </c:pt>
                  <c:pt idx="9">
                    <c:v>80%</c:v>
                  </c:pt>
                  <c:pt idx="10">
                    <c:v>83%</c:v>
                  </c:pt>
                  <c:pt idx="11">
                    <c:v>86%</c:v>
                  </c:pt>
                  <c:pt idx="12">
                    <c:v>90%</c:v>
                  </c:pt>
                  <c:pt idx="13">
                    <c:v>93%</c:v>
                  </c:pt>
                  <c:pt idx="14">
                    <c:v>96%</c:v>
                  </c:pt>
                  <c:pt idx="15">
                    <c:v>99.5%</c:v>
                  </c:pt>
                </c:lvl>
              </c:multiLvlStrCache>
            </c:multiLvlStrRef>
          </c:cat>
          <c:val>
            <c:numRef>
              <c:f>Sheet1!$B$2:$B$17</c:f>
              <c:numCache>
                <c:formatCode>General</c:formatCode>
                <c:ptCount val="16"/>
                <c:pt idx="0">
                  <c:v>513898</c:v>
                </c:pt>
                <c:pt idx="1">
                  <c:v>481554</c:v>
                </c:pt>
                <c:pt idx="2">
                  <c:v>451254</c:v>
                </c:pt>
                <c:pt idx="3">
                  <c:v>422828</c:v>
                </c:pt>
                <c:pt idx="4">
                  <c:v>396135</c:v>
                </c:pt>
                <c:pt idx="5">
                  <c:v>371060</c:v>
                </c:pt>
                <c:pt idx="6">
                  <c:v>347511</c:v>
                </c:pt>
                <c:pt idx="7">
                  <c:v>325417</c:v>
                </c:pt>
                <c:pt idx="8">
                  <c:v>304725</c:v>
                </c:pt>
                <c:pt idx="9">
                  <c:v>285407</c:v>
                </c:pt>
                <c:pt idx="10">
                  <c:v>267458</c:v>
                </c:pt>
                <c:pt idx="11">
                  <c:v>250911</c:v>
                </c:pt>
                <c:pt idx="12">
                  <c:v>235859</c:v>
                </c:pt>
                <c:pt idx="13">
                  <c:v>222521</c:v>
                </c:pt>
                <c:pt idx="14">
                  <c:v>211481</c:v>
                </c:pt>
                <c:pt idx="15">
                  <c:v>206415</c:v>
                </c:pt>
              </c:numCache>
            </c:numRef>
          </c:val>
          <c:smooth val="0"/>
        </c:ser>
        <c:ser>
          <c:idx val="1"/>
          <c:order val="1"/>
          <c:tx>
            <c:strRef>
              <c:f>Sheet1!$C$1</c:f>
              <c:strCache>
                <c:ptCount val="1"/>
                <c:pt idx="0">
                  <c:v>Expected shortage cost</c:v>
                </c:pt>
              </c:strCache>
            </c:strRef>
          </c:tx>
          <c:spPr>
            <a:solidFill>
              <a:srgbClr val="B4544A"/>
            </a:solidFill>
            <a:ln w="31750" cap="flat">
              <a:solidFill>
                <a:srgbClr val="B454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4544A"/>
              </a:solidFill>
              <a:ln w="9525" cap="flat">
                <a:solidFill>
                  <a:srgbClr val="B4544A"/>
                </a:solidFill>
                <a:prstDash val="solid"/>
                <a:round/>
              </a:ln>
              <a:effectLst/>
            </c:spPr>
          </c:marker>
          <c:cat>
            <c:multiLvlStrRef>
              <c:f>Sheet1!$A$2:$A$17</c:f>
              <c:multiLvlStrCache>
                <c:ptCount val="16"/>
                <c:lvl>
                  <c:pt idx="0">
                    <c:v>50%</c:v>
                  </c:pt>
                  <c:pt idx="1">
                    <c:v>53%</c:v>
                  </c:pt>
                  <c:pt idx="2">
                    <c:v>57%</c:v>
                  </c:pt>
                  <c:pt idx="3">
                    <c:v>60%</c:v>
                  </c:pt>
                  <c:pt idx="4">
                    <c:v>63%</c:v>
                  </c:pt>
                  <c:pt idx="5">
                    <c:v>67%</c:v>
                  </c:pt>
                  <c:pt idx="6">
                    <c:v>70%</c:v>
                  </c:pt>
                  <c:pt idx="7">
                    <c:v>73%</c:v>
                  </c:pt>
                  <c:pt idx="8">
                    <c:v>76%</c:v>
                  </c:pt>
                  <c:pt idx="9">
                    <c:v>80%</c:v>
                  </c:pt>
                  <c:pt idx="10">
                    <c:v>83%</c:v>
                  </c:pt>
                  <c:pt idx="11">
                    <c:v>86%</c:v>
                  </c:pt>
                  <c:pt idx="12">
                    <c:v>90%</c:v>
                  </c:pt>
                  <c:pt idx="13">
                    <c:v>93%</c:v>
                  </c:pt>
                  <c:pt idx="14">
                    <c:v>96%</c:v>
                  </c:pt>
                  <c:pt idx="15">
                    <c:v>99.5%</c:v>
                  </c:pt>
                </c:lvl>
              </c:multiLvlStrCache>
            </c:multiLvlStrRef>
          </c:cat>
          <c:val>
            <c:numRef>
              <c:f>Sheet1!$C$2:$C$17</c:f>
              <c:numCache>
                <c:formatCode>General</c:formatCode>
                <c:ptCount val="16"/>
                <c:pt idx="0">
                  <c:v>328619</c:v>
                </c:pt>
                <c:pt idx="1">
                  <c:v>295637</c:v>
                </c:pt>
                <c:pt idx="2">
                  <c:v>264696</c:v>
                </c:pt>
                <c:pt idx="3">
                  <c:v>235618</c:v>
                </c:pt>
                <c:pt idx="4">
                  <c:v>208260</c:v>
                </c:pt>
                <c:pt idx="5">
                  <c:v>182500</c:v>
                </c:pt>
                <c:pt idx="6">
                  <c:v>158239</c:v>
                </c:pt>
                <c:pt idx="7">
                  <c:v>135396</c:v>
                </c:pt>
                <c:pt idx="8">
                  <c:v>113908</c:v>
                </c:pt>
                <c:pt idx="9">
                  <c:v>93729</c:v>
                </c:pt>
                <c:pt idx="10">
                  <c:v>74832</c:v>
                </c:pt>
                <c:pt idx="11">
                  <c:v>57209</c:v>
                </c:pt>
                <c:pt idx="12">
                  <c:v>40885</c:v>
                </c:pt>
                <c:pt idx="13">
                  <c:v>25935</c:v>
                </c:pt>
                <c:pt idx="14">
                  <c:v>12539</c:v>
                </c:pt>
                <c:pt idx="15">
                  <c:v>1302</c:v>
                </c:pt>
              </c:numCache>
            </c:numRef>
          </c:val>
          <c:smooth val="0"/>
        </c:ser>
        <c:ser>
          <c:idx val="2"/>
          <c:order val="2"/>
          <c:tx>
            <c:strRef>
              <c:f>Sheet1!$D$1</c:f>
              <c:strCache>
                <c:ptCount val="1"/>
                <c:pt idx="0">
                  <c:v>Safety stock holding</c:v>
                </c:pt>
              </c:strCache>
            </c:strRef>
          </c:tx>
          <c:spPr>
            <a:solidFill>
              <a:srgbClr val="6B5BA8"/>
            </a:solidFill>
            <a:ln w="31750" cap="flat">
              <a:solidFill>
                <a:srgbClr val="6B5B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6B5BA8"/>
              </a:solidFill>
              <a:ln w="9525" cap="flat">
                <a:solidFill>
                  <a:srgbClr val="6B5BA8"/>
                </a:solidFill>
                <a:prstDash val="solid"/>
                <a:round/>
              </a:ln>
              <a:effectLst/>
            </c:spPr>
          </c:marker>
          <c:cat>
            <c:multiLvlStrRef>
              <c:f>Sheet1!$A$2:$A$17</c:f>
              <c:multiLvlStrCache>
                <c:ptCount val="16"/>
                <c:lvl>
                  <c:pt idx="0">
                    <c:v>50%</c:v>
                  </c:pt>
                  <c:pt idx="1">
                    <c:v>53%</c:v>
                  </c:pt>
                  <c:pt idx="2">
                    <c:v>57%</c:v>
                  </c:pt>
                  <c:pt idx="3">
                    <c:v>60%</c:v>
                  </c:pt>
                  <c:pt idx="4">
                    <c:v>63%</c:v>
                  </c:pt>
                  <c:pt idx="5">
                    <c:v>67%</c:v>
                  </c:pt>
                  <c:pt idx="6">
                    <c:v>70%</c:v>
                  </c:pt>
                  <c:pt idx="7">
                    <c:v>73%</c:v>
                  </c:pt>
                  <c:pt idx="8">
                    <c:v>76%</c:v>
                  </c:pt>
                  <c:pt idx="9">
                    <c:v>80%</c:v>
                  </c:pt>
                  <c:pt idx="10">
                    <c:v>83%</c:v>
                  </c:pt>
                  <c:pt idx="11">
                    <c:v>86%</c:v>
                  </c:pt>
                  <c:pt idx="12">
                    <c:v>90%</c:v>
                  </c:pt>
                  <c:pt idx="13">
                    <c:v>93%</c:v>
                  </c:pt>
                  <c:pt idx="14">
                    <c:v>96%</c:v>
                  </c:pt>
                  <c:pt idx="15">
                    <c:v>99.5%</c:v>
                  </c:pt>
                </c:lvl>
              </c:multiLvlStrCache>
            </c:multiLvlStrRef>
          </c:cat>
          <c:val>
            <c:numRef>
              <c:f>Sheet1!$D$2:$D$17</c:f>
              <c:numCache>
                <c:formatCode>General</c:formatCode>
                <c:ptCount val="16"/>
                <c:pt idx="0">
                  <c:v>0</c:v>
                </c:pt>
                <c:pt idx="1">
                  <c:v>638</c:v>
                </c:pt>
                <c:pt idx="2">
                  <c:v>1280</c:v>
                </c:pt>
                <c:pt idx="3">
                  <c:v>1931</c:v>
                </c:pt>
                <c:pt idx="4">
                  <c:v>2596</c:v>
                </c:pt>
                <c:pt idx="5">
                  <c:v>3281</c:v>
                </c:pt>
                <c:pt idx="6">
                  <c:v>3994</c:v>
                </c:pt>
                <c:pt idx="7">
                  <c:v>4742</c:v>
                </c:pt>
                <c:pt idx="8">
                  <c:v>5538</c:v>
                </c:pt>
                <c:pt idx="9">
                  <c:v>6399</c:v>
                </c:pt>
                <c:pt idx="10">
                  <c:v>7347</c:v>
                </c:pt>
                <c:pt idx="11">
                  <c:v>8423</c:v>
                </c:pt>
                <c:pt idx="12">
                  <c:v>9695</c:v>
                </c:pt>
                <c:pt idx="13">
                  <c:v>11307</c:v>
                </c:pt>
                <c:pt idx="14">
                  <c:v>13663</c:v>
                </c:pt>
                <c:pt idx="15">
                  <c:v>19834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C85"/>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EC"/>
              </a:solidFill>
              <a:prstDash val="solid"/>
              <a:round/>
            </a:ln>
          </c:spPr>
        </c:majorGridlines>
        <c:numFmt formatCode="$#,##0,&quot;k&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C85"/>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B7C85"/>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2A33"/>
                </a:solidFill>
                <a:latin typeface="Calibri"/>
              </a:defRPr>
            </a:pPr>
            <a:r>
              <a:rPr sz="1200" b="0" i="0" u="none" strike="noStrike">
                <a:solidFill>
                  <a:srgbClr val="0E2A33"/>
                </a:solidFill>
                <a:latin typeface="Calibri"/>
              </a:rPr>
              <a:t>Annual revenue by SKU, ranked</a:t>
            </a:r>
          </a:p>
        </c:rich>
      </c:tx>
      <c:layout/>
      <c:overlay val="0"/>
    </c:title>
    <c:autoTitleDeleted val="0"/>
    <c:plotArea>
      <c:layout/>
      <c:barChart>
        <c:barDir val="col"/>
        <c:grouping val="clustered"/>
        <c:varyColors val="0"/>
        <c:ser>
          <c:idx val="0"/>
          <c:order val="0"/>
          <c:tx>
            <c:strRef>
              <c:f>Sheet1!$B$1</c:f>
              <c:strCache>
                <c:ptCount val="1"/>
                <c:pt idx="0">
                  <c:v>Annual revenue</c:v>
                </c:pt>
              </c:strCache>
            </c:strRef>
          </c:tx>
          <c:spPr>
            <a:solidFill>
              <a:srgbClr val="0F8A7E"/>
            </a:solidFill>
            <a:ln w="9525"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0F8A7E"/>
              </a:solidFill>
              <a:effectLst/>
            </c:spPr>
          </c:dPt>
          <c:dPt>
            <c:idx val="1"/>
            <c:invertIfNegative val="0"/>
            <c:bubble3D val="0"/>
            <c:spPr>
              <a:solidFill>
                <a:srgbClr val="0F8A7E"/>
              </a:solidFill>
              <a:effectLst/>
            </c:spPr>
          </c:dPt>
          <c:dPt>
            <c:idx val="2"/>
            <c:invertIfNegative val="0"/>
            <c:bubble3D val="0"/>
            <c:spPr>
              <a:solidFill>
                <a:srgbClr val="0F8A7E"/>
              </a:solidFill>
              <a:effectLst/>
            </c:spPr>
          </c:dPt>
          <c:dPt>
            <c:idx val="3"/>
            <c:invertIfNegative val="0"/>
            <c:bubble3D val="0"/>
            <c:spPr>
              <a:solidFill>
                <a:srgbClr val="0F8A7E"/>
              </a:solidFill>
              <a:effectLst/>
            </c:spPr>
          </c:dPt>
          <c:dPt>
            <c:idx val="4"/>
            <c:invertIfNegative val="0"/>
            <c:bubble3D val="0"/>
            <c:spPr>
              <a:solidFill>
                <a:srgbClr val="0F8A7E"/>
              </a:solidFill>
              <a:effectLst/>
            </c:spPr>
          </c:dPt>
          <c:dPt>
            <c:idx val="5"/>
            <c:invertIfNegative val="0"/>
            <c:bubble3D val="0"/>
            <c:spPr>
              <a:solidFill>
                <a:srgbClr val="39B7A4"/>
              </a:solidFill>
              <a:effectLst/>
            </c:spPr>
          </c:dPt>
          <c:dPt>
            <c:idx val="6"/>
            <c:invertIfNegative val="0"/>
            <c:bubble3D val="0"/>
            <c:spPr>
              <a:solidFill>
                <a:srgbClr val="39B7A4"/>
              </a:solidFill>
              <a:effectLst/>
            </c:spPr>
          </c:dPt>
          <c:dPt>
            <c:idx val="7"/>
            <c:invertIfNegative val="0"/>
            <c:bubble3D val="0"/>
            <c:spPr>
              <a:solidFill>
                <a:srgbClr val="39B7A4"/>
              </a:solidFill>
              <a:effectLst/>
            </c:spPr>
          </c:dPt>
          <c:dPt>
            <c:idx val="8"/>
            <c:invertIfNegative val="0"/>
            <c:bubble3D val="0"/>
            <c:spPr>
              <a:solidFill>
                <a:srgbClr val="39B7A4"/>
              </a:solidFill>
              <a:effectLst/>
            </c:spPr>
          </c:dPt>
          <c:dPt>
            <c:idx val="9"/>
            <c:invertIfNegative val="0"/>
            <c:bubble3D val="0"/>
            <c:spPr>
              <a:solidFill>
                <a:srgbClr val="AFC0C6"/>
              </a:solidFill>
              <a:effectLst/>
            </c:spPr>
          </c:dPt>
          <c:dPt>
            <c:idx val="10"/>
            <c:invertIfNegative val="0"/>
            <c:bubble3D val="0"/>
            <c:spPr>
              <a:solidFill>
                <a:srgbClr val="AFC0C6"/>
              </a:solidFill>
              <a:effectLst/>
            </c:spPr>
          </c:dPt>
          <c:dPt>
            <c:idx val="11"/>
            <c:invertIfNegative val="0"/>
            <c:bubble3D val="0"/>
            <c:spPr>
              <a:solidFill>
                <a:srgbClr val="AFC0C6"/>
              </a:solidFill>
              <a:effectLst/>
            </c:spPr>
          </c:dPt>
          <c:dPt>
            <c:idx val="12"/>
            <c:invertIfNegative val="0"/>
            <c:bubble3D val="0"/>
            <c:spPr>
              <a:solidFill>
                <a:srgbClr val="AFC0C6"/>
              </a:solidFill>
              <a:effectLst/>
            </c:spPr>
          </c:dPt>
          <c:dPt>
            <c:idx val="13"/>
            <c:invertIfNegative val="0"/>
            <c:bubble3D val="0"/>
            <c:spPr>
              <a:solidFill>
                <a:srgbClr val="AFC0C6"/>
              </a:solidFill>
              <a:effectLst/>
            </c:spPr>
          </c:dPt>
          <c:dPt>
            <c:idx val="14"/>
            <c:invertIfNegative val="0"/>
            <c:bubble3D val="0"/>
            <c:spPr>
              <a:solidFill>
                <a:srgbClr val="AFC0C6"/>
              </a:solidFill>
              <a:effectLst/>
            </c:spPr>
          </c:dPt>
          <c:cat>
            <c:multiLvlStrRef>
              <c:f>Sheet1!$A$2:$A$16</c:f>
              <c:multiLvlStrCache>
                <c:ptCount val="15"/>
                <c:lvl>
                  <c:pt idx="0">
                    <c:v>K201</c:v>
                  </c:pt>
                  <c:pt idx="1">
                    <c:v>K102</c:v>
                  </c:pt>
                  <c:pt idx="2">
                    <c:v>K101</c:v>
                  </c:pt>
                  <c:pt idx="3">
                    <c:v>K202</c:v>
                  </c:pt>
                  <c:pt idx="4">
                    <c:v>K301</c:v>
                  </c:pt>
                  <c:pt idx="5">
                    <c:v>K503</c:v>
                  </c:pt>
                  <c:pt idx="6">
                    <c:v>K302</c:v>
                  </c:pt>
                  <c:pt idx="7">
                    <c:v>K103</c:v>
                  </c:pt>
                  <c:pt idx="8">
                    <c:v>K402</c:v>
                  </c:pt>
                  <c:pt idx="9">
                    <c:v>K203</c:v>
                  </c:pt>
                  <c:pt idx="10">
                    <c:v>K401</c:v>
                  </c:pt>
                  <c:pt idx="11">
                    <c:v>K502</c:v>
                  </c:pt>
                  <c:pt idx="12">
                    <c:v>K303</c:v>
                  </c:pt>
                  <c:pt idx="13">
                    <c:v>K403</c:v>
                  </c:pt>
                  <c:pt idx="14">
                    <c:v>K501</c:v>
                  </c:pt>
                </c:lvl>
              </c:multiLvlStrCache>
            </c:multiLvlStrRef>
          </c:cat>
          <c:val>
            <c:numRef>
              <c:f>Sheet1!$B$2:$B$16</c:f>
              <c:numCache>
                <c:formatCode>General</c:formatCode>
                <c:ptCount val="15"/>
                <c:pt idx="0">
                  <c:v>3036075</c:v>
                </c:pt>
                <c:pt idx="1">
                  <c:v>2311212</c:v>
                </c:pt>
                <c:pt idx="2">
                  <c:v>1830238</c:v>
                </c:pt>
                <c:pt idx="3">
                  <c:v>1500554</c:v>
                </c:pt>
                <c:pt idx="4">
                  <c:v>1189409</c:v>
                </c:pt>
                <c:pt idx="5">
                  <c:v>964610</c:v>
                </c:pt>
                <c:pt idx="6">
                  <c:v>748462</c:v>
                </c:pt>
                <c:pt idx="7">
                  <c:v>560583</c:v>
                </c:pt>
                <c:pt idx="8">
                  <c:v>430932</c:v>
                </c:pt>
                <c:pt idx="9">
                  <c:v>298753</c:v>
                </c:pt>
                <c:pt idx="10">
                  <c:v>229464</c:v>
                </c:pt>
                <c:pt idx="11">
                  <c:v>181283</c:v>
                </c:pt>
                <c:pt idx="12">
                  <c:v>119724</c:v>
                </c:pt>
                <c:pt idx="13">
                  <c:v>83930</c:v>
                </c:pt>
                <c:pt idx="14">
                  <c:v>54521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C85"/>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EC"/>
              </a:solidFill>
              <a:prstDash val="solid"/>
              <a:round/>
            </a:ln>
          </c:spPr>
        </c:majorGridlines>
        <c:numFmt formatCode="$#,##0,,&quot;M&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C85"/>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retail planning dashboard built end to end: a Python forecasting pipeline and a React front end that recomputes inventory policy live. Every figure on it is either backtested out of sample or derived from an explicit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failure modes are usually treated separately. They are the same decision, and the quantity that sets it is forecast error, not demand variability.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synthetic and the data-generating process is written out explicitly. That is deliberate: it makes the benchmark comparison checkable rather than decorative.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regularised linear model on known-in-advance features is a deliberate choice, not a limitation: it forecasts every horizon directly and stays interpretable.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fold trains only on data before the fold and scores the 28 days after it. The prediction intervals come from these same residuals, by horizon.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this runs in the browser, so the whole network re-optimises on every slider movement rather than waiting on a batch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Holding cost climbs with the buffer and shortage cost falls. Where the sum bottoms out depends entirely on what a stockout is assumed to cost — so the dashboard makes that assumption a slider rather than burying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Pareto split drives policy: class A earns forecasting effort, class C earns a buffer.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feed exists to close the loop between a daily forecast and an intraday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Heavy, infrequent work runs offline; the interactive part is the part a planner actually turns a dial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Repository and live deployment are both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33"/>
        </a:solidFill>
      </p:bgPr>
    </p:bg>
    <p:spTree>
      <p:nvGrpSpPr>
        <p:cNvPr id="1" name=""/>
        <p:cNvGrpSpPr/>
        <p:nvPr/>
      </p:nvGrpSpPr>
      <p:grpSpPr>
        <a:xfrm>
          <a:off x="0" y="0"/>
          <a:ext cx="0" cy="0"/>
          <a:chOff x="0" y="0"/>
          <a:chExt cx="0" cy="0"/>
        </a:xfrm>
      </p:grpSpPr>
      <p:sp>
        <p:nvSpPr>
          <p:cNvPr id="2" name="Shape 0"/>
          <p:cNvSpPr/>
          <p:nvPr/>
        </p:nvSpPr>
        <p:spPr>
          <a:xfrm>
            <a:off x="8778240" y="-1371600"/>
            <a:ext cx="5120640" cy="5120640"/>
          </a:xfrm>
          <a:prstGeom prst="ellipse">
            <a:avLst/>
          </a:prstGeom>
          <a:solidFill>
            <a:srgbClr val="0F8A7E">
              <a:alpha val="20000"/>
            </a:srgbClr>
          </a:solidFill>
          <a:ln/>
        </p:spPr>
      </p:sp>
      <p:sp>
        <p:nvSpPr>
          <p:cNvPr id="3" name="Shape 1"/>
          <p:cNvSpPr/>
          <p:nvPr/>
        </p:nvSpPr>
        <p:spPr>
          <a:xfrm>
            <a:off x="10241280" y="3291840"/>
            <a:ext cx="3108960" cy="3108960"/>
          </a:xfrm>
          <a:prstGeom prst="ellipse">
            <a:avLst/>
          </a:prstGeom>
          <a:solidFill>
            <a:srgbClr val="39B7A4">
              <a:alpha val="14000"/>
            </a:srgbClr>
          </a:solidFill>
          <a:ln/>
        </p:spPr>
      </p:sp>
      <p:sp>
        <p:nvSpPr>
          <p:cNvPr id="4" name="Text 2"/>
          <p:cNvSpPr txBox="1"/>
          <p:nvPr/>
        </p:nvSpPr>
        <p:spPr>
          <a:xfrm>
            <a:off x="566928" y="1325880"/>
            <a:ext cx="8229600" cy="274320"/>
          </a:xfrm>
          <a:prstGeom prst="rect">
            <a:avLst/>
          </a:prstGeom>
          <a:noFill/>
          <a:ln/>
        </p:spPr>
        <p:txBody>
          <a:bodyPr wrap="square" lIns="0" tIns="0" rIns="0" bIns="0" rtlCol="0" anchor="ctr"/>
          <a:lstStyle/>
          <a:p>
            <a:pPr indent="0" marL="0">
              <a:buNone/>
            </a:pPr>
            <a:r>
              <a:rPr lang="en-US" sz="1200" b="1" spc="200" kern="0" dirty="0">
                <a:solidFill>
                  <a:srgbClr val="39B7A4"/>
                </a:solidFill>
                <a:latin typeface="Calibri" pitchFamily="34" charset="0"/>
                <a:ea typeface="Calibri" pitchFamily="34" charset="-122"/>
                <a:cs typeface="Calibri" pitchFamily="34" charset="-120"/>
              </a:rPr>
              <a:t>SUPPLY CHAIN ANALYTICS · CASE STUDY</a:t>
            </a:r>
            <a:endParaRPr lang="en-US" sz="1200" dirty="0"/>
          </a:p>
        </p:txBody>
      </p:sp>
      <p:sp>
        <p:nvSpPr>
          <p:cNvPr id="5" name="Text 3"/>
          <p:cNvSpPr txBox="1"/>
          <p:nvPr/>
        </p:nvSpPr>
        <p:spPr>
          <a:xfrm>
            <a:off x="566928" y="1737360"/>
            <a:ext cx="8412480" cy="155448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Retail Demand Forecasting</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&amp; Inventory Optimization</a:t>
            </a:r>
            <a:endParaRPr lang="en-US" sz="4000" dirty="0"/>
          </a:p>
        </p:txBody>
      </p:sp>
      <p:sp>
        <p:nvSpPr>
          <p:cNvPr id="6" name="Text 4"/>
          <p:cNvSpPr txBox="1"/>
          <p:nvPr/>
        </p:nvSpPr>
        <p:spPr>
          <a:xfrm>
            <a:off x="566928" y="3429000"/>
            <a:ext cx="7863840" cy="731520"/>
          </a:xfrm>
          <a:prstGeom prst="rect">
            <a:avLst/>
          </a:prstGeom>
          <a:noFill/>
          <a:ln/>
        </p:spPr>
        <p:txBody>
          <a:bodyPr wrap="square" lIns="0" tIns="0" rIns="0" bIns="0" rtlCol="0" anchor="ctr"/>
          <a:lstStyle/>
          <a:p>
            <a:pPr indent="0" marL="0">
              <a:lnSpc>
                <a:spcPts val="2100"/>
              </a:lnSpc>
              <a:buNone/>
            </a:pPr>
            <a:r>
              <a:rPr lang="en-US" sz="1450" dirty="0">
                <a:solidFill>
                  <a:srgbClr val="B9CBD1"/>
                </a:solidFill>
                <a:latin typeface="Calibri" pitchFamily="34" charset="0"/>
                <a:ea typeface="Calibri" pitchFamily="34" charset="-122"/>
                <a:cs typeface="Calibri" pitchFamily="34" charset="-120"/>
              </a:rPr>
              <a:t>A forecast you can audit, and an inventory policy you can act on — 90 store × SKU lines, backtested out of sample and re-optimised live in the browser.</a:t>
            </a:r>
            <a:endParaRPr lang="en-US" sz="1450" dirty="0"/>
          </a:p>
        </p:txBody>
      </p:sp>
      <p:sp>
        <p:nvSpPr>
          <p:cNvPr id="7" name="Text 5"/>
          <p:cNvSpPr txBox="1"/>
          <p:nvPr/>
        </p:nvSpPr>
        <p:spPr>
          <a:xfrm>
            <a:off x="566928" y="4407408"/>
            <a:ext cx="2560320" cy="384048"/>
          </a:xfrm>
          <a:prstGeom prst="rect">
            <a:avLst/>
          </a:prstGeom>
          <a:noFill/>
          <a:ln/>
        </p:spPr>
        <p:txBody>
          <a:bodyPr wrap="square" lIns="0" tIns="0" rIns="0" bIns="0" rtlCol="0" anchor="ctr"/>
          <a:lstStyle/>
          <a:p>
            <a:pPr indent="0" marL="0">
              <a:buNone/>
            </a:pPr>
            <a:r>
              <a:rPr lang="en-US" sz="2100" b="1" dirty="0">
                <a:solidFill>
                  <a:srgbClr val="39B7A4"/>
                </a:solidFill>
                <a:latin typeface="Cambria" pitchFamily="34" charset="0"/>
                <a:ea typeface="Cambria" pitchFamily="34" charset="-122"/>
                <a:cs typeface="Cambria" pitchFamily="34" charset="-120"/>
              </a:rPr>
              <a:t>29.4% WAPE</a:t>
            </a:r>
            <a:endParaRPr lang="en-US" sz="2100" dirty="0"/>
          </a:p>
        </p:txBody>
      </p:sp>
      <p:sp>
        <p:nvSpPr>
          <p:cNvPr id="8" name="Text 6"/>
          <p:cNvSpPr txBox="1"/>
          <p:nvPr/>
        </p:nvSpPr>
        <p:spPr>
          <a:xfrm>
            <a:off x="566928" y="4773168"/>
            <a:ext cx="2560320" cy="237744"/>
          </a:xfrm>
          <a:prstGeom prst="rect">
            <a:avLst/>
          </a:prstGeom>
          <a:noFill/>
          <a:ln/>
        </p:spPr>
        <p:txBody>
          <a:bodyPr wrap="square" lIns="0" tIns="0" rIns="0" bIns="0" rtlCol="0" anchor="ctr"/>
          <a:lstStyle/>
          <a:p>
            <a:pPr indent="0" marL="0">
              <a:buNone/>
            </a:pPr>
            <a:r>
              <a:rPr lang="en-US" sz="1150" dirty="0">
                <a:solidFill>
                  <a:srgbClr val="89A2AA"/>
                </a:solidFill>
                <a:latin typeface="Calibri" pitchFamily="34" charset="0"/>
                <a:ea typeface="Calibri" pitchFamily="34" charset="-122"/>
                <a:cs typeface="Calibri" pitchFamily="34" charset="-120"/>
              </a:rPr>
              <a:t>out of sample</a:t>
            </a:r>
            <a:endParaRPr lang="en-US" sz="1150" dirty="0"/>
          </a:p>
        </p:txBody>
      </p:sp>
      <p:sp>
        <p:nvSpPr>
          <p:cNvPr id="9" name="Text 7"/>
          <p:cNvSpPr txBox="1"/>
          <p:nvPr/>
        </p:nvSpPr>
        <p:spPr>
          <a:xfrm>
            <a:off x="3310128" y="4407408"/>
            <a:ext cx="2560320" cy="384048"/>
          </a:xfrm>
          <a:prstGeom prst="rect">
            <a:avLst/>
          </a:prstGeom>
          <a:noFill/>
          <a:ln/>
        </p:spPr>
        <p:txBody>
          <a:bodyPr wrap="square" lIns="0" tIns="0" rIns="0" bIns="0" rtlCol="0" anchor="ctr"/>
          <a:lstStyle/>
          <a:p>
            <a:pPr indent="0" marL="0">
              <a:buNone/>
            </a:pPr>
            <a:r>
              <a:rPr lang="en-US" sz="2100" b="1" dirty="0">
                <a:solidFill>
                  <a:srgbClr val="39B7A4"/>
                </a:solidFill>
                <a:latin typeface="Cambria" pitchFamily="34" charset="0"/>
                <a:ea typeface="Cambria" pitchFamily="34" charset="-122"/>
                <a:cs typeface="Cambria" pitchFamily="34" charset="-120"/>
              </a:rPr>
              <a:t>23% better</a:t>
            </a:r>
            <a:endParaRPr lang="en-US" sz="2100" dirty="0"/>
          </a:p>
        </p:txBody>
      </p:sp>
      <p:sp>
        <p:nvSpPr>
          <p:cNvPr id="10" name="Text 8"/>
          <p:cNvSpPr txBox="1"/>
          <p:nvPr/>
        </p:nvSpPr>
        <p:spPr>
          <a:xfrm>
            <a:off x="3310128" y="4773168"/>
            <a:ext cx="2560320" cy="237744"/>
          </a:xfrm>
          <a:prstGeom prst="rect">
            <a:avLst/>
          </a:prstGeom>
          <a:noFill/>
          <a:ln/>
        </p:spPr>
        <p:txBody>
          <a:bodyPr wrap="square" lIns="0" tIns="0" rIns="0" bIns="0" rtlCol="0" anchor="ctr"/>
          <a:lstStyle/>
          <a:p>
            <a:pPr indent="0" marL="0">
              <a:buNone/>
            </a:pPr>
            <a:r>
              <a:rPr lang="en-US" sz="1150" dirty="0">
                <a:solidFill>
                  <a:srgbClr val="89A2AA"/>
                </a:solidFill>
                <a:latin typeface="Calibri" pitchFamily="34" charset="0"/>
                <a:ea typeface="Calibri" pitchFamily="34" charset="-122"/>
                <a:cs typeface="Calibri" pitchFamily="34" charset="-120"/>
              </a:rPr>
              <a:t>than seasonal naive</a:t>
            </a:r>
            <a:endParaRPr lang="en-US" sz="1150" dirty="0"/>
          </a:p>
        </p:txBody>
      </p:sp>
      <p:sp>
        <p:nvSpPr>
          <p:cNvPr id="11" name="Text 9"/>
          <p:cNvSpPr txBox="1"/>
          <p:nvPr/>
        </p:nvSpPr>
        <p:spPr>
          <a:xfrm>
            <a:off x="6053328" y="4407408"/>
            <a:ext cx="2560320" cy="384048"/>
          </a:xfrm>
          <a:prstGeom prst="rect">
            <a:avLst/>
          </a:prstGeom>
          <a:noFill/>
          <a:ln/>
        </p:spPr>
        <p:txBody>
          <a:bodyPr wrap="square" lIns="0" tIns="0" rIns="0" bIns="0" rtlCol="0" anchor="ctr"/>
          <a:lstStyle/>
          <a:p>
            <a:pPr indent="0" marL="0">
              <a:buNone/>
            </a:pPr>
            <a:r>
              <a:rPr lang="en-US" sz="2100" b="1" dirty="0">
                <a:solidFill>
                  <a:srgbClr val="39B7A4"/>
                </a:solidFill>
                <a:latin typeface="Cambria" pitchFamily="34" charset="0"/>
                <a:ea typeface="Cambria" pitchFamily="34" charset="-122"/>
                <a:cs typeface="Cambria" pitchFamily="34" charset="-120"/>
              </a:rPr>
              <a:t>66,150 rows</a:t>
            </a:r>
            <a:endParaRPr lang="en-US" sz="2100" dirty="0"/>
          </a:p>
        </p:txBody>
      </p:sp>
      <p:sp>
        <p:nvSpPr>
          <p:cNvPr id="12" name="Text 10"/>
          <p:cNvSpPr txBox="1"/>
          <p:nvPr/>
        </p:nvSpPr>
        <p:spPr>
          <a:xfrm>
            <a:off x="6053328" y="4773168"/>
            <a:ext cx="2560320" cy="237744"/>
          </a:xfrm>
          <a:prstGeom prst="rect">
            <a:avLst/>
          </a:prstGeom>
          <a:noFill/>
          <a:ln/>
        </p:spPr>
        <p:txBody>
          <a:bodyPr wrap="square" lIns="0" tIns="0" rIns="0" bIns="0" rtlCol="0" anchor="ctr"/>
          <a:lstStyle/>
          <a:p>
            <a:pPr indent="0" marL="0">
              <a:buNone/>
            </a:pPr>
            <a:r>
              <a:rPr lang="en-US" sz="1150" dirty="0">
                <a:solidFill>
                  <a:srgbClr val="89A2AA"/>
                </a:solidFill>
                <a:latin typeface="Calibri" pitchFamily="34" charset="0"/>
                <a:ea typeface="Calibri" pitchFamily="34" charset="-122"/>
                <a:cs typeface="Calibri" pitchFamily="34" charset="-120"/>
              </a:rPr>
              <a:t>of daily history</a:t>
            </a:r>
            <a:endParaRPr lang="en-US" sz="1150" dirty="0"/>
          </a:p>
        </p:txBody>
      </p:sp>
      <p:sp>
        <p:nvSpPr>
          <p:cNvPr id="13" name="Text 11"/>
          <p:cNvSpPr txBox="1"/>
          <p:nvPr/>
        </p:nvSpPr>
        <p:spPr>
          <a:xfrm>
            <a:off x="566928" y="5943600"/>
            <a:ext cx="11064240" cy="292608"/>
          </a:xfrm>
          <a:prstGeom prst="rect">
            <a:avLst/>
          </a:prstGeom>
          <a:noFill/>
          <a:ln/>
        </p:spPr>
        <p:txBody>
          <a:bodyPr wrap="square" lIns="0" tIns="0" rIns="0" bIns="0" rtlCol="0" anchor="ctr"/>
          <a:lstStyle/>
          <a:p>
            <a:pPr indent="0" marL="0">
              <a:buNone/>
            </a:pPr>
            <a:r>
              <a:rPr lang="en-US" sz="1200" dirty="0">
                <a:solidFill>
                  <a:srgbClr val="6F8992"/>
                </a:solidFill>
                <a:latin typeface="Calibri" pitchFamily="34" charset="0"/>
                <a:ea typeface="Calibri" pitchFamily="34" charset="-122"/>
                <a:cs typeface="Calibri" pitchFamily="34" charset="-120"/>
              </a:rPr>
              <a:t>Live  </a:t>
            </a:r>
            <a:pPr indent="0" marL="0">
              <a:buNone/>
            </a:pPr>
            <a:r>
              <a:rPr lang="en-US" sz="1200" b="1" dirty="0">
                <a:solidFill>
                  <a:srgbClr val="FFFFFF"/>
                </a:solidFill>
                <a:latin typeface="Calibri" pitchFamily="34" charset="0"/>
                <a:ea typeface="Calibri" pitchFamily="34" charset="-122"/>
                <a:cs typeface="Calibri" pitchFamily="34" charset="-120"/>
              </a:rPr>
              <a:t>retail-demand-forecasting.netlify.app</a:t>
            </a:r>
            <a:pPr indent="0" marL="0">
              <a:buNone/>
            </a:pPr>
            <a:r>
              <a:rPr lang="en-US" sz="1200" dirty="0">
                <a:solidFill>
                  <a:srgbClr val="6F8992"/>
                </a:solidFill>
                <a:latin typeface="Calibri" pitchFamily="34" charset="0"/>
                <a:ea typeface="Calibri" pitchFamily="34" charset="-122"/>
                <a:cs typeface="Calibri" pitchFamily="34" charset="-120"/>
              </a:rPr>
              <a:t>     Code  </a:t>
            </a:r>
            <a:pPr indent="0" marL="0">
              <a:buNone/>
            </a:pPr>
            <a:r>
              <a:rPr lang="en-US" sz="1200" b="1" dirty="0">
                <a:solidFill>
                  <a:srgbClr val="FFFFFF"/>
                </a:solidFill>
                <a:latin typeface="Calibri" pitchFamily="34" charset="0"/>
                <a:ea typeface="Calibri" pitchFamily="34" charset="-122"/>
                <a:cs typeface="Calibri" pitchFamily="34" charset="-120"/>
              </a:rPr>
              <a:t>github.com/Arnavmishra002/retail-demand-forecasting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60" kern="0" dirty="0">
                <a:solidFill>
                  <a:srgbClr val="0F8A7E"/>
                </a:solidFill>
                <a:latin typeface="Calibri" pitchFamily="34" charset="0"/>
                <a:ea typeface="Calibri" pitchFamily="34" charset="-122"/>
                <a:cs typeface="Calibri" pitchFamily="34" charset="-120"/>
              </a:rPr>
              <a:t>THE PLANNING PROBLEM</a:t>
            </a:r>
            <a:endParaRPr lang="en-US" sz="1150" dirty="0"/>
          </a:p>
        </p:txBody>
      </p:sp>
      <p:sp>
        <p:nvSpPr>
          <p:cNvPr id="3" name="Text 1"/>
          <p:cNvSpPr txBox="1"/>
          <p:nvPr/>
        </p:nvSpPr>
        <p:spPr>
          <a:xfrm>
            <a:off x="566928" y="621792"/>
            <a:ext cx="11064240" cy="566928"/>
          </a:xfrm>
          <a:prstGeom prst="rect">
            <a:avLst/>
          </a:prstGeom>
          <a:noFill/>
          <a:ln/>
        </p:spPr>
        <p:txBody>
          <a:bodyPr wrap="square" lIns="0" tIns="0" rIns="0" bIns="0" rtlCol="0" anchor="ctr"/>
          <a:lstStyle/>
          <a:p>
            <a:pPr indent="0" marL="0">
              <a:buNone/>
            </a:pPr>
            <a:r>
              <a:rPr lang="en-US" sz="3200" b="1" dirty="0">
                <a:solidFill>
                  <a:srgbClr val="0E2A33"/>
                </a:solidFill>
                <a:latin typeface="Cambria" pitchFamily="34" charset="0"/>
                <a:ea typeface="Cambria" pitchFamily="34" charset="-122"/>
                <a:cs typeface="Cambria" pitchFamily="34" charset="-120"/>
              </a:rPr>
              <a:t>Two ways to be wrong, one number behind both</a:t>
            </a:r>
            <a:endParaRPr lang="en-US" sz="3200" dirty="0"/>
          </a:p>
        </p:txBody>
      </p:sp>
      <p:sp>
        <p:nvSpPr>
          <p:cNvPr id="4" name="Shape 2"/>
          <p:cNvSpPr/>
          <p:nvPr/>
        </p:nvSpPr>
        <p:spPr>
          <a:xfrm>
            <a:off x="566928" y="1536192"/>
            <a:ext cx="384048" cy="384048"/>
          </a:xfrm>
          <a:prstGeom prst="ellipse">
            <a:avLst/>
          </a:prstGeom>
          <a:solidFill>
            <a:srgbClr val="0F8A7E"/>
          </a:solidFill>
          <a:ln/>
        </p:spPr>
      </p:sp>
      <p:sp>
        <p:nvSpPr>
          <p:cNvPr id="5" name="Text 3"/>
          <p:cNvSpPr txBox="1"/>
          <p:nvPr/>
        </p:nvSpPr>
        <p:spPr>
          <a:xfrm>
            <a:off x="566928"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133856" y="1508760"/>
            <a:ext cx="4828032"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Buy too little</a:t>
            </a:r>
            <a:endParaRPr lang="en-US" sz="1500" dirty="0"/>
          </a:p>
        </p:txBody>
      </p:sp>
      <p:sp>
        <p:nvSpPr>
          <p:cNvPr id="7" name="Text 5"/>
          <p:cNvSpPr txBox="1"/>
          <p:nvPr/>
        </p:nvSpPr>
        <p:spPr>
          <a:xfrm>
            <a:off x="1133856" y="1801368"/>
            <a:ext cx="4828032" cy="786384"/>
          </a:xfrm>
          <a:prstGeom prst="rect">
            <a:avLst/>
          </a:prstGeom>
          <a:noFill/>
          <a:ln/>
        </p:spPr>
        <p:txBody>
          <a:bodyPr wrap="square" lIns="0" tIns="0" rIns="0" bIns="0" rtlCol="0" anchor="ctr"/>
          <a:lstStyle/>
          <a:p>
            <a:pPr indent="0" marL="0">
              <a:lnSpc>
                <a:spcPts val="1600"/>
              </a:lnSpc>
              <a:buNone/>
            </a:pPr>
            <a:r>
              <a:rPr lang="en-US" sz="1250" dirty="0">
                <a:solidFill>
                  <a:srgbClr val="6B7C85"/>
                </a:solidFill>
                <a:latin typeface="Calibri" pitchFamily="34" charset="0"/>
                <a:ea typeface="Calibri" pitchFamily="34" charset="-122"/>
                <a:cs typeface="Calibri" pitchFamily="34" charset="-120"/>
              </a:rPr>
              <a:t>Demand arrives, the shelf is empty, the margin walks out of the store. A lost sale leaves no trace in the sales history that produced the forecast.</a:t>
            </a:r>
            <a:endParaRPr lang="en-US" sz="1250" dirty="0"/>
          </a:p>
        </p:txBody>
      </p:sp>
      <p:sp>
        <p:nvSpPr>
          <p:cNvPr id="8" name="Shape 6"/>
          <p:cNvSpPr/>
          <p:nvPr/>
        </p:nvSpPr>
        <p:spPr>
          <a:xfrm>
            <a:off x="566928" y="2788920"/>
            <a:ext cx="384048" cy="384048"/>
          </a:xfrm>
          <a:prstGeom prst="ellipse">
            <a:avLst/>
          </a:prstGeom>
          <a:solidFill>
            <a:srgbClr val="0F8A7E"/>
          </a:solidFill>
          <a:ln/>
        </p:spPr>
      </p:sp>
      <p:sp>
        <p:nvSpPr>
          <p:cNvPr id="9" name="Text 7"/>
          <p:cNvSpPr txBox="1"/>
          <p:nvPr/>
        </p:nvSpPr>
        <p:spPr>
          <a:xfrm>
            <a:off x="566928" y="2788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133856" y="2761488"/>
            <a:ext cx="4828032"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Buy too much</a:t>
            </a:r>
            <a:endParaRPr lang="en-US" sz="1500" dirty="0"/>
          </a:p>
        </p:txBody>
      </p:sp>
      <p:sp>
        <p:nvSpPr>
          <p:cNvPr id="11" name="Text 9"/>
          <p:cNvSpPr txBox="1"/>
          <p:nvPr/>
        </p:nvSpPr>
        <p:spPr>
          <a:xfrm>
            <a:off x="1133856" y="3054096"/>
            <a:ext cx="4828032" cy="786384"/>
          </a:xfrm>
          <a:prstGeom prst="rect">
            <a:avLst/>
          </a:prstGeom>
          <a:noFill/>
          <a:ln/>
        </p:spPr>
        <p:txBody>
          <a:bodyPr wrap="square" lIns="0" tIns="0" rIns="0" bIns="0" rtlCol="0" anchor="ctr"/>
          <a:lstStyle/>
          <a:p>
            <a:pPr indent="0" marL="0">
              <a:lnSpc>
                <a:spcPts val="1600"/>
              </a:lnSpc>
              <a:buNone/>
            </a:pPr>
            <a:r>
              <a:rPr lang="en-US" sz="1250" dirty="0">
                <a:solidFill>
                  <a:srgbClr val="6B7C85"/>
                </a:solidFill>
                <a:latin typeface="Calibri" pitchFamily="34" charset="0"/>
                <a:ea typeface="Calibri" pitchFamily="34" charset="-122"/>
                <a:cs typeface="Calibri" pitchFamily="34" charset="-120"/>
              </a:rPr>
              <a:t>Working capital sits in a back room earning nothing, at an annual carrying cost of 18–28% of unit cost before anything is marked down.</a:t>
            </a:r>
            <a:endParaRPr lang="en-US" sz="1250" dirty="0"/>
          </a:p>
        </p:txBody>
      </p:sp>
      <p:sp>
        <p:nvSpPr>
          <p:cNvPr id="12" name="Shape 10"/>
          <p:cNvSpPr/>
          <p:nvPr/>
        </p:nvSpPr>
        <p:spPr>
          <a:xfrm>
            <a:off x="566928" y="4041648"/>
            <a:ext cx="384048" cy="384048"/>
          </a:xfrm>
          <a:prstGeom prst="ellipse">
            <a:avLst/>
          </a:prstGeom>
          <a:solidFill>
            <a:srgbClr val="0F8A7E"/>
          </a:solidFill>
          <a:ln/>
        </p:spPr>
      </p:sp>
      <p:sp>
        <p:nvSpPr>
          <p:cNvPr id="13" name="Text 11"/>
          <p:cNvSpPr txBox="1"/>
          <p:nvPr/>
        </p:nvSpPr>
        <p:spPr>
          <a:xfrm>
            <a:off x="566928" y="4041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133856" y="4014216"/>
            <a:ext cx="4828032"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Split the difference badly</a:t>
            </a:r>
            <a:endParaRPr lang="en-US" sz="1500" dirty="0"/>
          </a:p>
        </p:txBody>
      </p:sp>
      <p:sp>
        <p:nvSpPr>
          <p:cNvPr id="15" name="Text 13"/>
          <p:cNvSpPr txBox="1"/>
          <p:nvPr/>
        </p:nvSpPr>
        <p:spPr>
          <a:xfrm>
            <a:off x="1133856" y="4306824"/>
            <a:ext cx="4828032" cy="786384"/>
          </a:xfrm>
          <a:prstGeom prst="rect">
            <a:avLst/>
          </a:prstGeom>
          <a:noFill/>
          <a:ln/>
        </p:spPr>
        <p:txBody>
          <a:bodyPr wrap="square" lIns="0" tIns="0" rIns="0" bIns="0" rtlCol="0" anchor="ctr"/>
          <a:lstStyle/>
          <a:p>
            <a:pPr indent="0" marL="0">
              <a:lnSpc>
                <a:spcPts val="1600"/>
              </a:lnSpc>
              <a:buNone/>
            </a:pPr>
            <a:r>
              <a:rPr lang="en-US" sz="1250" dirty="0">
                <a:solidFill>
                  <a:srgbClr val="6B7C85"/>
                </a:solidFill>
                <a:latin typeface="Calibri" pitchFamily="34" charset="0"/>
                <a:ea typeface="Calibri" pitchFamily="34" charset="-122"/>
                <a:cs typeface="Calibri" pitchFamily="34" charset="-120"/>
              </a:rPr>
              <a:t>A blanket service target across the whole range over-buffers the predictable lines and still under-buffers the volatile ones.</a:t>
            </a:r>
            <a:endParaRPr lang="en-US" sz="1250" dirty="0"/>
          </a:p>
        </p:txBody>
      </p:sp>
      <p:sp>
        <p:nvSpPr>
          <p:cNvPr id="16" name="Shape 14"/>
          <p:cNvSpPr/>
          <p:nvPr/>
        </p:nvSpPr>
        <p:spPr>
          <a:xfrm>
            <a:off x="6492240" y="1481328"/>
            <a:ext cx="5120640" cy="3931920"/>
          </a:xfrm>
          <a:prstGeom prst="roundRect">
            <a:avLst>
              <a:gd name="adj" fmla="val 1395"/>
            </a:avLst>
          </a:prstGeom>
          <a:solidFill>
            <a:srgbClr val="0E2A33"/>
          </a:solidFill>
          <a:ln w="9525">
            <a:solidFill>
              <a:srgbClr val="0E2A33"/>
            </a:solidFill>
            <a:prstDash val="solid"/>
          </a:ln>
          <a:effectLst>
            <a:outerShdw sx="100000" sy="100000" kx="0" ky="0" algn="bl" rotWithShape="0" blurRad="127000" dist="25400" dir="5400000">
              <a:srgbClr val="9FB0B7">
                <a:alpha val="32000"/>
              </a:srgbClr>
            </a:outerShdw>
          </a:effectLst>
        </p:spPr>
      </p:sp>
      <p:sp>
        <p:nvSpPr>
          <p:cNvPr id="17" name="Text 15"/>
          <p:cNvSpPr txBox="1"/>
          <p:nvPr/>
        </p:nvSpPr>
        <p:spPr>
          <a:xfrm>
            <a:off x="6812280" y="1783080"/>
            <a:ext cx="4572000" cy="237744"/>
          </a:xfrm>
          <a:prstGeom prst="rect">
            <a:avLst/>
          </a:prstGeom>
          <a:noFill/>
          <a:ln/>
        </p:spPr>
        <p:txBody>
          <a:bodyPr wrap="square" lIns="0" tIns="0" rIns="0" bIns="0" rtlCol="0" anchor="ctr"/>
          <a:lstStyle/>
          <a:p>
            <a:pPr indent="0" marL="0">
              <a:buNone/>
            </a:pPr>
            <a:r>
              <a:rPr lang="en-US" sz="1100" b="1" spc="160" kern="0" dirty="0">
                <a:solidFill>
                  <a:srgbClr val="39B7A4"/>
                </a:solidFill>
                <a:latin typeface="Calibri" pitchFamily="34" charset="0"/>
                <a:ea typeface="Calibri" pitchFamily="34" charset="-122"/>
                <a:cs typeface="Calibri" pitchFamily="34" charset="-120"/>
              </a:rPr>
              <a:t>THE LEVER</a:t>
            </a:r>
            <a:endParaRPr lang="en-US" sz="1100" dirty="0"/>
          </a:p>
        </p:txBody>
      </p:sp>
      <p:sp>
        <p:nvSpPr>
          <p:cNvPr id="18" name="Text 16"/>
          <p:cNvSpPr txBox="1"/>
          <p:nvPr/>
        </p:nvSpPr>
        <p:spPr>
          <a:xfrm>
            <a:off x="6812280" y="2057400"/>
            <a:ext cx="4572000" cy="822960"/>
          </a:xfrm>
          <a:prstGeom prst="rect">
            <a:avLst/>
          </a:prstGeom>
          <a:noFill/>
          <a:ln/>
        </p:spPr>
        <p:txBody>
          <a:bodyPr wrap="square" lIns="0" tIns="0" rIns="0" bIns="0" rtlCol="0" anchor="ctr"/>
          <a:lstStyle/>
          <a:p>
            <a:pPr indent="0" marL="0">
              <a:buNone/>
            </a:pPr>
            <a:r>
              <a:rPr lang="en-US" sz="5800" b="1" dirty="0">
                <a:solidFill>
                  <a:srgbClr val="FFFFFF"/>
                </a:solidFill>
                <a:latin typeface="Cambria" pitchFamily="34" charset="0"/>
                <a:ea typeface="Cambria" pitchFamily="34" charset="-122"/>
                <a:cs typeface="Cambria" pitchFamily="34" charset="-120"/>
              </a:rPr>
              <a:t>σ</a:t>
            </a:r>
            <a:endParaRPr lang="en-US" sz="5800" dirty="0"/>
          </a:p>
        </p:txBody>
      </p:sp>
      <p:sp>
        <p:nvSpPr>
          <p:cNvPr id="19" name="Text 17"/>
          <p:cNvSpPr txBox="1"/>
          <p:nvPr/>
        </p:nvSpPr>
        <p:spPr>
          <a:xfrm>
            <a:off x="6812280" y="2926080"/>
            <a:ext cx="4480560" cy="548640"/>
          </a:xfrm>
          <a:prstGeom prst="rect">
            <a:avLst/>
          </a:prstGeom>
          <a:noFill/>
          <a:ln/>
        </p:spPr>
        <p:txBody>
          <a:bodyPr wrap="square" lIns="0" tIns="0" rIns="0" bIns="0" rtlCol="0" anchor="ctr"/>
          <a:lstStyle/>
          <a:p>
            <a:pPr indent="0" marL="0">
              <a:lnSpc>
                <a:spcPts val="2000"/>
              </a:lnSpc>
              <a:buNone/>
            </a:pPr>
            <a:r>
              <a:rPr lang="en-US" sz="1400" b="1" dirty="0">
                <a:solidFill>
                  <a:srgbClr val="FFFFFF"/>
                </a:solidFill>
                <a:latin typeface="Calibri" pitchFamily="34" charset="0"/>
                <a:ea typeface="Calibri" pitchFamily="34" charset="-122"/>
                <a:cs typeface="Calibri" pitchFamily="34" charset="-120"/>
              </a:rPr>
              <a:t>Safety stock is set by forecast error, not by how variable demand looks.</a:t>
            </a:r>
            <a:endParaRPr lang="en-US" sz="1400" dirty="0"/>
          </a:p>
        </p:txBody>
      </p:sp>
      <p:sp>
        <p:nvSpPr>
          <p:cNvPr id="20" name="Text 18"/>
          <p:cNvSpPr txBox="1"/>
          <p:nvPr/>
        </p:nvSpPr>
        <p:spPr>
          <a:xfrm>
            <a:off x="6812280" y="3584448"/>
            <a:ext cx="4480560" cy="1554480"/>
          </a:xfrm>
          <a:prstGeom prst="rect">
            <a:avLst/>
          </a:prstGeom>
          <a:noFill/>
          <a:ln/>
        </p:spPr>
        <p:txBody>
          <a:bodyPr wrap="square" lIns="0" tIns="0" rIns="0" bIns="0" rtlCol="0" anchor="ctr"/>
          <a:lstStyle/>
          <a:p>
            <a:pPr indent="0" marL="0">
              <a:lnSpc>
                <a:spcPts val="1800"/>
              </a:lnSpc>
              <a:buNone/>
            </a:pPr>
            <a:r>
              <a:rPr lang="en-US" sz="1250" dirty="0">
                <a:solidFill>
                  <a:srgbClr val="A9BDC4"/>
                </a:solidFill>
                <a:latin typeface="Calibri" pitchFamily="34" charset="0"/>
                <a:ea typeface="Calibri" pitchFamily="34" charset="-122"/>
                <a:cs typeface="Calibri" pitchFamily="34" charset="-120"/>
              </a:rPr>
              <a:t>Sizing a buffer from the standard deviation of historical demand charges the business for seasonality and promotions the planner already knew about. Every buffer here is sized from the residuals of an out-of-sample backtest — what the model genuinely could not predict.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60" kern="0" dirty="0">
                <a:solidFill>
                  <a:srgbClr val="0F8A7E"/>
                </a:solidFill>
                <a:latin typeface="Calibri" pitchFamily="34" charset="0"/>
                <a:ea typeface="Calibri" pitchFamily="34" charset="-122"/>
                <a:cs typeface="Calibri" pitchFamily="34" charset="-120"/>
              </a:rPr>
              <a:t>DATA FOUNDATION</a:t>
            </a:r>
            <a:endParaRPr lang="en-US" sz="1150" dirty="0"/>
          </a:p>
        </p:txBody>
      </p:sp>
      <p:sp>
        <p:nvSpPr>
          <p:cNvPr id="3" name="Text 1"/>
          <p:cNvSpPr txBox="1"/>
          <p:nvPr/>
        </p:nvSpPr>
        <p:spPr>
          <a:xfrm>
            <a:off x="566928" y="621792"/>
            <a:ext cx="11064240" cy="566928"/>
          </a:xfrm>
          <a:prstGeom prst="rect">
            <a:avLst/>
          </a:prstGeom>
          <a:noFill/>
          <a:ln/>
        </p:spPr>
        <p:txBody>
          <a:bodyPr wrap="square" lIns="0" tIns="0" rIns="0" bIns="0" rtlCol="0" anchor="ctr"/>
          <a:lstStyle/>
          <a:p>
            <a:pPr indent="0" marL="0">
              <a:buNone/>
            </a:pPr>
            <a:r>
              <a:rPr lang="en-US" sz="3200" b="1" dirty="0">
                <a:solidFill>
                  <a:srgbClr val="0E2A33"/>
                </a:solidFill>
                <a:latin typeface="Cambria" pitchFamily="34" charset="0"/>
                <a:ea typeface="Cambria" pitchFamily="34" charset="-122"/>
                <a:cs typeface="Cambria" pitchFamily="34" charset="-120"/>
              </a:rPr>
              <a:t>A panel with a known signal, so the accuracy claim means something</a:t>
            </a:r>
            <a:endParaRPr lang="en-US" sz="3200" dirty="0"/>
          </a:p>
        </p:txBody>
      </p:sp>
      <p:sp>
        <p:nvSpPr>
          <p:cNvPr id="4" name="Shape 2"/>
          <p:cNvSpPr/>
          <p:nvPr/>
        </p:nvSpPr>
        <p:spPr>
          <a:xfrm>
            <a:off x="566928" y="1481328"/>
            <a:ext cx="2578608" cy="1463040"/>
          </a:xfrm>
          <a:prstGeom prst="roundRect">
            <a:avLst>
              <a:gd name="adj" fmla="val 3750"/>
            </a:avLst>
          </a:prstGeom>
          <a:solidFill>
            <a:srgbClr val="F1F5F6"/>
          </a:solidFill>
          <a:ln w="9525">
            <a:solidFill>
              <a:srgbClr val="E2E9EB"/>
            </a:solidFill>
            <a:prstDash val="solid"/>
          </a:ln>
          <a:effectLst>
            <a:outerShdw sx="100000" sy="100000" kx="0" ky="0" algn="bl" rotWithShape="0" blurRad="127000" dist="25400" dir="5400000">
              <a:srgbClr val="9FB0B7">
                <a:alpha val="32000"/>
              </a:srgbClr>
            </a:outerShdw>
          </a:effectLst>
        </p:spPr>
      </p:sp>
      <p:sp>
        <p:nvSpPr>
          <p:cNvPr id="5" name="Text 3"/>
          <p:cNvSpPr txBox="1"/>
          <p:nvPr/>
        </p:nvSpPr>
        <p:spPr>
          <a:xfrm>
            <a:off x="804672" y="1664208"/>
            <a:ext cx="2139696" cy="566928"/>
          </a:xfrm>
          <a:prstGeom prst="rect">
            <a:avLst/>
          </a:prstGeom>
          <a:noFill/>
          <a:ln/>
        </p:spPr>
        <p:txBody>
          <a:bodyPr wrap="square" lIns="0" tIns="0" rIns="0" bIns="0" rtlCol="0" anchor="ctr"/>
          <a:lstStyle/>
          <a:p>
            <a:pPr indent="0" marL="0">
              <a:buNone/>
            </a:pPr>
            <a:r>
              <a:rPr lang="en-US" sz="3400" b="1" dirty="0">
                <a:solidFill>
                  <a:srgbClr val="0E2A33"/>
                </a:solidFill>
                <a:latin typeface="Cambria" pitchFamily="34" charset="0"/>
                <a:ea typeface="Cambria" pitchFamily="34" charset="-122"/>
                <a:cs typeface="Cambria" pitchFamily="34" charset="-120"/>
              </a:rPr>
              <a:t>6 × 15</a:t>
            </a:r>
            <a:endParaRPr lang="en-US" sz="3400" dirty="0"/>
          </a:p>
        </p:txBody>
      </p:sp>
      <p:sp>
        <p:nvSpPr>
          <p:cNvPr id="6" name="Text 4"/>
          <p:cNvSpPr txBox="1"/>
          <p:nvPr/>
        </p:nvSpPr>
        <p:spPr>
          <a:xfrm>
            <a:off x="804672" y="2212848"/>
            <a:ext cx="2139696" cy="219456"/>
          </a:xfrm>
          <a:prstGeom prst="rect">
            <a:avLst/>
          </a:prstGeom>
          <a:noFill/>
          <a:ln/>
        </p:spPr>
        <p:txBody>
          <a:bodyPr wrap="square" lIns="0" tIns="0" rIns="0" bIns="0" rtlCol="0" anchor="ctr"/>
          <a:lstStyle/>
          <a:p>
            <a:pPr indent="0" marL="0">
              <a:buNone/>
            </a:pPr>
            <a:r>
              <a:rPr lang="en-US" sz="1050" b="1" spc="110" kern="0" dirty="0">
                <a:solidFill>
                  <a:srgbClr val="6B7C85"/>
                </a:solidFill>
                <a:latin typeface="Calibri" pitchFamily="34" charset="0"/>
                <a:ea typeface="Calibri" pitchFamily="34" charset="-122"/>
                <a:cs typeface="Calibri" pitchFamily="34" charset="-120"/>
              </a:rPr>
              <a:t>STORES × SKUS</a:t>
            </a:r>
            <a:endParaRPr lang="en-US" sz="1050" dirty="0"/>
          </a:p>
        </p:txBody>
      </p:sp>
      <p:sp>
        <p:nvSpPr>
          <p:cNvPr id="7" name="Text 5"/>
          <p:cNvSpPr txBox="1"/>
          <p:nvPr/>
        </p:nvSpPr>
        <p:spPr>
          <a:xfrm>
            <a:off x="804672" y="2432304"/>
            <a:ext cx="2139696" cy="457200"/>
          </a:xfrm>
          <a:prstGeom prst="rect">
            <a:avLst/>
          </a:prstGeom>
          <a:noFill/>
          <a:ln/>
        </p:spPr>
        <p:txBody>
          <a:bodyPr wrap="square" lIns="0" tIns="0" rIns="0" bIns="0" rtlCol="0" anchor="ctr"/>
          <a:lstStyle/>
          <a:p>
            <a:pPr indent="0" marL="0">
              <a:buNone/>
            </a:pPr>
            <a:r>
              <a:rPr lang="en-US" sz="1150" dirty="0">
                <a:solidFill>
                  <a:srgbClr val="96A4AB"/>
                </a:solidFill>
                <a:latin typeface="Calibri" pitchFamily="34" charset="0"/>
                <a:ea typeface="Calibri" pitchFamily="34" charset="-122"/>
                <a:cs typeface="Calibri" pitchFamily="34" charset="-120"/>
              </a:rPr>
              <a:t>90 independent series</a:t>
            </a:r>
            <a:endParaRPr lang="en-US" sz="1150" dirty="0"/>
          </a:p>
        </p:txBody>
      </p:sp>
      <p:sp>
        <p:nvSpPr>
          <p:cNvPr id="8" name="Shape 6"/>
          <p:cNvSpPr/>
          <p:nvPr/>
        </p:nvSpPr>
        <p:spPr>
          <a:xfrm>
            <a:off x="3401568" y="1481328"/>
            <a:ext cx="2578608" cy="1463040"/>
          </a:xfrm>
          <a:prstGeom prst="roundRect">
            <a:avLst>
              <a:gd name="adj" fmla="val 3750"/>
            </a:avLst>
          </a:prstGeom>
          <a:solidFill>
            <a:srgbClr val="F1F5F6"/>
          </a:solidFill>
          <a:ln w="9525">
            <a:solidFill>
              <a:srgbClr val="E2E9EB"/>
            </a:solidFill>
            <a:prstDash val="solid"/>
          </a:ln>
          <a:effectLst>
            <a:outerShdw sx="100000" sy="100000" kx="0" ky="0" algn="bl" rotWithShape="0" blurRad="127000" dist="25400" dir="5400000">
              <a:srgbClr val="9FB0B7">
                <a:alpha val="32000"/>
              </a:srgbClr>
            </a:outerShdw>
          </a:effectLst>
        </p:spPr>
      </p:sp>
      <p:sp>
        <p:nvSpPr>
          <p:cNvPr id="9" name="Text 7"/>
          <p:cNvSpPr txBox="1"/>
          <p:nvPr/>
        </p:nvSpPr>
        <p:spPr>
          <a:xfrm>
            <a:off x="3639312" y="1664208"/>
            <a:ext cx="2139696" cy="566928"/>
          </a:xfrm>
          <a:prstGeom prst="rect">
            <a:avLst/>
          </a:prstGeom>
          <a:noFill/>
          <a:ln/>
        </p:spPr>
        <p:txBody>
          <a:bodyPr wrap="square" lIns="0" tIns="0" rIns="0" bIns="0" rtlCol="0" anchor="ctr"/>
          <a:lstStyle/>
          <a:p>
            <a:pPr indent="0" marL="0">
              <a:buNone/>
            </a:pPr>
            <a:r>
              <a:rPr lang="en-US" sz="3400" b="1" dirty="0">
                <a:solidFill>
                  <a:srgbClr val="0E2A33"/>
                </a:solidFill>
                <a:latin typeface="Cambria" pitchFamily="34" charset="0"/>
                <a:ea typeface="Cambria" pitchFamily="34" charset="-122"/>
                <a:cs typeface="Cambria" pitchFamily="34" charset="-120"/>
              </a:rPr>
              <a:t>735</a:t>
            </a:r>
            <a:endParaRPr lang="en-US" sz="3400" dirty="0"/>
          </a:p>
        </p:txBody>
      </p:sp>
      <p:sp>
        <p:nvSpPr>
          <p:cNvPr id="10" name="Text 8"/>
          <p:cNvSpPr txBox="1"/>
          <p:nvPr/>
        </p:nvSpPr>
        <p:spPr>
          <a:xfrm>
            <a:off x="3639312" y="2212848"/>
            <a:ext cx="2139696" cy="219456"/>
          </a:xfrm>
          <a:prstGeom prst="rect">
            <a:avLst/>
          </a:prstGeom>
          <a:noFill/>
          <a:ln/>
        </p:spPr>
        <p:txBody>
          <a:bodyPr wrap="square" lIns="0" tIns="0" rIns="0" bIns="0" rtlCol="0" anchor="ctr"/>
          <a:lstStyle/>
          <a:p>
            <a:pPr indent="0" marL="0">
              <a:buNone/>
            </a:pPr>
            <a:r>
              <a:rPr lang="en-US" sz="1050" b="1" spc="110" kern="0" dirty="0">
                <a:solidFill>
                  <a:srgbClr val="6B7C85"/>
                </a:solidFill>
                <a:latin typeface="Calibri" pitchFamily="34" charset="0"/>
                <a:ea typeface="Calibri" pitchFamily="34" charset="-122"/>
                <a:cs typeface="Calibri" pitchFamily="34" charset="-120"/>
              </a:rPr>
              <a:t>DAYS PER SERIES</a:t>
            </a:r>
            <a:endParaRPr lang="en-US" sz="1050" dirty="0"/>
          </a:p>
        </p:txBody>
      </p:sp>
      <p:sp>
        <p:nvSpPr>
          <p:cNvPr id="11" name="Text 9"/>
          <p:cNvSpPr txBox="1"/>
          <p:nvPr/>
        </p:nvSpPr>
        <p:spPr>
          <a:xfrm>
            <a:off x="3639312" y="2432304"/>
            <a:ext cx="2139696" cy="457200"/>
          </a:xfrm>
          <a:prstGeom prst="rect">
            <a:avLst/>
          </a:prstGeom>
          <a:noFill/>
          <a:ln/>
        </p:spPr>
        <p:txBody>
          <a:bodyPr wrap="square" lIns="0" tIns="0" rIns="0" bIns="0" rtlCol="0" anchor="ctr"/>
          <a:lstStyle/>
          <a:p>
            <a:pPr indent="0" marL="0">
              <a:buNone/>
            </a:pPr>
            <a:r>
              <a:rPr lang="en-US" sz="1150" dirty="0">
                <a:solidFill>
                  <a:srgbClr val="96A4AB"/>
                </a:solidFill>
                <a:latin typeface="Calibri" pitchFamily="34" charset="0"/>
                <a:ea typeface="Calibri" pitchFamily="34" charset="-122"/>
                <a:cs typeface="Calibri" pitchFamily="34" charset="-120"/>
              </a:rPr>
              <a:t>two years, ending yesterday</a:t>
            </a:r>
            <a:endParaRPr lang="en-US" sz="1150" dirty="0"/>
          </a:p>
        </p:txBody>
      </p:sp>
      <p:sp>
        <p:nvSpPr>
          <p:cNvPr id="12" name="Shape 10"/>
          <p:cNvSpPr/>
          <p:nvPr/>
        </p:nvSpPr>
        <p:spPr>
          <a:xfrm>
            <a:off x="6236208" y="1481328"/>
            <a:ext cx="2578608" cy="1463040"/>
          </a:xfrm>
          <a:prstGeom prst="roundRect">
            <a:avLst>
              <a:gd name="adj" fmla="val 3750"/>
            </a:avLst>
          </a:prstGeom>
          <a:solidFill>
            <a:srgbClr val="F1F5F6"/>
          </a:solidFill>
          <a:ln w="9525">
            <a:solidFill>
              <a:srgbClr val="E2E9EB"/>
            </a:solidFill>
            <a:prstDash val="solid"/>
          </a:ln>
          <a:effectLst>
            <a:outerShdw sx="100000" sy="100000" kx="0" ky="0" algn="bl" rotWithShape="0" blurRad="127000" dist="25400" dir="5400000">
              <a:srgbClr val="9FB0B7">
                <a:alpha val="32000"/>
              </a:srgbClr>
            </a:outerShdw>
          </a:effectLst>
        </p:spPr>
      </p:sp>
      <p:sp>
        <p:nvSpPr>
          <p:cNvPr id="13" name="Text 11"/>
          <p:cNvSpPr txBox="1"/>
          <p:nvPr/>
        </p:nvSpPr>
        <p:spPr>
          <a:xfrm>
            <a:off x="6473952" y="1664208"/>
            <a:ext cx="2139696" cy="566928"/>
          </a:xfrm>
          <a:prstGeom prst="rect">
            <a:avLst/>
          </a:prstGeom>
          <a:noFill/>
          <a:ln/>
        </p:spPr>
        <p:txBody>
          <a:bodyPr wrap="square" lIns="0" tIns="0" rIns="0" bIns="0" rtlCol="0" anchor="ctr"/>
          <a:lstStyle/>
          <a:p>
            <a:pPr indent="0" marL="0">
              <a:buNone/>
            </a:pPr>
            <a:r>
              <a:rPr lang="en-US" sz="3400" b="1" dirty="0">
                <a:solidFill>
                  <a:srgbClr val="0E2A33"/>
                </a:solidFill>
                <a:latin typeface="Cambria" pitchFamily="34" charset="0"/>
                <a:ea typeface="Cambria" pitchFamily="34" charset="-122"/>
                <a:cs typeface="Cambria" pitchFamily="34" charset="-120"/>
              </a:rPr>
              <a:t>66,150</a:t>
            </a:r>
            <a:endParaRPr lang="en-US" sz="3400" dirty="0"/>
          </a:p>
        </p:txBody>
      </p:sp>
      <p:sp>
        <p:nvSpPr>
          <p:cNvPr id="14" name="Text 12"/>
          <p:cNvSpPr txBox="1"/>
          <p:nvPr/>
        </p:nvSpPr>
        <p:spPr>
          <a:xfrm>
            <a:off x="6473952" y="2212848"/>
            <a:ext cx="2139696" cy="219456"/>
          </a:xfrm>
          <a:prstGeom prst="rect">
            <a:avLst/>
          </a:prstGeom>
          <a:noFill/>
          <a:ln/>
        </p:spPr>
        <p:txBody>
          <a:bodyPr wrap="square" lIns="0" tIns="0" rIns="0" bIns="0" rtlCol="0" anchor="ctr"/>
          <a:lstStyle/>
          <a:p>
            <a:pPr indent="0" marL="0">
              <a:buNone/>
            </a:pPr>
            <a:r>
              <a:rPr lang="en-US" sz="1050" b="1" spc="110" kern="0" dirty="0">
                <a:solidFill>
                  <a:srgbClr val="6B7C85"/>
                </a:solidFill>
                <a:latin typeface="Calibri" pitchFamily="34" charset="0"/>
                <a:ea typeface="Calibri" pitchFamily="34" charset="-122"/>
                <a:cs typeface="Calibri" pitchFamily="34" charset="-120"/>
              </a:rPr>
              <a:t>DAILY ROWS</a:t>
            </a:r>
            <a:endParaRPr lang="en-US" sz="1050" dirty="0"/>
          </a:p>
        </p:txBody>
      </p:sp>
      <p:sp>
        <p:nvSpPr>
          <p:cNvPr id="15" name="Text 13"/>
          <p:cNvSpPr txBox="1"/>
          <p:nvPr/>
        </p:nvSpPr>
        <p:spPr>
          <a:xfrm>
            <a:off x="6473952" y="2432304"/>
            <a:ext cx="2139696" cy="457200"/>
          </a:xfrm>
          <a:prstGeom prst="rect">
            <a:avLst/>
          </a:prstGeom>
          <a:noFill/>
          <a:ln/>
        </p:spPr>
        <p:txBody>
          <a:bodyPr wrap="square" lIns="0" tIns="0" rIns="0" bIns="0" rtlCol="0" anchor="ctr"/>
          <a:lstStyle/>
          <a:p>
            <a:pPr indent="0" marL="0">
              <a:buNone/>
            </a:pPr>
            <a:r>
              <a:rPr lang="en-US" sz="1150" dirty="0">
                <a:solidFill>
                  <a:srgbClr val="96A4AB"/>
                </a:solidFill>
                <a:latin typeface="Calibri" pitchFamily="34" charset="0"/>
                <a:ea typeface="Calibri" pitchFamily="34" charset="-122"/>
                <a:cs typeface="Calibri" pitchFamily="34" charset="-120"/>
              </a:rPr>
              <a:t>generated with a fixed seed</a:t>
            </a:r>
            <a:endParaRPr lang="en-US" sz="1150" dirty="0"/>
          </a:p>
        </p:txBody>
      </p:sp>
      <p:sp>
        <p:nvSpPr>
          <p:cNvPr id="16" name="Shape 14"/>
          <p:cNvSpPr/>
          <p:nvPr/>
        </p:nvSpPr>
        <p:spPr>
          <a:xfrm>
            <a:off x="9070848" y="1481328"/>
            <a:ext cx="2578608" cy="1463040"/>
          </a:xfrm>
          <a:prstGeom prst="roundRect">
            <a:avLst>
              <a:gd name="adj" fmla="val 3750"/>
            </a:avLst>
          </a:prstGeom>
          <a:solidFill>
            <a:srgbClr val="F1F5F6"/>
          </a:solidFill>
          <a:ln w="9525">
            <a:solidFill>
              <a:srgbClr val="E2E9EB"/>
            </a:solidFill>
            <a:prstDash val="solid"/>
          </a:ln>
          <a:effectLst>
            <a:outerShdw sx="100000" sy="100000" kx="0" ky="0" algn="bl" rotWithShape="0" blurRad="127000" dist="25400" dir="5400000">
              <a:srgbClr val="9FB0B7">
                <a:alpha val="32000"/>
              </a:srgbClr>
            </a:outerShdw>
          </a:effectLst>
        </p:spPr>
      </p:sp>
      <p:sp>
        <p:nvSpPr>
          <p:cNvPr id="17" name="Text 15"/>
          <p:cNvSpPr txBox="1"/>
          <p:nvPr/>
        </p:nvSpPr>
        <p:spPr>
          <a:xfrm>
            <a:off x="9308592" y="1664208"/>
            <a:ext cx="2139696" cy="566928"/>
          </a:xfrm>
          <a:prstGeom prst="rect">
            <a:avLst/>
          </a:prstGeom>
          <a:noFill/>
          <a:ln/>
        </p:spPr>
        <p:txBody>
          <a:bodyPr wrap="square" lIns="0" tIns="0" rIns="0" bIns="0" rtlCol="0" anchor="ctr"/>
          <a:lstStyle/>
          <a:p>
            <a:pPr indent="0" marL="0">
              <a:buNone/>
            </a:pPr>
            <a:r>
              <a:rPr lang="en-US" sz="3400" b="1" dirty="0">
                <a:solidFill>
                  <a:srgbClr val="0E2A33"/>
                </a:solidFill>
                <a:latin typeface="Cambria" pitchFamily="34" charset="0"/>
                <a:ea typeface="Cambria" pitchFamily="34" charset="-122"/>
                <a:cs typeface="Cambria" pitchFamily="34" charset="-120"/>
              </a:rPr>
              <a:t>28 days</a:t>
            </a:r>
            <a:endParaRPr lang="en-US" sz="3400" dirty="0"/>
          </a:p>
        </p:txBody>
      </p:sp>
      <p:sp>
        <p:nvSpPr>
          <p:cNvPr id="18" name="Text 16"/>
          <p:cNvSpPr txBox="1"/>
          <p:nvPr/>
        </p:nvSpPr>
        <p:spPr>
          <a:xfrm>
            <a:off x="9308592" y="2212848"/>
            <a:ext cx="2139696" cy="219456"/>
          </a:xfrm>
          <a:prstGeom prst="rect">
            <a:avLst/>
          </a:prstGeom>
          <a:noFill/>
          <a:ln/>
        </p:spPr>
        <p:txBody>
          <a:bodyPr wrap="square" lIns="0" tIns="0" rIns="0" bIns="0" rtlCol="0" anchor="ctr"/>
          <a:lstStyle/>
          <a:p>
            <a:pPr indent="0" marL="0">
              <a:buNone/>
            </a:pPr>
            <a:r>
              <a:rPr lang="en-US" sz="1050" b="1" spc="110" kern="0" dirty="0">
                <a:solidFill>
                  <a:srgbClr val="6B7C85"/>
                </a:solidFill>
                <a:latin typeface="Calibri" pitchFamily="34" charset="0"/>
                <a:ea typeface="Calibri" pitchFamily="34" charset="-122"/>
                <a:cs typeface="Calibri" pitchFamily="34" charset="-120"/>
              </a:rPr>
              <a:t>FORECAST HORIZON</a:t>
            </a:r>
            <a:endParaRPr lang="en-US" sz="1050" dirty="0"/>
          </a:p>
        </p:txBody>
      </p:sp>
      <p:sp>
        <p:nvSpPr>
          <p:cNvPr id="19" name="Text 17"/>
          <p:cNvSpPr txBox="1"/>
          <p:nvPr/>
        </p:nvSpPr>
        <p:spPr>
          <a:xfrm>
            <a:off x="9308592" y="2432304"/>
            <a:ext cx="2139696" cy="457200"/>
          </a:xfrm>
          <a:prstGeom prst="rect">
            <a:avLst/>
          </a:prstGeom>
          <a:noFill/>
          <a:ln/>
        </p:spPr>
        <p:txBody>
          <a:bodyPr wrap="square" lIns="0" tIns="0" rIns="0" bIns="0" rtlCol="0" anchor="ctr"/>
          <a:lstStyle/>
          <a:p>
            <a:pPr indent="0" marL="0">
              <a:buNone/>
            </a:pPr>
            <a:r>
              <a:rPr lang="en-US" sz="1150" dirty="0">
                <a:solidFill>
                  <a:srgbClr val="96A4AB"/>
                </a:solidFill>
                <a:latin typeface="Calibri" pitchFamily="34" charset="0"/>
                <a:ea typeface="Calibri" pitchFamily="34" charset="-122"/>
                <a:cs typeface="Calibri" pitchFamily="34" charset="-120"/>
              </a:rPr>
              <a:t>direct, not recursive</a:t>
            </a:r>
            <a:endParaRPr lang="en-US" sz="1150" dirty="0"/>
          </a:p>
        </p:txBody>
      </p:sp>
      <p:sp>
        <p:nvSpPr>
          <p:cNvPr id="20" name="Text 18"/>
          <p:cNvSpPr txBox="1"/>
          <p:nvPr/>
        </p:nvSpPr>
        <p:spPr>
          <a:xfrm>
            <a:off x="566928" y="3246120"/>
            <a:ext cx="11064240" cy="310896"/>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What the generator injects — and the model has to recover</a:t>
            </a:r>
            <a:endParaRPr lang="en-US" sz="1500" dirty="0"/>
          </a:p>
        </p:txBody>
      </p:sp>
      <p:sp>
        <p:nvSpPr>
          <p:cNvPr id="21" name="Shape 19"/>
          <p:cNvSpPr/>
          <p:nvPr/>
        </p:nvSpPr>
        <p:spPr>
          <a:xfrm>
            <a:off x="566928" y="3730752"/>
            <a:ext cx="182880" cy="182880"/>
          </a:xfrm>
          <a:prstGeom prst="ellipse">
            <a:avLst/>
          </a:prstGeom>
          <a:solidFill>
            <a:srgbClr val="39B7A4"/>
          </a:solidFill>
          <a:ln/>
        </p:spPr>
      </p:sp>
      <p:sp>
        <p:nvSpPr>
          <p:cNvPr id="22" name="Text 20"/>
          <p:cNvSpPr txBox="1"/>
          <p:nvPr/>
        </p:nvSpPr>
        <p:spPr>
          <a:xfrm>
            <a:off x="896112" y="3675888"/>
            <a:ext cx="5120640" cy="256032"/>
          </a:xfrm>
          <a:prstGeom prst="rect">
            <a:avLst/>
          </a:prstGeom>
          <a:noFill/>
          <a:ln/>
        </p:spPr>
        <p:txBody>
          <a:bodyPr wrap="square" lIns="0" tIns="0" rIns="0" bIns="0" rtlCol="0" anchor="ctr"/>
          <a:lstStyle/>
          <a:p>
            <a:pPr indent="0" marL="0">
              <a:buNone/>
            </a:pPr>
            <a:r>
              <a:rPr lang="en-US" sz="1350" b="1" dirty="0">
                <a:solidFill>
                  <a:srgbClr val="22333B"/>
                </a:solidFill>
                <a:latin typeface="Calibri" pitchFamily="34" charset="0"/>
                <a:ea typeface="Calibri" pitchFamily="34" charset="-122"/>
                <a:cs typeface="Calibri" pitchFamily="34" charset="-120"/>
              </a:rPr>
              <a:t>Weekly shape</a:t>
            </a:r>
            <a:endParaRPr lang="en-US" sz="1350" dirty="0"/>
          </a:p>
        </p:txBody>
      </p:sp>
      <p:sp>
        <p:nvSpPr>
          <p:cNvPr id="23" name="Text 21"/>
          <p:cNvSpPr txBox="1"/>
          <p:nvPr/>
        </p:nvSpPr>
        <p:spPr>
          <a:xfrm>
            <a:off x="896112" y="3950208"/>
            <a:ext cx="5029200" cy="384048"/>
          </a:xfrm>
          <a:prstGeom prst="rect">
            <a:avLst/>
          </a:prstGeom>
          <a:noFill/>
          <a:ln/>
        </p:spPr>
        <p:txBody>
          <a:bodyPr wrap="square" lIns="0" tIns="0" rIns="0" bIns="0" rtlCol="0" anchor="ctr"/>
          <a:lstStyle/>
          <a:p>
            <a:pPr indent="0" marL="0">
              <a:buNone/>
            </a:pPr>
            <a:r>
              <a:rPr lang="en-US" sz="1200" dirty="0">
                <a:solidFill>
                  <a:srgbClr val="6B7C85"/>
                </a:solidFill>
                <a:latin typeface="Calibri" pitchFamily="34" charset="0"/>
                <a:ea typeface="Calibri" pitchFamily="34" charset="-122"/>
                <a:cs typeface="Calibri" pitchFamily="34" charset="-120"/>
              </a:rPr>
              <a:t>Saturday runs ~60% above Tuesday</a:t>
            </a:r>
            <a:endParaRPr lang="en-US" sz="1200" dirty="0"/>
          </a:p>
        </p:txBody>
      </p:sp>
      <p:sp>
        <p:nvSpPr>
          <p:cNvPr id="24" name="Shape 22"/>
          <p:cNvSpPr/>
          <p:nvPr/>
        </p:nvSpPr>
        <p:spPr>
          <a:xfrm>
            <a:off x="6236208" y="3730752"/>
            <a:ext cx="182880" cy="182880"/>
          </a:xfrm>
          <a:prstGeom prst="ellipse">
            <a:avLst/>
          </a:prstGeom>
          <a:solidFill>
            <a:srgbClr val="39B7A4"/>
          </a:solidFill>
          <a:ln/>
        </p:spPr>
      </p:sp>
      <p:sp>
        <p:nvSpPr>
          <p:cNvPr id="25" name="Text 23"/>
          <p:cNvSpPr txBox="1"/>
          <p:nvPr/>
        </p:nvSpPr>
        <p:spPr>
          <a:xfrm>
            <a:off x="6565392" y="3675888"/>
            <a:ext cx="5120640" cy="256032"/>
          </a:xfrm>
          <a:prstGeom prst="rect">
            <a:avLst/>
          </a:prstGeom>
          <a:noFill/>
          <a:ln/>
        </p:spPr>
        <p:txBody>
          <a:bodyPr wrap="square" lIns="0" tIns="0" rIns="0" bIns="0" rtlCol="0" anchor="ctr"/>
          <a:lstStyle/>
          <a:p>
            <a:pPr indent="0" marL="0">
              <a:buNone/>
            </a:pPr>
            <a:r>
              <a:rPr lang="en-US" sz="1350" b="1" dirty="0">
                <a:solidFill>
                  <a:srgbClr val="22333B"/>
                </a:solidFill>
                <a:latin typeface="Calibri" pitchFamily="34" charset="0"/>
                <a:ea typeface="Calibri" pitchFamily="34" charset="-122"/>
                <a:cs typeface="Calibri" pitchFamily="34" charset="-120"/>
              </a:rPr>
              <a:t>Annual seasonality</a:t>
            </a:r>
            <a:endParaRPr lang="en-US" sz="1350" dirty="0"/>
          </a:p>
        </p:txBody>
      </p:sp>
      <p:sp>
        <p:nvSpPr>
          <p:cNvPr id="26" name="Text 24"/>
          <p:cNvSpPr txBox="1"/>
          <p:nvPr/>
        </p:nvSpPr>
        <p:spPr>
          <a:xfrm>
            <a:off x="6565392" y="3950208"/>
            <a:ext cx="5029200" cy="384048"/>
          </a:xfrm>
          <a:prstGeom prst="rect">
            <a:avLst/>
          </a:prstGeom>
          <a:noFill/>
          <a:ln/>
        </p:spPr>
        <p:txBody>
          <a:bodyPr wrap="square" lIns="0" tIns="0" rIns="0" bIns="0" rtlCol="0" anchor="ctr"/>
          <a:lstStyle/>
          <a:p>
            <a:pPr indent="0" marL="0">
              <a:buNone/>
            </a:pPr>
            <a:r>
              <a:rPr lang="en-US" sz="1200" dirty="0">
                <a:solidFill>
                  <a:srgbClr val="6B7C85"/>
                </a:solidFill>
                <a:latin typeface="Calibri" pitchFamily="34" charset="0"/>
                <a:ea typeface="Calibri" pitchFamily="34" charset="-122"/>
                <a:cs typeface="Calibri" pitchFamily="34" charset="-120"/>
              </a:rPr>
              <a:t>category-specific phase; ±85% on seasonal lines</a:t>
            </a:r>
            <a:endParaRPr lang="en-US" sz="1200" dirty="0"/>
          </a:p>
        </p:txBody>
      </p:sp>
      <p:sp>
        <p:nvSpPr>
          <p:cNvPr id="27" name="Shape 25"/>
          <p:cNvSpPr/>
          <p:nvPr/>
        </p:nvSpPr>
        <p:spPr>
          <a:xfrm>
            <a:off x="566928" y="4517136"/>
            <a:ext cx="182880" cy="182880"/>
          </a:xfrm>
          <a:prstGeom prst="ellipse">
            <a:avLst/>
          </a:prstGeom>
          <a:solidFill>
            <a:srgbClr val="39B7A4"/>
          </a:solidFill>
          <a:ln/>
        </p:spPr>
      </p:sp>
      <p:sp>
        <p:nvSpPr>
          <p:cNvPr id="28" name="Text 26"/>
          <p:cNvSpPr txBox="1"/>
          <p:nvPr/>
        </p:nvSpPr>
        <p:spPr>
          <a:xfrm>
            <a:off x="896112" y="4462272"/>
            <a:ext cx="5120640" cy="256032"/>
          </a:xfrm>
          <a:prstGeom prst="rect">
            <a:avLst/>
          </a:prstGeom>
          <a:noFill/>
          <a:ln/>
        </p:spPr>
        <p:txBody>
          <a:bodyPr wrap="square" lIns="0" tIns="0" rIns="0" bIns="0" rtlCol="0" anchor="ctr"/>
          <a:lstStyle/>
          <a:p>
            <a:pPr indent="0" marL="0">
              <a:buNone/>
            </a:pPr>
            <a:r>
              <a:rPr lang="en-US" sz="1350" b="1" dirty="0">
                <a:solidFill>
                  <a:srgbClr val="22333B"/>
                </a:solidFill>
                <a:latin typeface="Calibri" pitchFamily="34" charset="0"/>
                <a:ea typeface="Calibri" pitchFamily="34" charset="-122"/>
                <a:cs typeface="Calibri" pitchFamily="34" charset="-120"/>
              </a:rPr>
              <a:t>Price elasticity</a:t>
            </a:r>
            <a:endParaRPr lang="en-US" sz="1350" dirty="0"/>
          </a:p>
        </p:txBody>
      </p:sp>
      <p:sp>
        <p:nvSpPr>
          <p:cNvPr id="29" name="Text 27"/>
          <p:cNvSpPr txBox="1"/>
          <p:nvPr/>
        </p:nvSpPr>
        <p:spPr>
          <a:xfrm>
            <a:off x="896112" y="4736592"/>
            <a:ext cx="5029200" cy="384048"/>
          </a:xfrm>
          <a:prstGeom prst="rect">
            <a:avLst/>
          </a:prstGeom>
          <a:noFill/>
          <a:ln/>
        </p:spPr>
        <p:txBody>
          <a:bodyPr wrap="square" lIns="0" tIns="0" rIns="0" bIns="0" rtlCol="0" anchor="ctr"/>
          <a:lstStyle/>
          <a:p>
            <a:pPr indent="0" marL="0">
              <a:buNone/>
            </a:pPr>
            <a:r>
              <a:rPr lang="en-US" sz="1200" dirty="0">
                <a:solidFill>
                  <a:srgbClr val="6B7C85"/>
                </a:solidFill>
                <a:latin typeface="Calibri" pitchFamily="34" charset="0"/>
                <a:ea typeface="Calibri" pitchFamily="34" charset="-122"/>
                <a:cs typeface="Calibri" pitchFamily="34" charset="-120"/>
              </a:rPr>
              <a:t>−0.9 to −2.1 by SKU, applied to the effective price</a:t>
            </a:r>
            <a:endParaRPr lang="en-US" sz="1200" dirty="0"/>
          </a:p>
        </p:txBody>
      </p:sp>
      <p:sp>
        <p:nvSpPr>
          <p:cNvPr id="30" name="Shape 28"/>
          <p:cNvSpPr/>
          <p:nvPr/>
        </p:nvSpPr>
        <p:spPr>
          <a:xfrm>
            <a:off x="6236208" y="4517136"/>
            <a:ext cx="182880" cy="182880"/>
          </a:xfrm>
          <a:prstGeom prst="ellipse">
            <a:avLst/>
          </a:prstGeom>
          <a:solidFill>
            <a:srgbClr val="39B7A4"/>
          </a:solidFill>
          <a:ln/>
        </p:spPr>
      </p:sp>
      <p:sp>
        <p:nvSpPr>
          <p:cNvPr id="31" name="Text 29"/>
          <p:cNvSpPr txBox="1"/>
          <p:nvPr/>
        </p:nvSpPr>
        <p:spPr>
          <a:xfrm>
            <a:off x="6565392" y="4462272"/>
            <a:ext cx="5120640" cy="256032"/>
          </a:xfrm>
          <a:prstGeom prst="rect">
            <a:avLst/>
          </a:prstGeom>
          <a:noFill/>
          <a:ln/>
        </p:spPr>
        <p:txBody>
          <a:bodyPr wrap="square" lIns="0" tIns="0" rIns="0" bIns="0" rtlCol="0" anchor="ctr"/>
          <a:lstStyle/>
          <a:p>
            <a:pPr indent="0" marL="0">
              <a:buNone/>
            </a:pPr>
            <a:r>
              <a:rPr lang="en-US" sz="1350" b="1" dirty="0">
                <a:solidFill>
                  <a:srgbClr val="22333B"/>
                </a:solidFill>
                <a:latin typeface="Calibri" pitchFamily="34" charset="0"/>
                <a:ea typeface="Calibri" pitchFamily="34" charset="-122"/>
                <a:cs typeface="Calibri" pitchFamily="34" charset="-120"/>
              </a:rPr>
              <a:t>Promotions</a:t>
            </a:r>
            <a:endParaRPr lang="en-US" sz="1350" dirty="0"/>
          </a:p>
        </p:txBody>
      </p:sp>
      <p:sp>
        <p:nvSpPr>
          <p:cNvPr id="32" name="Text 30"/>
          <p:cNvSpPr txBox="1"/>
          <p:nvPr/>
        </p:nvSpPr>
        <p:spPr>
          <a:xfrm>
            <a:off x="6565392" y="4736592"/>
            <a:ext cx="5029200" cy="384048"/>
          </a:xfrm>
          <a:prstGeom prst="rect">
            <a:avLst/>
          </a:prstGeom>
          <a:noFill/>
          <a:ln/>
        </p:spPr>
        <p:txBody>
          <a:bodyPr wrap="square" lIns="0" tIns="0" rIns="0" bIns="0" rtlCol="0" anchor="ctr"/>
          <a:lstStyle/>
          <a:p>
            <a:pPr indent="0" marL="0">
              <a:buNone/>
            </a:pPr>
            <a:r>
              <a:rPr lang="en-US" sz="1200" dirty="0">
                <a:solidFill>
                  <a:srgbClr val="6B7C85"/>
                </a:solidFill>
                <a:latin typeface="Calibri" pitchFamily="34" charset="0"/>
                <a:ea typeface="Calibri" pitchFamily="34" charset="-122"/>
                <a:cs typeface="Calibri" pitchFamily="34" charset="-120"/>
              </a:rPr>
              <a:t>clustered 3–7 day windows with display lift on top of the cut</a:t>
            </a:r>
            <a:endParaRPr lang="en-US" sz="1200" dirty="0"/>
          </a:p>
        </p:txBody>
      </p:sp>
      <p:sp>
        <p:nvSpPr>
          <p:cNvPr id="33" name="Shape 31"/>
          <p:cNvSpPr/>
          <p:nvPr/>
        </p:nvSpPr>
        <p:spPr>
          <a:xfrm>
            <a:off x="566928" y="5303520"/>
            <a:ext cx="182880" cy="182880"/>
          </a:xfrm>
          <a:prstGeom prst="ellipse">
            <a:avLst/>
          </a:prstGeom>
          <a:solidFill>
            <a:srgbClr val="39B7A4"/>
          </a:solidFill>
          <a:ln/>
        </p:spPr>
      </p:sp>
      <p:sp>
        <p:nvSpPr>
          <p:cNvPr id="34" name="Text 32"/>
          <p:cNvSpPr txBox="1"/>
          <p:nvPr/>
        </p:nvSpPr>
        <p:spPr>
          <a:xfrm>
            <a:off x="896112" y="5248656"/>
            <a:ext cx="5120640" cy="256032"/>
          </a:xfrm>
          <a:prstGeom prst="rect">
            <a:avLst/>
          </a:prstGeom>
          <a:noFill/>
          <a:ln/>
        </p:spPr>
        <p:txBody>
          <a:bodyPr wrap="square" lIns="0" tIns="0" rIns="0" bIns="0" rtlCol="0" anchor="ctr"/>
          <a:lstStyle/>
          <a:p>
            <a:pPr indent="0" marL="0">
              <a:buNone/>
            </a:pPr>
            <a:r>
              <a:rPr lang="en-US" sz="1350" b="1" dirty="0">
                <a:solidFill>
                  <a:srgbClr val="22333B"/>
                </a:solidFill>
                <a:latin typeface="Calibri" pitchFamily="34" charset="0"/>
                <a:ea typeface="Calibri" pitchFamily="34" charset="-122"/>
                <a:cs typeface="Calibri" pitchFamily="34" charset="-120"/>
              </a:rPr>
              <a:t>Holiday calendar</a:t>
            </a:r>
            <a:endParaRPr lang="en-US" sz="1350" dirty="0"/>
          </a:p>
        </p:txBody>
      </p:sp>
      <p:sp>
        <p:nvSpPr>
          <p:cNvPr id="35" name="Text 33"/>
          <p:cNvSpPr txBox="1"/>
          <p:nvPr/>
        </p:nvSpPr>
        <p:spPr>
          <a:xfrm>
            <a:off x="896112" y="5522976"/>
            <a:ext cx="5029200" cy="384048"/>
          </a:xfrm>
          <a:prstGeom prst="rect">
            <a:avLst/>
          </a:prstGeom>
          <a:noFill/>
          <a:ln/>
        </p:spPr>
        <p:txBody>
          <a:bodyPr wrap="square" lIns="0" tIns="0" rIns="0" bIns="0" rtlCol="0" anchor="ctr"/>
          <a:lstStyle/>
          <a:p>
            <a:pPr indent="0" marL="0">
              <a:buNone/>
            </a:pPr>
            <a:r>
              <a:rPr lang="en-US" sz="1200" dirty="0">
                <a:solidFill>
                  <a:srgbClr val="6B7C85"/>
                </a:solidFill>
                <a:latin typeface="Calibri" pitchFamily="34" charset="0"/>
                <a:ea typeface="Calibri" pitchFamily="34" charset="-122"/>
                <a:cs typeface="Calibri" pitchFamily="34" charset="-120"/>
              </a:rPr>
              <a:t>twelve dated multipliers from 0.35× to 1.85×</a:t>
            </a:r>
            <a:endParaRPr lang="en-US" sz="1200" dirty="0"/>
          </a:p>
        </p:txBody>
      </p:sp>
      <p:sp>
        <p:nvSpPr>
          <p:cNvPr id="36" name="Shape 34"/>
          <p:cNvSpPr/>
          <p:nvPr/>
        </p:nvSpPr>
        <p:spPr>
          <a:xfrm>
            <a:off x="6236208" y="5303520"/>
            <a:ext cx="182880" cy="182880"/>
          </a:xfrm>
          <a:prstGeom prst="ellipse">
            <a:avLst/>
          </a:prstGeom>
          <a:solidFill>
            <a:srgbClr val="39B7A4"/>
          </a:solidFill>
          <a:ln/>
        </p:spPr>
      </p:sp>
      <p:sp>
        <p:nvSpPr>
          <p:cNvPr id="37" name="Text 35"/>
          <p:cNvSpPr txBox="1"/>
          <p:nvPr/>
        </p:nvSpPr>
        <p:spPr>
          <a:xfrm>
            <a:off x="6565392" y="5248656"/>
            <a:ext cx="5120640" cy="256032"/>
          </a:xfrm>
          <a:prstGeom prst="rect">
            <a:avLst/>
          </a:prstGeom>
          <a:noFill/>
          <a:ln/>
        </p:spPr>
        <p:txBody>
          <a:bodyPr wrap="square" lIns="0" tIns="0" rIns="0" bIns="0" rtlCol="0" anchor="ctr"/>
          <a:lstStyle/>
          <a:p>
            <a:pPr indent="0" marL="0">
              <a:buNone/>
            </a:pPr>
            <a:r>
              <a:rPr lang="en-US" sz="1350" b="1" dirty="0">
                <a:solidFill>
                  <a:srgbClr val="22333B"/>
                </a:solidFill>
                <a:latin typeface="Calibri" pitchFamily="34" charset="0"/>
                <a:ea typeface="Calibri" pitchFamily="34" charset="-122"/>
                <a:cs typeface="Calibri" pitchFamily="34" charset="-120"/>
              </a:rPr>
              <a:t>Overdispersion</a:t>
            </a:r>
            <a:endParaRPr lang="en-US" sz="1350" dirty="0"/>
          </a:p>
        </p:txBody>
      </p:sp>
      <p:sp>
        <p:nvSpPr>
          <p:cNvPr id="38" name="Text 36"/>
          <p:cNvSpPr txBox="1"/>
          <p:nvPr/>
        </p:nvSpPr>
        <p:spPr>
          <a:xfrm>
            <a:off x="6565392" y="5522976"/>
            <a:ext cx="5029200" cy="384048"/>
          </a:xfrm>
          <a:prstGeom prst="rect">
            <a:avLst/>
          </a:prstGeom>
          <a:noFill/>
          <a:ln/>
        </p:spPr>
        <p:txBody>
          <a:bodyPr wrap="square" lIns="0" tIns="0" rIns="0" bIns="0" rtlCol="0" anchor="ctr"/>
          <a:lstStyle/>
          <a:p>
            <a:pPr indent="0" marL="0">
              <a:buNone/>
            </a:pPr>
            <a:r>
              <a:rPr lang="en-US" sz="1200" dirty="0">
                <a:solidFill>
                  <a:srgbClr val="6B7C85"/>
                </a:solidFill>
                <a:latin typeface="Calibri" pitchFamily="34" charset="0"/>
                <a:ea typeface="Calibri" pitchFamily="34" charset="-122"/>
                <a:cs typeface="Calibri" pitchFamily="34" charset="-120"/>
              </a:rPr>
              <a:t>gamma-mixed Poisson, not clean Gaussian noise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60" kern="0" dirty="0">
                <a:solidFill>
                  <a:srgbClr val="0F8A7E"/>
                </a:solidFill>
                <a:latin typeface="Calibri" pitchFamily="34" charset="0"/>
                <a:ea typeface="Calibri" pitchFamily="34" charset="-122"/>
                <a:cs typeface="Calibri" pitchFamily="34" charset="-120"/>
              </a:rPr>
              <a:t>FORECASTING METHOD</a:t>
            </a:r>
            <a:endParaRPr lang="en-US" sz="1150" dirty="0"/>
          </a:p>
        </p:txBody>
      </p:sp>
      <p:sp>
        <p:nvSpPr>
          <p:cNvPr id="3" name="Text 1"/>
          <p:cNvSpPr txBox="1"/>
          <p:nvPr/>
        </p:nvSpPr>
        <p:spPr>
          <a:xfrm>
            <a:off x="566928" y="621792"/>
            <a:ext cx="11064240" cy="566928"/>
          </a:xfrm>
          <a:prstGeom prst="rect">
            <a:avLst/>
          </a:prstGeom>
          <a:noFill/>
          <a:ln/>
        </p:spPr>
        <p:txBody>
          <a:bodyPr wrap="square" lIns="0" tIns="0" rIns="0" bIns="0" rtlCol="0" anchor="ctr"/>
          <a:lstStyle/>
          <a:p>
            <a:pPr indent="0" marL="0">
              <a:buNone/>
            </a:pPr>
            <a:r>
              <a:rPr lang="en-US" sz="3200" b="1" dirty="0">
                <a:solidFill>
                  <a:srgbClr val="0E2A33"/>
                </a:solidFill>
                <a:latin typeface="Cambria" pitchFamily="34" charset="0"/>
                <a:ea typeface="Cambria" pitchFamily="34" charset="-122"/>
                <a:cs typeface="Cambria" pitchFamily="34" charset="-120"/>
              </a:rPr>
              <a:t>Ridge regression on features known in advance</a:t>
            </a:r>
            <a:endParaRPr lang="en-US" sz="3200" dirty="0"/>
          </a:p>
        </p:txBody>
      </p:sp>
      <p:sp>
        <p:nvSpPr>
          <p:cNvPr id="4" name="Shape 2"/>
          <p:cNvSpPr/>
          <p:nvPr/>
        </p:nvSpPr>
        <p:spPr>
          <a:xfrm>
            <a:off x="566928" y="1554480"/>
            <a:ext cx="384048" cy="384048"/>
          </a:xfrm>
          <a:prstGeom prst="ellipse">
            <a:avLst/>
          </a:prstGeom>
          <a:solidFill>
            <a:srgbClr val="0F8A7E"/>
          </a:solidFill>
          <a:ln/>
        </p:spPr>
      </p:sp>
      <p:sp>
        <p:nvSpPr>
          <p:cNvPr id="5" name="Text 3"/>
          <p:cNvSpPr txBox="1"/>
          <p:nvPr/>
        </p:nvSpPr>
        <p:spPr>
          <a:xfrm>
            <a:off x="566928" y="1554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133856" y="1527048"/>
            <a:ext cx="4507992"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Direct multi-horizon</a:t>
            </a:r>
            <a:endParaRPr lang="en-US" sz="1500" dirty="0"/>
          </a:p>
        </p:txBody>
      </p:sp>
      <p:sp>
        <p:nvSpPr>
          <p:cNvPr id="7" name="Text 5"/>
          <p:cNvSpPr txBox="1"/>
          <p:nvPr/>
        </p:nvSpPr>
        <p:spPr>
          <a:xfrm>
            <a:off x="1133856" y="1819656"/>
            <a:ext cx="4507992" cy="786384"/>
          </a:xfrm>
          <a:prstGeom prst="rect">
            <a:avLst/>
          </a:prstGeom>
          <a:noFill/>
          <a:ln/>
        </p:spPr>
        <p:txBody>
          <a:bodyPr wrap="square" lIns="0" tIns="0" rIns="0" bIns="0" rtlCol="0" anchor="ctr"/>
          <a:lstStyle/>
          <a:p>
            <a:pPr indent="0" marL="0">
              <a:lnSpc>
                <a:spcPts val="1600"/>
              </a:lnSpc>
              <a:buNone/>
            </a:pPr>
            <a:r>
              <a:rPr lang="en-US" sz="1250" dirty="0">
                <a:solidFill>
                  <a:srgbClr val="6B7C85"/>
                </a:solidFill>
                <a:latin typeface="Calibri" pitchFamily="34" charset="0"/>
                <a:ea typeface="Calibri" pitchFamily="34" charset="-122"/>
                <a:cs typeface="Calibri" pitchFamily="34" charset="-120"/>
              </a:rPr>
              <a:t>Every feature — day of week, Fourier annual terms, trend, log price ratio, promo flag, holiday flag — is known before the horizon starts. No recursion, so no compounding error.</a:t>
            </a:r>
            <a:endParaRPr lang="en-US" sz="1250" dirty="0"/>
          </a:p>
        </p:txBody>
      </p:sp>
      <p:sp>
        <p:nvSpPr>
          <p:cNvPr id="8" name="Shape 6"/>
          <p:cNvSpPr/>
          <p:nvPr/>
        </p:nvSpPr>
        <p:spPr>
          <a:xfrm>
            <a:off x="566928" y="2852928"/>
            <a:ext cx="384048" cy="384048"/>
          </a:xfrm>
          <a:prstGeom prst="ellipse">
            <a:avLst/>
          </a:prstGeom>
          <a:solidFill>
            <a:srgbClr val="0F8A7E"/>
          </a:solidFill>
          <a:ln/>
        </p:spPr>
      </p:sp>
      <p:sp>
        <p:nvSpPr>
          <p:cNvPr id="9" name="Text 7"/>
          <p:cNvSpPr txBox="1"/>
          <p:nvPr/>
        </p:nvSpPr>
        <p:spPr>
          <a:xfrm>
            <a:off x="566928" y="28529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133856" y="2825496"/>
            <a:ext cx="4507992"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Fitted in log space</a:t>
            </a:r>
            <a:endParaRPr lang="en-US" sz="1500" dirty="0"/>
          </a:p>
        </p:txBody>
      </p:sp>
      <p:sp>
        <p:nvSpPr>
          <p:cNvPr id="11" name="Text 9"/>
          <p:cNvSpPr txBox="1"/>
          <p:nvPr/>
        </p:nvSpPr>
        <p:spPr>
          <a:xfrm>
            <a:off x="1133856" y="3118104"/>
            <a:ext cx="4507992" cy="786384"/>
          </a:xfrm>
          <a:prstGeom prst="rect">
            <a:avLst/>
          </a:prstGeom>
          <a:noFill/>
          <a:ln/>
        </p:spPr>
        <p:txBody>
          <a:bodyPr wrap="square" lIns="0" tIns="0" rIns="0" bIns="0" rtlCol="0" anchor="ctr"/>
          <a:lstStyle/>
          <a:p>
            <a:pPr indent="0" marL="0">
              <a:lnSpc>
                <a:spcPts val="1600"/>
              </a:lnSpc>
              <a:buNone/>
            </a:pPr>
            <a:r>
              <a:rPr lang="en-US" sz="1250" dirty="0">
                <a:solidFill>
                  <a:srgbClr val="6B7C85"/>
                </a:solidFill>
                <a:latin typeface="Calibri" pitchFamily="34" charset="0"/>
                <a:ea typeface="Calibri" pitchFamily="34" charset="-122"/>
                <a:cs typeface="Calibri" pitchFamily="34" charset="-120"/>
              </a:rPr>
              <a:t>log1p target with a log-normal retransformation, which keeps counts non-negative and handles the multiplicative structure of retail demand.</a:t>
            </a:r>
            <a:endParaRPr lang="en-US" sz="1250" dirty="0"/>
          </a:p>
        </p:txBody>
      </p:sp>
      <p:sp>
        <p:nvSpPr>
          <p:cNvPr id="12" name="Shape 10"/>
          <p:cNvSpPr/>
          <p:nvPr/>
        </p:nvSpPr>
        <p:spPr>
          <a:xfrm>
            <a:off x="566928" y="4151376"/>
            <a:ext cx="384048" cy="384048"/>
          </a:xfrm>
          <a:prstGeom prst="ellipse">
            <a:avLst/>
          </a:prstGeom>
          <a:solidFill>
            <a:srgbClr val="0F8A7E"/>
          </a:solidFill>
          <a:ln/>
        </p:spPr>
      </p:sp>
      <p:sp>
        <p:nvSpPr>
          <p:cNvPr id="13" name="Text 11"/>
          <p:cNvSpPr txBox="1"/>
          <p:nvPr/>
        </p:nvSpPr>
        <p:spPr>
          <a:xfrm>
            <a:off x="566928" y="41513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133856" y="4123944"/>
            <a:ext cx="4507992"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Readable by a planner</a:t>
            </a:r>
            <a:endParaRPr lang="en-US" sz="1500" dirty="0"/>
          </a:p>
        </p:txBody>
      </p:sp>
      <p:sp>
        <p:nvSpPr>
          <p:cNvPr id="15" name="Text 13"/>
          <p:cNvSpPr txBox="1"/>
          <p:nvPr/>
        </p:nvSpPr>
        <p:spPr>
          <a:xfrm>
            <a:off x="1133856" y="4416552"/>
            <a:ext cx="4507992" cy="786384"/>
          </a:xfrm>
          <a:prstGeom prst="rect">
            <a:avLst/>
          </a:prstGeom>
          <a:noFill/>
          <a:ln/>
        </p:spPr>
        <p:txBody>
          <a:bodyPr wrap="square" lIns="0" tIns="0" rIns="0" bIns="0" rtlCol="0" anchor="ctr"/>
          <a:lstStyle/>
          <a:p>
            <a:pPr indent="0" marL="0">
              <a:lnSpc>
                <a:spcPts val="1600"/>
              </a:lnSpc>
              <a:buNone/>
            </a:pPr>
            <a:r>
              <a:rPr lang="en-US" sz="1250" dirty="0">
                <a:solidFill>
                  <a:srgbClr val="6B7C85"/>
                </a:solidFill>
                <a:latin typeface="Calibri" pitchFamily="34" charset="0"/>
                <a:ea typeface="Calibri" pitchFamily="34" charset="-122"/>
                <a:cs typeface="Calibri" pitchFamily="34" charset="-120"/>
              </a:rPr>
              <a:t>One coefficient per effect. "Why is next Friday high?" has an answer.</a:t>
            </a:r>
            <a:endParaRPr lang="en-US" sz="1250" dirty="0"/>
          </a:p>
        </p:txBody>
      </p:sp>
      <p:graphicFrame>
        <p:nvGraphicFramePr>
          <p:cNvPr id="16" name="Chart 0" descr=""/>
          <p:cNvGraphicFramePr/>
          <p:nvPr/>
        </p:nvGraphicFramePr>
        <p:xfrm>
          <a:off x="6172200" y="1481328"/>
          <a:ext cx="5440680" cy="39319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60" kern="0" dirty="0">
                <a:solidFill>
                  <a:srgbClr val="0F8A7E"/>
                </a:solidFill>
                <a:latin typeface="Calibri" pitchFamily="34" charset="0"/>
                <a:ea typeface="Calibri" pitchFamily="34" charset="-122"/>
                <a:cs typeface="Calibri" pitchFamily="34" charset="-120"/>
              </a:rPr>
              <a:t>OUT-OF-SAMPLE ACCURACY</a:t>
            </a:r>
            <a:endParaRPr lang="en-US" sz="1150" dirty="0"/>
          </a:p>
        </p:txBody>
      </p:sp>
      <p:sp>
        <p:nvSpPr>
          <p:cNvPr id="3" name="Text 1"/>
          <p:cNvSpPr txBox="1"/>
          <p:nvPr/>
        </p:nvSpPr>
        <p:spPr>
          <a:xfrm>
            <a:off x="566928" y="621792"/>
            <a:ext cx="11064240" cy="566928"/>
          </a:xfrm>
          <a:prstGeom prst="rect">
            <a:avLst/>
          </a:prstGeom>
          <a:noFill/>
          <a:ln/>
        </p:spPr>
        <p:txBody>
          <a:bodyPr wrap="square" lIns="0" tIns="0" rIns="0" bIns="0" rtlCol="0" anchor="ctr"/>
          <a:lstStyle/>
          <a:p>
            <a:pPr indent="0" marL="0">
              <a:buNone/>
            </a:pPr>
            <a:r>
              <a:rPr lang="en-US" sz="3200" b="1" dirty="0">
                <a:solidFill>
                  <a:srgbClr val="0E2A33"/>
                </a:solidFill>
                <a:latin typeface="Cambria" pitchFamily="34" charset="0"/>
                <a:ea typeface="Cambria" pitchFamily="34" charset="-122"/>
                <a:cs typeface="Cambria" pitchFamily="34" charset="-120"/>
              </a:rPr>
              <a:t>Beats the benchmark in every category</a:t>
            </a:r>
            <a:endParaRPr lang="en-US" sz="3200" dirty="0"/>
          </a:p>
        </p:txBody>
      </p:sp>
      <p:graphicFrame>
        <p:nvGraphicFramePr>
          <p:cNvPr id="4" name="Chart 0" descr=""/>
          <p:cNvGraphicFramePr/>
          <p:nvPr/>
        </p:nvGraphicFramePr>
        <p:xfrm>
          <a:off x="566928" y="1554480"/>
          <a:ext cx="749808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412480" y="1554480"/>
            <a:ext cx="3200400" cy="3931920"/>
          </a:xfrm>
          <a:prstGeom prst="roundRect">
            <a:avLst>
              <a:gd name="adj" fmla="val 1714"/>
            </a:avLst>
          </a:prstGeom>
          <a:solidFill>
            <a:srgbClr val="0E2A33"/>
          </a:solidFill>
          <a:ln w="9525">
            <a:solidFill>
              <a:srgbClr val="0E2A33"/>
            </a:solidFill>
            <a:prstDash val="solid"/>
          </a:ln>
          <a:effectLst>
            <a:outerShdw sx="100000" sy="100000" kx="0" ky="0" algn="bl" rotWithShape="0" blurRad="127000" dist="25400" dir="5400000">
              <a:srgbClr val="9FB0B7">
                <a:alpha val="32000"/>
              </a:srgbClr>
            </a:outerShdw>
          </a:effectLst>
        </p:spPr>
      </p:sp>
      <p:sp>
        <p:nvSpPr>
          <p:cNvPr id="6" name="Text 3"/>
          <p:cNvSpPr txBox="1"/>
          <p:nvPr/>
        </p:nvSpPr>
        <p:spPr>
          <a:xfrm>
            <a:off x="8668512" y="1828800"/>
            <a:ext cx="2743200" cy="457200"/>
          </a:xfrm>
          <a:prstGeom prst="rect">
            <a:avLst/>
          </a:prstGeom>
          <a:noFill/>
          <a:ln/>
        </p:spPr>
        <p:txBody>
          <a:bodyPr wrap="square" lIns="0" tIns="0" rIns="0" bIns="0" rtlCol="0" anchor="ctr"/>
          <a:lstStyle/>
          <a:p>
            <a:pPr indent="0" marL="0">
              <a:buNone/>
            </a:pPr>
            <a:r>
              <a:rPr lang="en-US" sz="1000" b="1" spc="120" kern="0" dirty="0">
                <a:solidFill>
                  <a:srgbClr val="39B7A4"/>
                </a:solidFill>
                <a:latin typeface="Calibri" pitchFamily="34" charset="0"/>
                <a:ea typeface="Calibri" pitchFamily="34" charset="-122"/>
                <a:cs typeface="Calibri" pitchFamily="34" charset="-120"/>
              </a:rPr>
              <a:t>DEMAND-WEIGHTED, ALL 90 SERIES</a:t>
            </a:r>
            <a:endParaRPr lang="en-US" sz="1000" dirty="0"/>
          </a:p>
        </p:txBody>
      </p:sp>
      <p:sp>
        <p:nvSpPr>
          <p:cNvPr id="7" name="Text 4"/>
          <p:cNvSpPr txBox="1"/>
          <p:nvPr/>
        </p:nvSpPr>
        <p:spPr>
          <a:xfrm>
            <a:off x="8668512" y="2286000"/>
            <a:ext cx="2743200" cy="7315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29.4%</a:t>
            </a:r>
            <a:endParaRPr lang="en-US" sz="4600" dirty="0"/>
          </a:p>
        </p:txBody>
      </p:sp>
      <p:sp>
        <p:nvSpPr>
          <p:cNvPr id="8" name="Text 5"/>
          <p:cNvSpPr txBox="1"/>
          <p:nvPr/>
        </p:nvSpPr>
        <p:spPr>
          <a:xfrm>
            <a:off x="8668512" y="2999232"/>
            <a:ext cx="2743200" cy="237744"/>
          </a:xfrm>
          <a:prstGeom prst="rect">
            <a:avLst/>
          </a:prstGeom>
          <a:noFill/>
          <a:ln/>
        </p:spPr>
        <p:txBody>
          <a:bodyPr wrap="square" lIns="0" tIns="0" rIns="0" bIns="0" rtlCol="0" anchor="ctr"/>
          <a:lstStyle/>
          <a:p>
            <a:pPr indent="0" marL="0">
              <a:buNone/>
            </a:pPr>
            <a:r>
              <a:rPr lang="en-US" sz="1200" dirty="0">
                <a:solidFill>
                  <a:srgbClr val="9FB6BD"/>
                </a:solidFill>
                <a:latin typeface="Calibri" pitchFamily="34" charset="0"/>
                <a:ea typeface="Calibri" pitchFamily="34" charset="-122"/>
                <a:cs typeface="Calibri" pitchFamily="34" charset="-120"/>
              </a:rPr>
              <a:t>model WAPE</a:t>
            </a:r>
            <a:endParaRPr lang="en-US" sz="1200" dirty="0"/>
          </a:p>
        </p:txBody>
      </p:sp>
      <p:sp>
        <p:nvSpPr>
          <p:cNvPr id="9" name="Text 6"/>
          <p:cNvSpPr txBox="1"/>
          <p:nvPr/>
        </p:nvSpPr>
        <p:spPr>
          <a:xfrm>
            <a:off x="8668512" y="3401568"/>
            <a:ext cx="2743200" cy="457200"/>
          </a:xfrm>
          <a:prstGeom prst="rect">
            <a:avLst/>
          </a:prstGeom>
          <a:noFill/>
          <a:ln/>
        </p:spPr>
        <p:txBody>
          <a:bodyPr wrap="square" lIns="0" tIns="0" rIns="0" bIns="0" rtlCol="0" anchor="ctr"/>
          <a:lstStyle/>
          <a:p>
            <a:pPr indent="0" marL="0">
              <a:buNone/>
            </a:pPr>
            <a:r>
              <a:rPr lang="en-US" sz="2600" b="1" dirty="0">
                <a:solidFill>
                  <a:srgbClr val="D98E37"/>
                </a:solidFill>
                <a:latin typeface="Cambria" pitchFamily="34" charset="0"/>
                <a:ea typeface="Cambria" pitchFamily="34" charset="-122"/>
                <a:cs typeface="Cambria" pitchFamily="34" charset="-120"/>
              </a:rPr>
              <a:t>38.3%</a:t>
            </a:r>
            <a:endParaRPr lang="en-US" sz="2600" dirty="0"/>
          </a:p>
        </p:txBody>
      </p:sp>
      <p:sp>
        <p:nvSpPr>
          <p:cNvPr id="10" name="Text 7"/>
          <p:cNvSpPr txBox="1"/>
          <p:nvPr/>
        </p:nvSpPr>
        <p:spPr>
          <a:xfrm>
            <a:off x="8668512" y="3840480"/>
            <a:ext cx="2743200" cy="237744"/>
          </a:xfrm>
          <a:prstGeom prst="rect">
            <a:avLst/>
          </a:prstGeom>
          <a:noFill/>
          <a:ln/>
        </p:spPr>
        <p:txBody>
          <a:bodyPr wrap="square" lIns="0" tIns="0" rIns="0" bIns="0" rtlCol="0" anchor="ctr"/>
          <a:lstStyle/>
          <a:p>
            <a:pPr indent="0" marL="0">
              <a:buNone/>
            </a:pPr>
            <a:r>
              <a:rPr lang="en-US" sz="1200" dirty="0">
                <a:solidFill>
                  <a:srgbClr val="9FB6BD"/>
                </a:solidFill>
                <a:latin typeface="Calibri" pitchFamily="34" charset="0"/>
                <a:ea typeface="Calibri" pitchFamily="34" charset="-122"/>
                <a:cs typeface="Calibri" pitchFamily="34" charset="-120"/>
              </a:rPr>
              <a:t>seasonal naive benchmark</a:t>
            </a:r>
            <a:endParaRPr lang="en-US" sz="1200" dirty="0"/>
          </a:p>
        </p:txBody>
      </p:sp>
      <p:sp>
        <p:nvSpPr>
          <p:cNvPr id="11" name="Text 8"/>
          <p:cNvSpPr txBox="1"/>
          <p:nvPr/>
        </p:nvSpPr>
        <p:spPr>
          <a:xfrm>
            <a:off x="8668512" y="4315968"/>
            <a:ext cx="2743200" cy="310896"/>
          </a:xfrm>
          <a:prstGeom prst="rect">
            <a:avLst/>
          </a:prstGeom>
          <a:noFill/>
          <a:ln/>
        </p:spPr>
        <p:txBody>
          <a:bodyPr wrap="square" lIns="0" tIns="0" rIns="0" bIns="0" rtlCol="0" anchor="ctr"/>
          <a:lstStyle/>
          <a:p>
            <a:pPr indent="0" marL="0">
              <a:buNone/>
            </a:pPr>
            <a:r>
              <a:rPr lang="en-US" sz="1500" b="1" dirty="0">
                <a:solidFill>
                  <a:srgbClr val="39B7A4"/>
                </a:solidFill>
                <a:latin typeface="Calibri" pitchFamily="34" charset="0"/>
                <a:ea typeface="Calibri" pitchFamily="34" charset="-122"/>
                <a:cs typeface="Calibri" pitchFamily="34" charset="-120"/>
              </a:rPr>
              <a:t>23% lower error</a:t>
            </a:r>
            <a:endParaRPr lang="en-US" sz="1500" dirty="0"/>
          </a:p>
        </p:txBody>
      </p:sp>
      <p:sp>
        <p:nvSpPr>
          <p:cNvPr id="12" name="Text 9"/>
          <p:cNvSpPr txBox="1"/>
          <p:nvPr/>
        </p:nvSpPr>
        <p:spPr>
          <a:xfrm>
            <a:off x="8668512" y="4663440"/>
            <a:ext cx="2743200" cy="731520"/>
          </a:xfrm>
          <a:prstGeom prst="rect">
            <a:avLst/>
          </a:prstGeom>
          <a:noFill/>
          <a:ln/>
        </p:spPr>
        <p:txBody>
          <a:bodyPr wrap="square" lIns="0" tIns="0" rIns="0" bIns="0" rtlCol="0" anchor="ctr"/>
          <a:lstStyle/>
          <a:p>
            <a:pPr indent="0" marL="0">
              <a:lnSpc>
                <a:spcPts val="1500"/>
              </a:lnSpc>
              <a:buNone/>
            </a:pPr>
            <a:r>
              <a:rPr lang="en-US" sz="1100" dirty="0">
                <a:solidFill>
                  <a:srgbClr val="8FA7AF"/>
                </a:solidFill>
                <a:latin typeface="Calibri" pitchFamily="34" charset="0"/>
                <a:ea typeface="Calibri" pitchFamily="34" charset="-122"/>
                <a:cs typeface="Calibri" pitchFamily="34" charset="-120"/>
              </a:rPr>
              <a:t>Rolling origin, 3 folds × 28 days. The benchmark is the mean of the last four same-weekday observations.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60" kern="0" dirty="0">
                <a:solidFill>
                  <a:srgbClr val="0F8A7E"/>
                </a:solidFill>
                <a:latin typeface="Calibri" pitchFamily="34" charset="0"/>
                <a:ea typeface="Calibri" pitchFamily="34" charset="-122"/>
                <a:cs typeface="Calibri" pitchFamily="34" charset="-120"/>
              </a:rPr>
              <a:t>INVENTORY POLICY</a:t>
            </a:r>
            <a:endParaRPr lang="en-US" sz="1150" dirty="0"/>
          </a:p>
        </p:txBody>
      </p:sp>
      <p:sp>
        <p:nvSpPr>
          <p:cNvPr id="3" name="Text 1"/>
          <p:cNvSpPr txBox="1"/>
          <p:nvPr/>
        </p:nvSpPr>
        <p:spPr>
          <a:xfrm>
            <a:off x="566928" y="621792"/>
            <a:ext cx="11064240" cy="566928"/>
          </a:xfrm>
          <a:prstGeom prst="rect">
            <a:avLst/>
          </a:prstGeom>
          <a:noFill/>
          <a:ln/>
        </p:spPr>
        <p:txBody>
          <a:bodyPr wrap="square" lIns="0" tIns="0" rIns="0" bIns="0" rtlCol="0" anchor="ctr"/>
          <a:lstStyle/>
          <a:p>
            <a:pPr indent="0" marL="0">
              <a:buNone/>
            </a:pPr>
            <a:r>
              <a:rPr lang="en-US" sz="3200" b="1" dirty="0">
                <a:solidFill>
                  <a:srgbClr val="0E2A33"/>
                </a:solidFill>
                <a:latin typeface="Cambria" pitchFamily="34" charset="0"/>
                <a:ea typeface="Cambria" pitchFamily="34" charset="-122"/>
                <a:cs typeface="Cambria" pitchFamily="34" charset="-120"/>
              </a:rPr>
              <a:t>Continuous review (s, Q) with a periodic order-up-to overlay</a:t>
            </a:r>
            <a:endParaRPr lang="en-US" sz="3200" dirty="0"/>
          </a:p>
        </p:txBody>
      </p:sp>
      <p:sp>
        <p:nvSpPr>
          <p:cNvPr id="4" name="Shape 2"/>
          <p:cNvSpPr/>
          <p:nvPr/>
        </p:nvSpPr>
        <p:spPr>
          <a:xfrm>
            <a:off x="566928" y="1536192"/>
            <a:ext cx="5358384" cy="1316736"/>
          </a:xfrm>
          <a:prstGeom prst="roundRect">
            <a:avLst>
              <a:gd name="adj" fmla="val 4167"/>
            </a:avLst>
          </a:prstGeom>
          <a:solidFill>
            <a:srgbClr val="F1F5F6"/>
          </a:solidFill>
          <a:ln w="9525">
            <a:solidFill>
              <a:srgbClr val="E2E9EB"/>
            </a:solidFill>
            <a:prstDash val="solid"/>
          </a:ln>
          <a:effectLst>
            <a:outerShdw sx="100000" sy="100000" kx="0" ky="0" algn="bl" rotWithShape="0" blurRad="127000" dist="25400" dir="5400000">
              <a:srgbClr val="9FB0B7">
                <a:alpha val="32000"/>
              </a:srgbClr>
            </a:outerShdw>
          </a:effectLst>
        </p:spPr>
      </p:sp>
      <p:sp>
        <p:nvSpPr>
          <p:cNvPr id="5" name="Text 3"/>
          <p:cNvSpPr txBox="1"/>
          <p:nvPr/>
        </p:nvSpPr>
        <p:spPr>
          <a:xfrm>
            <a:off x="841248" y="1700784"/>
            <a:ext cx="4754880" cy="219456"/>
          </a:xfrm>
          <a:prstGeom prst="rect">
            <a:avLst/>
          </a:prstGeom>
          <a:noFill/>
          <a:ln/>
        </p:spPr>
        <p:txBody>
          <a:bodyPr wrap="square" lIns="0" tIns="0" rIns="0" bIns="0" rtlCol="0" anchor="ctr"/>
          <a:lstStyle/>
          <a:p>
            <a:pPr indent="0" marL="0">
              <a:buNone/>
            </a:pPr>
            <a:r>
              <a:rPr lang="en-US" sz="1050" b="1" spc="120" kern="0" dirty="0">
                <a:solidFill>
                  <a:srgbClr val="0F8A7E"/>
                </a:solidFill>
                <a:latin typeface="Calibri" pitchFamily="34" charset="0"/>
                <a:ea typeface="Calibri" pitchFamily="34" charset="-122"/>
                <a:cs typeface="Calibri" pitchFamily="34" charset="-120"/>
              </a:rPr>
              <a:t>SAFETY STOCK</a:t>
            </a:r>
            <a:endParaRPr lang="en-US" sz="1050" dirty="0"/>
          </a:p>
        </p:txBody>
      </p:sp>
      <p:sp>
        <p:nvSpPr>
          <p:cNvPr id="6" name="Text 4"/>
          <p:cNvSpPr txBox="1"/>
          <p:nvPr/>
        </p:nvSpPr>
        <p:spPr>
          <a:xfrm>
            <a:off x="841248" y="1938528"/>
            <a:ext cx="4846320" cy="329184"/>
          </a:xfrm>
          <a:prstGeom prst="rect">
            <a:avLst/>
          </a:prstGeom>
          <a:noFill/>
          <a:ln/>
        </p:spPr>
        <p:txBody>
          <a:bodyPr wrap="square" lIns="0" tIns="0" rIns="0" bIns="0" rtlCol="0" anchor="ctr"/>
          <a:lstStyle/>
          <a:p>
            <a:pPr indent="0" marL="0">
              <a:buNone/>
            </a:pPr>
            <a:r>
              <a:rPr lang="en-US" sz="1800" b="1" dirty="0">
                <a:solidFill>
                  <a:srgbClr val="0E2A33"/>
                </a:solidFill>
                <a:latin typeface="Cambria" pitchFamily="34" charset="0"/>
                <a:ea typeface="Cambria" pitchFamily="34" charset="-122"/>
                <a:cs typeface="Cambria" pitchFamily="34" charset="-120"/>
              </a:rPr>
              <a:t>SS  =  z(α) · σ · √(L + R)</a:t>
            </a:r>
            <a:endParaRPr lang="en-US" sz="1800" dirty="0"/>
          </a:p>
        </p:txBody>
      </p:sp>
      <p:sp>
        <p:nvSpPr>
          <p:cNvPr id="7" name="Text 5"/>
          <p:cNvSpPr txBox="1"/>
          <p:nvPr/>
        </p:nvSpPr>
        <p:spPr>
          <a:xfrm>
            <a:off x="841248" y="2322576"/>
            <a:ext cx="4846320" cy="420624"/>
          </a:xfrm>
          <a:prstGeom prst="rect">
            <a:avLst/>
          </a:prstGeom>
          <a:noFill/>
          <a:ln/>
        </p:spPr>
        <p:txBody>
          <a:bodyPr wrap="square" lIns="0" tIns="0" rIns="0" bIns="0" rtlCol="0" anchor="ctr"/>
          <a:lstStyle/>
          <a:p>
            <a:pPr indent="0" marL="0">
              <a:lnSpc>
                <a:spcPts val="1500"/>
              </a:lnSpc>
              <a:buNone/>
            </a:pPr>
            <a:r>
              <a:rPr lang="en-US" sz="1150" dirty="0">
                <a:solidFill>
                  <a:srgbClr val="6B7C85"/>
                </a:solidFill>
                <a:latin typeface="Calibri" pitchFamily="34" charset="0"/>
                <a:ea typeface="Calibri" pitchFamily="34" charset="-122"/>
                <a:cs typeface="Calibri" pitchFamily="34" charset="-120"/>
              </a:rPr>
              <a:t>σ is the out-of-sample forecast error per day; L is lead time, R the review period.</a:t>
            </a:r>
            <a:endParaRPr lang="en-US" sz="1150" dirty="0"/>
          </a:p>
        </p:txBody>
      </p:sp>
      <p:sp>
        <p:nvSpPr>
          <p:cNvPr id="8" name="Shape 6"/>
          <p:cNvSpPr/>
          <p:nvPr/>
        </p:nvSpPr>
        <p:spPr>
          <a:xfrm>
            <a:off x="6236208" y="1536192"/>
            <a:ext cx="5358384" cy="1316736"/>
          </a:xfrm>
          <a:prstGeom prst="roundRect">
            <a:avLst>
              <a:gd name="adj" fmla="val 4167"/>
            </a:avLst>
          </a:prstGeom>
          <a:solidFill>
            <a:srgbClr val="F1F5F6"/>
          </a:solidFill>
          <a:ln w="9525">
            <a:solidFill>
              <a:srgbClr val="E2E9EB"/>
            </a:solidFill>
            <a:prstDash val="solid"/>
          </a:ln>
          <a:effectLst>
            <a:outerShdw sx="100000" sy="100000" kx="0" ky="0" algn="bl" rotWithShape="0" blurRad="127000" dist="25400" dir="5400000">
              <a:srgbClr val="9FB0B7">
                <a:alpha val="32000"/>
              </a:srgbClr>
            </a:outerShdw>
          </a:effectLst>
        </p:spPr>
      </p:sp>
      <p:sp>
        <p:nvSpPr>
          <p:cNvPr id="9" name="Text 7"/>
          <p:cNvSpPr txBox="1"/>
          <p:nvPr/>
        </p:nvSpPr>
        <p:spPr>
          <a:xfrm>
            <a:off x="6510528" y="1700784"/>
            <a:ext cx="4754880" cy="219456"/>
          </a:xfrm>
          <a:prstGeom prst="rect">
            <a:avLst/>
          </a:prstGeom>
          <a:noFill/>
          <a:ln/>
        </p:spPr>
        <p:txBody>
          <a:bodyPr wrap="square" lIns="0" tIns="0" rIns="0" bIns="0" rtlCol="0" anchor="ctr"/>
          <a:lstStyle/>
          <a:p>
            <a:pPr indent="0" marL="0">
              <a:buNone/>
            </a:pPr>
            <a:r>
              <a:rPr lang="en-US" sz="1050" b="1" spc="120" kern="0" dirty="0">
                <a:solidFill>
                  <a:srgbClr val="0F8A7E"/>
                </a:solidFill>
                <a:latin typeface="Calibri" pitchFamily="34" charset="0"/>
                <a:ea typeface="Calibri" pitchFamily="34" charset="-122"/>
                <a:cs typeface="Calibri" pitchFamily="34" charset="-120"/>
              </a:rPr>
              <a:t>REORDER POINT</a:t>
            </a:r>
            <a:endParaRPr lang="en-US" sz="1050" dirty="0"/>
          </a:p>
        </p:txBody>
      </p:sp>
      <p:sp>
        <p:nvSpPr>
          <p:cNvPr id="10" name="Text 8"/>
          <p:cNvSpPr txBox="1"/>
          <p:nvPr/>
        </p:nvSpPr>
        <p:spPr>
          <a:xfrm>
            <a:off x="6510528" y="1938528"/>
            <a:ext cx="4846320" cy="329184"/>
          </a:xfrm>
          <a:prstGeom prst="rect">
            <a:avLst/>
          </a:prstGeom>
          <a:noFill/>
          <a:ln/>
        </p:spPr>
        <p:txBody>
          <a:bodyPr wrap="square" lIns="0" tIns="0" rIns="0" bIns="0" rtlCol="0" anchor="ctr"/>
          <a:lstStyle/>
          <a:p>
            <a:pPr indent="0" marL="0">
              <a:buNone/>
            </a:pPr>
            <a:r>
              <a:rPr lang="en-US" sz="1800" b="1" dirty="0">
                <a:solidFill>
                  <a:srgbClr val="0E2A33"/>
                </a:solidFill>
                <a:latin typeface="Cambria" pitchFamily="34" charset="0"/>
                <a:ea typeface="Cambria" pitchFamily="34" charset="-122"/>
                <a:cs typeface="Cambria" pitchFamily="34" charset="-120"/>
              </a:rPr>
              <a:t>s  =  μ · L  +  SS</a:t>
            </a:r>
            <a:endParaRPr lang="en-US" sz="1800" dirty="0"/>
          </a:p>
        </p:txBody>
      </p:sp>
      <p:sp>
        <p:nvSpPr>
          <p:cNvPr id="11" name="Text 9"/>
          <p:cNvSpPr txBox="1"/>
          <p:nvPr/>
        </p:nvSpPr>
        <p:spPr>
          <a:xfrm>
            <a:off x="6510528" y="2322576"/>
            <a:ext cx="4846320" cy="420624"/>
          </a:xfrm>
          <a:prstGeom prst="rect">
            <a:avLst/>
          </a:prstGeom>
          <a:noFill/>
          <a:ln/>
        </p:spPr>
        <p:txBody>
          <a:bodyPr wrap="square" lIns="0" tIns="0" rIns="0" bIns="0" rtlCol="0" anchor="ctr"/>
          <a:lstStyle/>
          <a:p>
            <a:pPr indent="0" marL="0">
              <a:lnSpc>
                <a:spcPts val="1500"/>
              </a:lnSpc>
              <a:buNone/>
            </a:pPr>
            <a:r>
              <a:rPr lang="en-US" sz="1150" dirty="0">
                <a:solidFill>
                  <a:srgbClr val="6B7C85"/>
                </a:solidFill>
                <a:latin typeface="Calibri" pitchFamily="34" charset="0"/>
                <a:ea typeface="Calibri" pitchFamily="34" charset="-122"/>
                <a:cs typeface="Calibri" pitchFamily="34" charset="-120"/>
              </a:rPr>
              <a:t>Cross it and a purchase order goes out. Lead times here run 5 to 28 days by category.</a:t>
            </a:r>
            <a:endParaRPr lang="en-US" sz="1150" dirty="0"/>
          </a:p>
        </p:txBody>
      </p:sp>
      <p:sp>
        <p:nvSpPr>
          <p:cNvPr id="12" name="Shape 10"/>
          <p:cNvSpPr/>
          <p:nvPr/>
        </p:nvSpPr>
        <p:spPr>
          <a:xfrm>
            <a:off x="566928" y="3054096"/>
            <a:ext cx="5358384" cy="1316736"/>
          </a:xfrm>
          <a:prstGeom prst="roundRect">
            <a:avLst>
              <a:gd name="adj" fmla="val 4167"/>
            </a:avLst>
          </a:prstGeom>
          <a:solidFill>
            <a:srgbClr val="F1F5F6"/>
          </a:solidFill>
          <a:ln w="9525">
            <a:solidFill>
              <a:srgbClr val="E2E9EB"/>
            </a:solidFill>
            <a:prstDash val="solid"/>
          </a:ln>
          <a:effectLst>
            <a:outerShdw sx="100000" sy="100000" kx="0" ky="0" algn="bl" rotWithShape="0" blurRad="127000" dist="25400" dir="5400000">
              <a:srgbClr val="9FB0B7">
                <a:alpha val="32000"/>
              </a:srgbClr>
            </a:outerShdw>
          </a:effectLst>
        </p:spPr>
      </p:sp>
      <p:sp>
        <p:nvSpPr>
          <p:cNvPr id="13" name="Text 11"/>
          <p:cNvSpPr txBox="1"/>
          <p:nvPr/>
        </p:nvSpPr>
        <p:spPr>
          <a:xfrm>
            <a:off x="841248" y="3218688"/>
            <a:ext cx="4754880" cy="219456"/>
          </a:xfrm>
          <a:prstGeom prst="rect">
            <a:avLst/>
          </a:prstGeom>
          <a:noFill/>
          <a:ln/>
        </p:spPr>
        <p:txBody>
          <a:bodyPr wrap="square" lIns="0" tIns="0" rIns="0" bIns="0" rtlCol="0" anchor="ctr"/>
          <a:lstStyle/>
          <a:p>
            <a:pPr indent="0" marL="0">
              <a:buNone/>
            </a:pPr>
            <a:r>
              <a:rPr lang="en-US" sz="1050" b="1" spc="120" kern="0" dirty="0">
                <a:solidFill>
                  <a:srgbClr val="0F8A7E"/>
                </a:solidFill>
                <a:latin typeface="Calibri" pitchFamily="34" charset="0"/>
                <a:ea typeface="Calibri" pitchFamily="34" charset="-122"/>
                <a:cs typeface="Calibri" pitchFamily="34" charset="-120"/>
              </a:rPr>
              <a:t>ORDER QUANTITY</a:t>
            </a:r>
            <a:endParaRPr lang="en-US" sz="1050" dirty="0"/>
          </a:p>
        </p:txBody>
      </p:sp>
      <p:sp>
        <p:nvSpPr>
          <p:cNvPr id="14" name="Text 12"/>
          <p:cNvSpPr txBox="1"/>
          <p:nvPr/>
        </p:nvSpPr>
        <p:spPr>
          <a:xfrm>
            <a:off x="841248" y="3456432"/>
            <a:ext cx="4846320" cy="329184"/>
          </a:xfrm>
          <a:prstGeom prst="rect">
            <a:avLst/>
          </a:prstGeom>
          <a:noFill/>
          <a:ln/>
        </p:spPr>
        <p:txBody>
          <a:bodyPr wrap="square" lIns="0" tIns="0" rIns="0" bIns="0" rtlCol="0" anchor="ctr"/>
          <a:lstStyle/>
          <a:p>
            <a:pPr indent="0" marL="0">
              <a:buNone/>
            </a:pPr>
            <a:r>
              <a:rPr lang="en-US" sz="1800" b="1" dirty="0">
                <a:solidFill>
                  <a:srgbClr val="0E2A33"/>
                </a:solidFill>
                <a:latin typeface="Cambria" pitchFamily="34" charset="0"/>
                <a:ea typeface="Cambria" pitchFamily="34" charset="-122"/>
                <a:cs typeface="Cambria" pitchFamily="34" charset="-120"/>
              </a:rPr>
              <a:t>Q  =  √( 2 · D · S / H )</a:t>
            </a:r>
            <a:endParaRPr lang="en-US" sz="1800" dirty="0"/>
          </a:p>
        </p:txBody>
      </p:sp>
      <p:sp>
        <p:nvSpPr>
          <p:cNvPr id="15" name="Text 13"/>
          <p:cNvSpPr txBox="1"/>
          <p:nvPr/>
        </p:nvSpPr>
        <p:spPr>
          <a:xfrm>
            <a:off x="841248" y="3840480"/>
            <a:ext cx="4846320" cy="420624"/>
          </a:xfrm>
          <a:prstGeom prst="rect">
            <a:avLst/>
          </a:prstGeom>
          <a:noFill/>
          <a:ln/>
        </p:spPr>
        <p:txBody>
          <a:bodyPr wrap="square" lIns="0" tIns="0" rIns="0" bIns="0" rtlCol="0" anchor="ctr"/>
          <a:lstStyle/>
          <a:p>
            <a:pPr indent="0" marL="0">
              <a:lnSpc>
                <a:spcPts val="1500"/>
              </a:lnSpc>
              <a:buNone/>
            </a:pPr>
            <a:r>
              <a:rPr lang="en-US" sz="1150" dirty="0">
                <a:solidFill>
                  <a:srgbClr val="6B7C85"/>
                </a:solidFill>
                <a:latin typeface="Calibri" pitchFamily="34" charset="0"/>
                <a:ea typeface="Calibri" pitchFamily="34" charset="-122"/>
                <a:cs typeface="Calibri" pitchFamily="34" charset="-120"/>
              </a:rPr>
              <a:t>Economic order quantity, then rounded up to the supplier case pack.</a:t>
            </a:r>
            <a:endParaRPr lang="en-US" sz="1150" dirty="0"/>
          </a:p>
        </p:txBody>
      </p:sp>
      <p:sp>
        <p:nvSpPr>
          <p:cNvPr id="16" name="Shape 14"/>
          <p:cNvSpPr/>
          <p:nvPr/>
        </p:nvSpPr>
        <p:spPr>
          <a:xfrm>
            <a:off x="6236208" y="3054096"/>
            <a:ext cx="5358384" cy="1316736"/>
          </a:xfrm>
          <a:prstGeom prst="roundRect">
            <a:avLst>
              <a:gd name="adj" fmla="val 4167"/>
            </a:avLst>
          </a:prstGeom>
          <a:solidFill>
            <a:srgbClr val="F1F5F6"/>
          </a:solidFill>
          <a:ln w="9525">
            <a:solidFill>
              <a:srgbClr val="E2E9EB"/>
            </a:solidFill>
            <a:prstDash val="solid"/>
          </a:ln>
          <a:effectLst>
            <a:outerShdw sx="100000" sy="100000" kx="0" ky="0" algn="bl" rotWithShape="0" blurRad="127000" dist="25400" dir="5400000">
              <a:srgbClr val="9FB0B7">
                <a:alpha val="32000"/>
              </a:srgbClr>
            </a:outerShdw>
          </a:effectLst>
        </p:spPr>
      </p:sp>
      <p:sp>
        <p:nvSpPr>
          <p:cNvPr id="17" name="Text 15"/>
          <p:cNvSpPr txBox="1"/>
          <p:nvPr/>
        </p:nvSpPr>
        <p:spPr>
          <a:xfrm>
            <a:off x="6510528" y="3218688"/>
            <a:ext cx="4754880" cy="219456"/>
          </a:xfrm>
          <a:prstGeom prst="rect">
            <a:avLst/>
          </a:prstGeom>
          <a:noFill/>
          <a:ln/>
        </p:spPr>
        <p:txBody>
          <a:bodyPr wrap="square" lIns="0" tIns="0" rIns="0" bIns="0" rtlCol="0" anchor="ctr"/>
          <a:lstStyle/>
          <a:p>
            <a:pPr indent="0" marL="0">
              <a:buNone/>
            </a:pPr>
            <a:r>
              <a:rPr lang="en-US" sz="1050" b="1" spc="120" kern="0" dirty="0">
                <a:solidFill>
                  <a:srgbClr val="0F8A7E"/>
                </a:solidFill>
                <a:latin typeface="Calibri" pitchFamily="34" charset="0"/>
                <a:ea typeface="Calibri" pitchFamily="34" charset="-122"/>
                <a:cs typeface="Calibri" pitchFamily="34" charset="-120"/>
              </a:rPr>
              <a:t>FILL RATE</a:t>
            </a:r>
            <a:endParaRPr lang="en-US" sz="1050" dirty="0"/>
          </a:p>
        </p:txBody>
      </p:sp>
      <p:sp>
        <p:nvSpPr>
          <p:cNvPr id="18" name="Text 16"/>
          <p:cNvSpPr txBox="1"/>
          <p:nvPr/>
        </p:nvSpPr>
        <p:spPr>
          <a:xfrm>
            <a:off x="6510528" y="3456432"/>
            <a:ext cx="4846320" cy="329184"/>
          </a:xfrm>
          <a:prstGeom prst="rect">
            <a:avLst/>
          </a:prstGeom>
          <a:noFill/>
          <a:ln/>
        </p:spPr>
        <p:txBody>
          <a:bodyPr wrap="square" lIns="0" tIns="0" rIns="0" bIns="0" rtlCol="0" anchor="ctr"/>
          <a:lstStyle/>
          <a:p>
            <a:pPr indent="0" marL="0">
              <a:buNone/>
            </a:pPr>
            <a:r>
              <a:rPr lang="en-US" sz="1800" b="1" dirty="0">
                <a:solidFill>
                  <a:srgbClr val="0E2A33"/>
                </a:solidFill>
                <a:latin typeface="Cambria" pitchFamily="34" charset="0"/>
                <a:ea typeface="Cambria" pitchFamily="34" charset="-122"/>
                <a:cs typeface="Cambria" pitchFamily="34" charset="-120"/>
              </a:rPr>
              <a:t>1 −  σ√(L+R) · G(z) / Q</a:t>
            </a:r>
            <a:endParaRPr lang="en-US" sz="1800" dirty="0"/>
          </a:p>
        </p:txBody>
      </p:sp>
      <p:sp>
        <p:nvSpPr>
          <p:cNvPr id="19" name="Text 17"/>
          <p:cNvSpPr txBox="1"/>
          <p:nvPr/>
        </p:nvSpPr>
        <p:spPr>
          <a:xfrm>
            <a:off x="6510528" y="3840480"/>
            <a:ext cx="4846320" cy="420624"/>
          </a:xfrm>
          <a:prstGeom prst="rect">
            <a:avLst/>
          </a:prstGeom>
          <a:noFill/>
          <a:ln/>
        </p:spPr>
        <p:txBody>
          <a:bodyPr wrap="square" lIns="0" tIns="0" rIns="0" bIns="0" rtlCol="0" anchor="ctr"/>
          <a:lstStyle/>
          <a:p>
            <a:pPr indent="0" marL="0">
              <a:lnSpc>
                <a:spcPts val="1500"/>
              </a:lnSpc>
              <a:buNone/>
            </a:pPr>
            <a:r>
              <a:rPr lang="en-US" sz="1150" dirty="0">
                <a:solidFill>
                  <a:srgbClr val="6B7C85"/>
                </a:solidFill>
                <a:latin typeface="Calibri" pitchFamily="34" charset="0"/>
                <a:ea typeface="Calibri" pitchFamily="34" charset="-122"/>
                <a:cs typeface="Calibri" pitchFamily="34" charset="-120"/>
              </a:rPr>
              <a:t>From the unit normal loss function — not assumed equal to the service level.</a:t>
            </a:r>
            <a:endParaRPr lang="en-US" sz="1150" dirty="0"/>
          </a:p>
        </p:txBody>
      </p:sp>
      <p:sp>
        <p:nvSpPr>
          <p:cNvPr id="20" name="Shape 18"/>
          <p:cNvSpPr/>
          <p:nvPr/>
        </p:nvSpPr>
        <p:spPr>
          <a:xfrm>
            <a:off x="566928" y="4645152"/>
            <a:ext cx="11027664" cy="914400"/>
          </a:xfrm>
          <a:prstGeom prst="roundRect">
            <a:avLst>
              <a:gd name="adj" fmla="val 6000"/>
            </a:avLst>
          </a:prstGeom>
          <a:solidFill>
            <a:srgbClr val="0E2A33"/>
          </a:solidFill>
          <a:ln w="9525">
            <a:solidFill>
              <a:srgbClr val="0E2A33"/>
            </a:solidFill>
            <a:prstDash val="solid"/>
          </a:ln>
          <a:effectLst>
            <a:outerShdw sx="100000" sy="100000" kx="0" ky="0" algn="bl" rotWithShape="0" blurRad="127000" dist="25400" dir="5400000">
              <a:srgbClr val="9FB0B7">
                <a:alpha val="32000"/>
              </a:srgbClr>
            </a:outerShdw>
          </a:effectLst>
        </p:spPr>
      </p:sp>
      <p:sp>
        <p:nvSpPr>
          <p:cNvPr id="21" name="Text 19"/>
          <p:cNvSpPr txBox="1"/>
          <p:nvPr/>
        </p:nvSpPr>
        <p:spPr>
          <a:xfrm>
            <a:off x="859536" y="4828032"/>
            <a:ext cx="10424160" cy="566928"/>
          </a:xfrm>
          <a:prstGeom prst="rect">
            <a:avLst/>
          </a:prstGeom>
          <a:noFill/>
          <a:ln/>
        </p:spPr>
        <p:txBody>
          <a:bodyPr wrap="square" lIns="0" tIns="0" rIns="0" bIns="0" rtlCol="0" anchor="ctr"/>
          <a:lstStyle/>
          <a:p>
            <a:pPr indent="0" marL="0">
              <a:lnSpc>
                <a:spcPts val="1700"/>
              </a:lnSpc>
              <a:buNone/>
            </a:pPr>
            <a:r>
              <a:rPr lang="en-US" sz="1250" b="1" dirty="0">
                <a:solidFill>
                  <a:srgbClr val="FFFFFF"/>
                </a:solidFill>
                <a:latin typeface="Calibri" pitchFamily="34" charset="0"/>
                <a:ea typeface="Calibri" pitchFamily="34" charset="-122"/>
                <a:cs typeface="Calibri" pitchFamily="34" charset="-120"/>
              </a:rPr>
              <a:t>Cycle service level ≠ fill rate.  </a:t>
            </a:r>
            <a:pPr indent="0" marL="0">
              <a:lnSpc>
                <a:spcPts val="1700"/>
              </a:lnSpc>
              <a:buNone/>
            </a:pPr>
            <a:r>
              <a:rPr lang="en-US" sz="1250" dirty="0">
                <a:solidFill>
                  <a:srgbClr val="A9BDC4"/>
                </a:solidFill>
                <a:latin typeface="Calibri" pitchFamily="34" charset="0"/>
                <a:ea typeface="Calibri" pitchFamily="34" charset="-122"/>
                <a:cs typeface="Calibri" pitchFamily="34" charset="-120"/>
              </a:rPr>
              <a:t>The first is the chance of not running out in a cycle; the second is the share of demand actually served. With a large order quantity the gap between them is wide — and that gap is exactly where over-stocking hides.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60" kern="0" dirty="0">
                <a:solidFill>
                  <a:srgbClr val="0F8A7E"/>
                </a:solidFill>
                <a:latin typeface="Calibri" pitchFamily="34" charset="0"/>
                <a:ea typeface="Calibri" pitchFamily="34" charset="-122"/>
                <a:cs typeface="Calibri" pitchFamily="34" charset="-120"/>
              </a:rPr>
              <a:t>COST OPTIMISATION</a:t>
            </a:r>
            <a:endParaRPr lang="en-US" sz="1150" dirty="0"/>
          </a:p>
        </p:txBody>
      </p:sp>
      <p:sp>
        <p:nvSpPr>
          <p:cNvPr id="3" name="Text 1"/>
          <p:cNvSpPr txBox="1"/>
          <p:nvPr/>
        </p:nvSpPr>
        <p:spPr>
          <a:xfrm>
            <a:off x="566928" y="621792"/>
            <a:ext cx="11064240" cy="566928"/>
          </a:xfrm>
          <a:prstGeom prst="rect">
            <a:avLst/>
          </a:prstGeom>
          <a:noFill/>
          <a:ln/>
        </p:spPr>
        <p:txBody>
          <a:bodyPr wrap="square" lIns="0" tIns="0" rIns="0" bIns="0" rtlCol="0" anchor="ctr"/>
          <a:lstStyle/>
          <a:p>
            <a:pPr indent="0" marL="0">
              <a:buNone/>
            </a:pPr>
            <a:r>
              <a:rPr lang="en-US" sz="3200" b="1" dirty="0">
                <a:solidFill>
                  <a:srgbClr val="0E2A33"/>
                </a:solidFill>
                <a:latin typeface="Cambria" pitchFamily="34" charset="0"/>
                <a:ea typeface="Cambria" pitchFamily="34" charset="-122"/>
                <a:cs typeface="Cambria" pitchFamily="34" charset="-120"/>
              </a:rPr>
              <a:t>The right service level is an output, not a policy decision</a:t>
            </a:r>
            <a:endParaRPr lang="en-US" sz="3200" dirty="0"/>
          </a:p>
        </p:txBody>
      </p:sp>
      <p:graphicFrame>
        <p:nvGraphicFramePr>
          <p:cNvPr id="4" name="Chart 0" descr=""/>
          <p:cNvGraphicFramePr/>
          <p:nvPr/>
        </p:nvGraphicFramePr>
        <p:xfrm>
          <a:off x="566928" y="1572768"/>
          <a:ext cx="7086600" cy="38862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973568" y="1572768"/>
            <a:ext cx="3621024" cy="1572768"/>
          </a:xfrm>
          <a:prstGeom prst="roundRect">
            <a:avLst>
              <a:gd name="adj" fmla="val 3488"/>
            </a:avLst>
          </a:prstGeom>
          <a:solidFill>
            <a:srgbClr val="0E2A33"/>
          </a:solidFill>
          <a:ln w="9525">
            <a:solidFill>
              <a:srgbClr val="0E2A33"/>
            </a:solidFill>
            <a:prstDash val="solid"/>
          </a:ln>
          <a:effectLst>
            <a:outerShdw sx="100000" sy="100000" kx="0" ky="0" algn="bl" rotWithShape="0" blurRad="127000" dist="25400" dir="5400000">
              <a:srgbClr val="9FB0B7">
                <a:alpha val="32000"/>
              </a:srgbClr>
            </a:outerShdw>
          </a:effectLst>
        </p:spPr>
      </p:sp>
      <p:sp>
        <p:nvSpPr>
          <p:cNvPr id="6" name="Text 3"/>
          <p:cNvSpPr txBox="1"/>
          <p:nvPr/>
        </p:nvSpPr>
        <p:spPr>
          <a:xfrm>
            <a:off x="8229600" y="1773936"/>
            <a:ext cx="3108960" cy="219456"/>
          </a:xfrm>
          <a:prstGeom prst="rect">
            <a:avLst/>
          </a:prstGeom>
          <a:noFill/>
          <a:ln/>
        </p:spPr>
        <p:txBody>
          <a:bodyPr wrap="square" lIns="0" tIns="0" rIns="0" bIns="0" rtlCol="0" anchor="ctr"/>
          <a:lstStyle/>
          <a:p>
            <a:pPr indent="0" marL="0">
              <a:buNone/>
            </a:pPr>
            <a:r>
              <a:rPr lang="en-US" sz="1000" b="1" spc="120" kern="0" dirty="0">
                <a:solidFill>
                  <a:srgbClr val="39B7A4"/>
                </a:solidFill>
                <a:latin typeface="Calibri" pitchFamily="34" charset="0"/>
                <a:ea typeface="Calibri" pitchFamily="34" charset="-122"/>
                <a:cs typeface="Calibri" pitchFamily="34" charset="-120"/>
              </a:rPr>
              <a:t>COST-MINIMISING LEVEL</a:t>
            </a:r>
            <a:endParaRPr lang="en-US" sz="1000" dirty="0"/>
          </a:p>
        </p:txBody>
      </p:sp>
      <p:sp>
        <p:nvSpPr>
          <p:cNvPr id="7" name="Text 4"/>
          <p:cNvSpPr txBox="1"/>
          <p:nvPr/>
        </p:nvSpPr>
        <p:spPr>
          <a:xfrm>
            <a:off x="8229600" y="2011680"/>
            <a:ext cx="3108960" cy="6400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98.7%</a:t>
            </a:r>
            <a:endParaRPr lang="en-US" sz="3800" dirty="0"/>
          </a:p>
        </p:txBody>
      </p:sp>
      <p:sp>
        <p:nvSpPr>
          <p:cNvPr id="8" name="Text 5"/>
          <p:cNvSpPr txBox="1"/>
          <p:nvPr/>
        </p:nvSpPr>
        <p:spPr>
          <a:xfrm>
            <a:off x="8229600" y="2633472"/>
            <a:ext cx="3108960" cy="402336"/>
          </a:xfrm>
          <a:prstGeom prst="rect">
            <a:avLst/>
          </a:prstGeom>
          <a:noFill/>
          <a:ln/>
        </p:spPr>
        <p:txBody>
          <a:bodyPr wrap="square" lIns="0" tIns="0" rIns="0" bIns="0" rtlCol="0" anchor="ctr"/>
          <a:lstStyle/>
          <a:p>
            <a:pPr indent="0" marL="0">
              <a:lnSpc>
                <a:spcPts val="1500"/>
              </a:lnSpc>
              <a:buNone/>
            </a:pPr>
            <a:r>
              <a:rPr lang="en-US" sz="1100" dirty="0">
                <a:solidFill>
                  <a:srgbClr val="A9BDC4"/>
                </a:solidFill>
                <a:latin typeface="Calibri" pitchFamily="34" charset="0"/>
                <a:ea typeface="Calibri" pitchFamily="34" charset="-122"/>
                <a:cs typeface="Calibri" pitchFamily="34" charset="-120"/>
              </a:rPr>
              <a:t>$206,179 per year, against $513,898 at a 50% target</a:t>
            </a:r>
            <a:endParaRPr lang="en-US" sz="1100" dirty="0"/>
          </a:p>
        </p:txBody>
      </p:sp>
      <p:sp>
        <p:nvSpPr>
          <p:cNvPr id="9" name="Text 6"/>
          <p:cNvSpPr txBox="1"/>
          <p:nvPr/>
        </p:nvSpPr>
        <p:spPr>
          <a:xfrm>
            <a:off x="7973568" y="3328416"/>
            <a:ext cx="3621024" cy="274320"/>
          </a:xfrm>
          <a:prstGeom prst="rect">
            <a:avLst/>
          </a:prstGeom>
          <a:noFill/>
          <a:ln/>
        </p:spPr>
        <p:txBody>
          <a:bodyPr wrap="square" lIns="0" tIns="0" rIns="0" bIns="0" rtlCol="0" anchor="ctr"/>
          <a:lstStyle/>
          <a:p>
            <a:pPr indent="0" marL="0">
              <a:buNone/>
            </a:pPr>
            <a:r>
              <a:rPr lang="en-US" sz="1300" b="1" dirty="0">
                <a:solidFill>
                  <a:srgbClr val="0E2A33"/>
                </a:solidFill>
                <a:latin typeface="Calibri" pitchFamily="34" charset="0"/>
                <a:ea typeface="Calibri" pitchFamily="34" charset="-122"/>
                <a:cs typeface="Calibri" pitchFamily="34" charset="-120"/>
              </a:rPr>
              <a:t>It moves with the penalty you assume</a:t>
            </a:r>
            <a:endParaRPr lang="en-US" sz="1300" dirty="0"/>
          </a:p>
        </p:txBody>
      </p:sp>
      <p:sp>
        <p:nvSpPr>
          <p:cNvPr id="10" name="Shape 7"/>
          <p:cNvSpPr/>
          <p:nvPr/>
        </p:nvSpPr>
        <p:spPr>
          <a:xfrm>
            <a:off x="7973568" y="3639312"/>
            <a:ext cx="3621024" cy="347472"/>
          </a:xfrm>
          <a:prstGeom prst="rect">
            <a:avLst/>
          </a:prstGeom>
          <a:solidFill>
            <a:srgbClr val="F1F5F6"/>
          </a:solidFill>
          <a:ln w="12700">
            <a:solidFill>
              <a:srgbClr val="F1F5F6"/>
            </a:solidFill>
            <a:prstDash val="solid"/>
          </a:ln>
        </p:spPr>
      </p:sp>
      <p:sp>
        <p:nvSpPr>
          <p:cNvPr id="11" name="Text 8"/>
          <p:cNvSpPr txBox="1"/>
          <p:nvPr/>
        </p:nvSpPr>
        <p:spPr>
          <a:xfrm>
            <a:off x="8156448" y="3675888"/>
            <a:ext cx="2103120" cy="274320"/>
          </a:xfrm>
          <a:prstGeom prst="rect">
            <a:avLst/>
          </a:prstGeom>
          <a:noFill/>
          <a:ln/>
        </p:spPr>
        <p:txBody>
          <a:bodyPr wrap="square" lIns="0" tIns="0" rIns="0" bIns="0" rtlCol="0" anchor="ctr"/>
          <a:lstStyle/>
          <a:p>
            <a:pPr indent="0" marL="0">
              <a:buNone/>
            </a:pPr>
            <a:r>
              <a:rPr lang="en-US" sz="1200" dirty="0">
                <a:solidFill>
                  <a:srgbClr val="6B7C85"/>
                </a:solidFill>
                <a:latin typeface="Calibri" pitchFamily="34" charset="0"/>
                <a:ea typeface="Calibri" pitchFamily="34" charset="-122"/>
                <a:cs typeface="Calibri" pitchFamily="34" charset="-120"/>
              </a:rPr>
              <a:t>$2 per unit short</a:t>
            </a:r>
            <a:endParaRPr lang="en-US" sz="1200" dirty="0"/>
          </a:p>
        </p:txBody>
      </p:sp>
      <p:sp>
        <p:nvSpPr>
          <p:cNvPr id="12" name="Text 9"/>
          <p:cNvSpPr txBox="1"/>
          <p:nvPr/>
        </p:nvSpPr>
        <p:spPr>
          <a:xfrm>
            <a:off x="10149840" y="3675888"/>
            <a:ext cx="1280160" cy="274320"/>
          </a:xfrm>
          <a:prstGeom prst="rect">
            <a:avLst/>
          </a:prstGeom>
          <a:noFill/>
          <a:ln/>
        </p:spPr>
        <p:txBody>
          <a:bodyPr wrap="square" lIns="0" tIns="0" rIns="0" bIns="0" rtlCol="0" anchor="ctr"/>
          <a:lstStyle/>
          <a:p>
            <a:pPr algn="r" indent="0" marL="0">
              <a:buNone/>
            </a:pPr>
            <a:r>
              <a:rPr lang="en-US" sz="1250" b="1" dirty="0">
                <a:solidFill>
                  <a:srgbClr val="0F8A7E"/>
                </a:solidFill>
                <a:latin typeface="Calibri" pitchFamily="34" charset="0"/>
                <a:ea typeface="Calibri" pitchFamily="34" charset="-122"/>
                <a:cs typeface="Calibri" pitchFamily="34" charset="-120"/>
              </a:rPr>
              <a:t>95.4%</a:t>
            </a:r>
            <a:endParaRPr lang="en-US" sz="1250" dirty="0"/>
          </a:p>
        </p:txBody>
      </p:sp>
      <p:sp>
        <p:nvSpPr>
          <p:cNvPr id="13" name="Text 10"/>
          <p:cNvSpPr txBox="1"/>
          <p:nvPr/>
        </p:nvSpPr>
        <p:spPr>
          <a:xfrm>
            <a:off x="8156448" y="4041648"/>
            <a:ext cx="2103120" cy="274320"/>
          </a:xfrm>
          <a:prstGeom prst="rect">
            <a:avLst/>
          </a:prstGeom>
          <a:noFill/>
          <a:ln/>
        </p:spPr>
        <p:txBody>
          <a:bodyPr wrap="square" lIns="0" tIns="0" rIns="0" bIns="0" rtlCol="0" anchor="ctr"/>
          <a:lstStyle/>
          <a:p>
            <a:pPr indent="0" marL="0">
              <a:buNone/>
            </a:pPr>
            <a:r>
              <a:rPr lang="en-US" sz="1200" dirty="0">
                <a:solidFill>
                  <a:srgbClr val="6B7C85"/>
                </a:solidFill>
                <a:latin typeface="Calibri" pitchFamily="34" charset="0"/>
                <a:ea typeface="Calibri" pitchFamily="34" charset="-122"/>
                <a:cs typeface="Calibri" pitchFamily="34" charset="-120"/>
              </a:rPr>
              <a:t>$3 per unit short</a:t>
            </a:r>
            <a:endParaRPr lang="en-US" sz="1200" dirty="0"/>
          </a:p>
        </p:txBody>
      </p:sp>
      <p:sp>
        <p:nvSpPr>
          <p:cNvPr id="14" name="Text 11"/>
          <p:cNvSpPr txBox="1"/>
          <p:nvPr/>
        </p:nvSpPr>
        <p:spPr>
          <a:xfrm>
            <a:off x="10149840" y="4041648"/>
            <a:ext cx="1280160" cy="274320"/>
          </a:xfrm>
          <a:prstGeom prst="rect">
            <a:avLst/>
          </a:prstGeom>
          <a:noFill/>
          <a:ln/>
        </p:spPr>
        <p:txBody>
          <a:bodyPr wrap="square" lIns="0" tIns="0" rIns="0" bIns="0" rtlCol="0" anchor="ctr"/>
          <a:lstStyle/>
          <a:p>
            <a:pPr algn="r" indent="0" marL="0">
              <a:buNone/>
            </a:pPr>
            <a:r>
              <a:rPr lang="en-US" sz="1250" b="1" dirty="0">
                <a:solidFill>
                  <a:srgbClr val="0F8A7E"/>
                </a:solidFill>
                <a:latin typeface="Calibri" pitchFamily="34" charset="0"/>
                <a:ea typeface="Calibri" pitchFamily="34" charset="-122"/>
                <a:cs typeface="Calibri" pitchFamily="34" charset="-120"/>
              </a:rPr>
              <a:t>97.0%</a:t>
            </a:r>
            <a:endParaRPr lang="en-US" sz="1250" dirty="0"/>
          </a:p>
        </p:txBody>
      </p:sp>
      <p:sp>
        <p:nvSpPr>
          <p:cNvPr id="15" name="Shape 12"/>
          <p:cNvSpPr/>
          <p:nvPr/>
        </p:nvSpPr>
        <p:spPr>
          <a:xfrm>
            <a:off x="7973568" y="4370832"/>
            <a:ext cx="3621024" cy="347472"/>
          </a:xfrm>
          <a:prstGeom prst="rect">
            <a:avLst/>
          </a:prstGeom>
          <a:solidFill>
            <a:srgbClr val="F1F5F6"/>
          </a:solidFill>
          <a:ln w="12700">
            <a:solidFill>
              <a:srgbClr val="F1F5F6"/>
            </a:solidFill>
            <a:prstDash val="solid"/>
          </a:ln>
        </p:spPr>
      </p:sp>
      <p:sp>
        <p:nvSpPr>
          <p:cNvPr id="16" name="Text 13"/>
          <p:cNvSpPr txBox="1"/>
          <p:nvPr/>
        </p:nvSpPr>
        <p:spPr>
          <a:xfrm>
            <a:off x="8156448" y="4407408"/>
            <a:ext cx="2103120" cy="274320"/>
          </a:xfrm>
          <a:prstGeom prst="rect">
            <a:avLst/>
          </a:prstGeom>
          <a:noFill/>
          <a:ln/>
        </p:spPr>
        <p:txBody>
          <a:bodyPr wrap="square" lIns="0" tIns="0" rIns="0" bIns="0" rtlCol="0" anchor="ctr"/>
          <a:lstStyle/>
          <a:p>
            <a:pPr indent="0" marL="0">
              <a:buNone/>
            </a:pPr>
            <a:r>
              <a:rPr lang="en-US" sz="1200" dirty="0">
                <a:solidFill>
                  <a:srgbClr val="6B7C85"/>
                </a:solidFill>
                <a:latin typeface="Calibri" pitchFamily="34" charset="0"/>
                <a:ea typeface="Calibri" pitchFamily="34" charset="-122"/>
                <a:cs typeface="Calibri" pitchFamily="34" charset="-120"/>
              </a:rPr>
              <a:t>$5 per unit short</a:t>
            </a:r>
            <a:endParaRPr lang="en-US" sz="1200" dirty="0"/>
          </a:p>
        </p:txBody>
      </p:sp>
      <p:sp>
        <p:nvSpPr>
          <p:cNvPr id="17" name="Text 14"/>
          <p:cNvSpPr txBox="1"/>
          <p:nvPr/>
        </p:nvSpPr>
        <p:spPr>
          <a:xfrm>
            <a:off x="10149840" y="4407408"/>
            <a:ext cx="1280160" cy="274320"/>
          </a:xfrm>
          <a:prstGeom prst="rect">
            <a:avLst/>
          </a:prstGeom>
          <a:noFill/>
          <a:ln/>
        </p:spPr>
        <p:txBody>
          <a:bodyPr wrap="square" lIns="0" tIns="0" rIns="0" bIns="0" rtlCol="0" anchor="ctr"/>
          <a:lstStyle/>
          <a:p>
            <a:pPr algn="r" indent="0" marL="0">
              <a:buNone/>
            </a:pPr>
            <a:r>
              <a:rPr lang="en-US" sz="1250" b="1" dirty="0">
                <a:solidFill>
                  <a:srgbClr val="0F8A7E"/>
                </a:solidFill>
                <a:latin typeface="Calibri" pitchFamily="34" charset="0"/>
                <a:ea typeface="Calibri" pitchFamily="34" charset="-122"/>
                <a:cs typeface="Calibri" pitchFamily="34" charset="-120"/>
              </a:rPr>
              <a:t>98.7%</a:t>
            </a:r>
            <a:endParaRPr lang="en-US" sz="1250" dirty="0"/>
          </a:p>
        </p:txBody>
      </p:sp>
      <p:sp>
        <p:nvSpPr>
          <p:cNvPr id="18" name="Text 15"/>
          <p:cNvSpPr txBox="1"/>
          <p:nvPr/>
        </p:nvSpPr>
        <p:spPr>
          <a:xfrm>
            <a:off x="8156448" y="4773168"/>
            <a:ext cx="2103120" cy="274320"/>
          </a:xfrm>
          <a:prstGeom prst="rect">
            <a:avLst/>
          </a:prstGeom>
          <a:noFill/>
          <a:ln/>
        </p:spPr>
        <p:txBody>
          <a:bodyPr wrap="square" lIns="0" tIns="0" rIns="0" bIns="0" rtlCol="0" anchor="ctr"/>
          <a:lstStyle/>
          <a:p>
            <a:pPr indent="0" marL="0">
              <a:buNone/>
            </a:pPr>
            <a:r>
              <a:rPr lang="en-US" sz="1200" dirty="0">
                <a:solidFill>
                  <a:srgbClr val="6B7C85"/>
                </a:solidFill>
                <a:latin typeface="Calibri" pitchFamily="34" charset="0"/>
                <a:ea typeface="Calibri" pitchFamily="34" charset="-122"/>
                <a:cs typeface="Calibri" pitchFamily="34" charset="-120"/>
              </a:rPr>
              <a:t>$9 per unit short</a:t>
            </a:r>
            <a:endParaRPr lang="en-US" sz="1200" dirty="0"/>
          </a:p>
        </p:txBody>
      </p:sp>
      <p:sp>
        <p:nvSpPr>
          <p:cNvPr id="19" name="Text 16"/>
          <p:cNvSpPr txBox="1"/>
          <p:nvPr/>
        </p:nvSpPr>
        <p:spPr>
          <a:xfrm>
            <a:off x="10149840" y="4773168"/>
            <a:ext cx="1280160" cy="274320"/>
          </a:xfrm>
          <a:prstGeom prst="rect">
            <a:avLst/>
          </a:prstGeom>
          <a:noFill/>
          <a:ln/>
        </p:spPr>
        <p:txBody>
          <a:bodyPr wrap="square" lIns="0" tIns="0" rIns="0" bIns="0" rtlCol="0" anchor="ctr"/>
          <a:lstStyle/>
          <a:p>
            <a:pPr algn="r" indent="0" marL="0">
              <a:buNone/>
            </a:pPr>
            <a:r>
              <a:rPr lang="en-US" sz="1250" b="1" dirty="0">
                <a:solidFill>
                  <a:srgbClr val="0F8A7E"/>
                </a:solidFill>
                <a:latin typeface="Calibri" pitchFamily="34" charset="0"/>
                <a:ea typeface="Calibri" pitchFamily="34" charset="-122"/>
                <a:cs typeface="Calibri" pitchFamily="34" charset="-120"/>
              </a:rPr>
              <a:t>98.7%</a:t>
            </a:r>
            <a:endParaRPr lang="en-US" sz="1250" dirty="0"/>
          </a:p>
        </p:txBody>
      </p:sp>
      <p:sp>
        <p:nvSpPr>
          <p:cNvPr id="20" name="Shape 17"/>
          <p:cNvSpPr/>
          <p:nvPr/>
        </p:nvSpPr>
        <p:spPr>
          <a:xfrm>
            <a:off x="7973568" y="5102352"/>
            <a:ext cx="3621024" cy="347472"/>
          </a:xfrm>
          <a:prstGeom prst="rect">
            <a:avLst/>
          </a:prstGeom>
          <a:solidFill>
            <a:srgbClr val="F1F5F6"/>
          </a:solidFill>
          <a:ln w="12700">
            <a:solidFill>
              <a:srgbClr val="F1F5F6"/>
            </a:solidFill>
            <a:prstDash val="solid"/>
          </a:ln>
        </p:spPr>
      </p:sp>
      <p:sp>
        <p:nvSpPr>
          <p:cNvPr id="21" name="Text 18"/>
          <p:cNvSpPr txBox="1"/>
          <p:nvPr/>
        </p:nvSpPr>
        <p:spPr>
          <a:xfrm>
            <a:off x="8156448" y="5138928"/>
            <a:ext cx="2103120" cy="274320"/>
          </a:xfrm>
          <a:prstGeom prst="rect">
            <a:avLst/>
          </a:prstGeom>
          <a:noFill/>
          <a:ln/>
        </p:spPr>
        <p:txBody>
          <a:bodyPr wrap="square" lIns="0" tIns="0" rIns="0" bIns="0" rtlCol="0" anchor="ctr"/>
          <a:lstStyle/>
          <a:p>
            <a:pPr indent="0" marL="0">
              <a:buNone/>
            </a:pPr>
            <a:r>
              <a:rPr lang="en-US" sz="1200" dirty="0">
                <a:solidFill>
                  <a:srgbClr val="6B7C85"/>
                </a:solidFill>
                <a:latin typeface="Calibri" pitchFamily="34" charset="0"/>
                <a:ea typeface="Calibri" pitchFamily="34" charset="-122"/>
                <a:cs typeface="Calibri" pitchFamily="34" charset="-120"/>
              </a:rPr>
              <a:t>$15 per unit short</a:t>
            </a:r>
            <a:endParaRPr lang="en-US" sz="1200" dirty="0"/>
          </a:p>
        </p:txBody>
      </p:sp>
      <p:sp>
        <p:nvSpPr>
          <p:cNvPr id="22" name="Text 19"/>
          <p:cNvSpPr txBox="1"/>
          <p:nvPr/>
        </p:nvSpPr>
        <p:spPr>
          <a:xfrm>
            <a:off x="10149840" y="5138928"/>
            <a:ext cx="1280160" cy="274320"/>
          </a:xfrm>
          <a:prstGeom prst="rect">
            <a:avLst/>
          </a:prstGeom>
          <a:noFill/>
          <a:ln/>
        </p:spPr>
        <p:txBody>
          <a:bodyPr wrap="square" lIns="0" tIns="0" rIns="0" bIns="0" rtlCol="0" anchor="ctr"/>
          <a:lstStyle/>
          <a:p>
            <a:pPr algn="r" indent="0" marL="0">
              <a:buNone/>
            </a:pPr>
            <a:r>
              <a:rPr lang="en-US" sz="1250" b="1" dirty="0">
                <a:solidFill>
                  <a:srgbClr val="0F8A7E"/>
                </a:solidFill>
                <a:latin typeface="Calibri" pitchFamily="34" charset="0"/>
                <a:ea typeface="Calibri" pitchFamily="34" charset="-122"/>
                <a:cs typeface="Calibri" pitchFamily="34" charset="-120"/>
              </a:rPr>
              <a:t>99.5%</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60" kern="0" dirty="0">
                <a:solidFill>
                  <a:srgbClr val="0F8A7E"/>
                </a:solidFill>
                <a:latin typeface="Calibri" pitchFamily="34" charset="0"/>
                <a:ea typeface="Calibri" pitchFamily="34" charset="-122"/>
                <a:cs typeface="Calibri" pitchFamily="34" charset="-120"/>
              </a:rPr>
              <a:t>ASSORTMENT CONCENTRATION</a:t>
            </a:r>
            <a:endParaRPr lang="en-US" sz="1150" dirty="0"/>
          </a:p>
        </p:txBody>
      </p:sp>
      <p:sp>
        <p:nvSpPr>
          <p:cNvPr id="3" name="Text 1"/>
          <p:cNvSpPr txBox="1"/>
          <p:nvPr/>
        </p:nvSpPr>
        <p:spPr>
          <a:xfrm>
            <a:off x="566928" y="621792"/>
            <a:ext cx="11064240" cy="566928"/>
          </a:xfrm>
          <a:prstGeom prst="rect">
            <a:avLst/>
          </a:prstGeom>
          <a:noFill/>
          <a:ln/>
        </p:spPr>
        <p:txBody>
          <a:bodyPr wrap="square" lIns="0" tIns="0" rIns="0" bIns="0" rtlCol="0" anchor="ctr"/>
          <a:lstStyle/>
          <a:p>
            <a:pPr indent="0" marL="0">
              <a:buNone/>
            </a:pPr>
            <a:r>
              <a:rPr lang="en-US" sz="3200" b="1" dirty="0">
                <a:solidFill>
                  <a:srgbClr val="0E2A33"/>
                </a:solidFill>
                <a:latin typeface="Cambria" pitchFamily="34" charset="0"/>
                <a:ea typeface="Cambria" pitchFamily="34" charset="-122"/>
                <a:cs typeface="Cambria" pitchFamily="34" charset="-120"/>
              </a:rPr>
              <a:t>Five SKUs carry three quarters of the revenue</a:t>
            </a:r>
            <a:endParaRPr lang="en-US" sz="3200" dirty="0"/>
          </a:p>
        </p:txBody>
      </p:sp>
      <p:graphicFrame>
        <p:nvGraphicFramePr>
          <p:cNvPr id="4" name="Chart 0" descr=""/>
          <p:cNvGraphicFramePr/>
          <p:nvPr/>
        </p:nvGraphicFramePr>
        <p:xfrm>
          <a:off x="566928" y="1572768"/>
          <a:ext cx="7589520" cy="38862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503920" y="1572768"/>
            <a:ext cx="3108960" cy="1188720"/>
          </a:xfrm>
          <a:prstGeom prst="roundRect">
            <a:avLst>
              <a:gd name="adj" fmla="val 4615"/>
            </a:avLst>
          </a:prstGeom>
          <a:solidFill>
            <a:srgbClr val="F1F5F6"/>
          </a:solidFill>
          <a:ln w="9525">
            <a:solidFill>
              <a:srgbClr val="E2E9EB"/>
            </a:solidFill>
            <a:prstDash val="solid"/>
          </a:ln>
          <a:effectLst>
            <a:outerShdw sx="100000" sy="100000" kx="0" ky="0" algn="bl" rotWithShape="0" blurRad="127000" dist="25400" dir="5400000">
              <a:srgbClr val="9FB0B7">
                <a:alpha val="32000"/>
              </a:srgbClr>
            </a:outerShdw>
          </a:effectLst>
        </p:spPr>
      </p:sp>
      <p:sp>
        <p:nvSpPr>
          <p:cNvPr id="6" name="Shape 3"/>
          <p:cNvSpPr/>
          <p:nvPr/>
        </p:nvSpPr>
        <p:spPr>
          <a:xfrm>
            <a:off x="8732520" y="1792224"/>
            <a:ext cx="420624" cy="420624"/>
          </a:xfrm>
          <a:prstGeom prst="ellipse">
            <a:avLst/>
          </a:prstGeom>
          <a:solidFill>
            <a:srgbClr val="0F8A7E"/>
          </a:solidFill>
          <a:ln/>
        </p:spPr>
      </p:sp>
      <p:sp>
        <p:nvSpPr>
          <p:cNvPr id="7" name="Text 4"/>
          <p:cNvSpPr txBox="1"/>
          <p:nvPr/>
        </p:nvSpPr>
        <p:spPr>
          <a:xfrm>
            <a:off x="8732520" y="17922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8" name="Text 5"/>
          <p:cNvSpPr txBox="1"/>
          <p:nvPr/>
        </p:nvSpPr>
        <p:spPr>
          <a:xfrm>
            <a:off x="9253728" y="1755648"/>
            <a:ext cx="2194560" cy="256032"/>
          </a:xfrm>
          <a:prstGeom prst="rect">
            <a:avLst/>
          </a:prstGeom>
          <a:noFill/>
          <a:ln/>
        </p:spPr>
        <p:txBody>
          <a:bodyPr wrap="square" lIns="0" tIns="0" rIns="0" bIns="0" rtlCol="0" anchor="ctr"/>
          <a:lstStyle/>
          <a:p>
            <a:pPr indent="0" marL="0">
              <a:buNone/>
            </a:pPr>
            <a:r>
              <a:rPr lang="en-US" sz="1250" b="1" dirty="0">
                <a:solidFill>
                  <a:srgbClr val="0E2A33"/>
                </a:solidFill>
                <a:latin typeface="Calibri" pitchFamily="34" charset="0"/>
                <a:ea typeface="Calibri" pitchFamily="34" charset="-122"/>
                <a:cs typeface="Calibri" pitchFamily="34" charset="-120"/>
              </a:rPr>
              <a:t>5 SKUs · 73% of revenue</a:t>
            </a:r>
            <a:endParaRPr lang="en-US" sz="1250" dirty="0"/>
          </a:p>
        </p:txBody>
      </p:sp>
      <p:sp>
        <p:nvSpPr>
          <p:cNvPr id="9" name="Text 6"/>
          <p:cNvSpPr txBox="1"/>
          <p:nvPr/>
        </p:nvSpPr>
        <p:spPr>
          <a:xfrm>
            <a:off x="9253728" y="2011680"/>
            <a:ext cx="2212848" cy="658368"/>
          </a:xfrm>
          <a:prstGeom prst="rect">
            <a:avLst/>
          </a:prstGeom>
          <a:noFill/>
          <a:ln/>
        </p:spPr>
        <p:txBody>
          <a:bodyPr wrap="square" lIns="0" tIns="0" rIns="0" bIns="0" rtlCol="0" anchor="ctr"/>
          <a:lstStyle/>
          <a:p>
            <a:pPr indent="0" marL="0">
              <a:lnSpc>
                <a:spcPts val="1300"/>
              </a:lnSpc>
              <a:buNone/>
            </a:pPr>
            <a:r>
              <a:rPr lang="en-US" sz="1050" dirty="0">
                <a:solidFill>
                  <a:srgbClr val="6B7C85"/>
                </a:solidFill>
                <a:latin typeface="Calibri" pitchFamily="34" charset="0"/>
                <a:ea typeface="Calibri" pitchFamily="34" charset="-122"/>
                <a:cs typeface="Calibri" pitchFamily="34" charset="-120"/>
              </a:rPr>
              <a:t>Tight forecasts, frequent review, thin buffers.</a:t>
            </a:r>
            <a:endParaRPr lang="en-US" sz="1050" dirty="0"/>
          </a:p>
        </p:txBody>
      </p:sp>
      <p:sp>
        <p:nvSpPr>
          <p:cNvPr id="10" name="Shape 7"/>
          <p:cNvSpPr/>
          <p:nvPr/>
        </p:nvSpPr>
        <p:spPr>
          <a:xfrm>
            <a:off x="8503920" y="2907792"/>
            <a:ext cx="3108960" cy="1188720"/>
          </a:xfrm>
          <a:prstGeom prst="roundRect">
            <a:avLst>
              <a:gd name="adj" fmla="val 4615"/>
            </a:avLst>
          </a:prstGeom>
          <a:solidFill>
            <a:srgbClr val="F1F5F6"/>
          </a:solidFill>
          <a:ln w="9525">
            <a:solidFill>
              <a:srgbClr val="E2E9EB"/>
            </a:solidFill>
            <a:prstDash val="solid"/>
          </a:ln>
          <a:effectLst>
            <a:outerShdw sx="100000" sy="100000" kx="0" ky="0" algn="bl" rotWithShape="0" blurRad="127000" dist="25400" dir="5400000">
              <a:srgbClr val="9FB0B7">
                <a:alpha val="32000"/>
              </a:srgbClr>
            </a:outerShdw>
          </a:effectLst>
        </p:spPr>
      </p:sp>
      <p:sp>
        <p:nvSpPr>
          <p:cNvPr id="11" name="Shape 8"/>
          <p:cNvSpPr/>
          <p:nvPr/>
        </p:nvSpPr>
        <p:spPr>
          <a:xfrm>
            <a:off x="8732520" y="3127248"/>
            <a:ext cx="420624" cy="420624"/>
          </a:xfrm>
          <a:prstGeom prst="ellipse">
            <a:avLst/>
          </a:prstGeom>
          <a:solidFill>
            <a:srgbClr val="39B7A4"/>
          </a:solidFill>
          <a:ln/>
        </p:spPr>
      </p:sp>
      <p:sp>
        <p:nvSpPr>
          <p:cNvPr id="12" name="Text 9"/>
          <p:cNvSpPr txBox="1"/>
          <p:nvPr/>
        </p:nvSpPr>
        <p:spPr>
          <a:xfrm>
            <a:off x="8732520" y="312724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9253728" y="3090672"/>
            <a:ext cx="2194560" cy="256032"/>
          </a:xfrm>
          <a:prstGeom prst="rect">
            <a:avLst/>
          </a:prstGeom>
          <a:noFill/>
          <a:ln/>
        </p:spPr>
        <p:txBody>
          <a:bodyPr wrap="square" lIns="0" tIns="0" rIns="0" bIns="0" rtlCol="0" anchor="ctr"/>
          <a:lstStyle/>
          <a:p>
            <a:pPr indent="0" marL="0">
              <a:buNone/>
            </a:pPr>
            <a:r>
              <a:rPr lang="en-US" sz="1250" b="1" dirty="0">
                <a:solidFill>
                  <a:srgbClr val="0E2A33"/>
                </a:solidFill>
                <a:latin typeface="Calibri" pitchFamily="34" charset="0"/>
                <a:ea typeface="Calibri" pitchFamily="34" charset="-122"/>
                <a:cs typeface="Calibri" pitchFamily="34" charset="-120"/>
              </a:rPr>
              <a:t>4 SKUs · 22% of revenue</a:t>
            </a:r>
            <a:endParaRPr lang="en-US" sz="1250" dirty="0"/>
          </a:p>
        </p:txBody>
      </p:sp>
      <p:sp>
        <p:nvSpPr>
          <p:cNvPr id="14" name="Text 11"/>
          <p:cNvSpPr txBox="1"/>
          <p:nvPr/>
        </p:nvSpPr>
        <p:spPr>
          <a:xfrm>
            <a:off x="9253728" y="3346704"/>
            <a:ext cx="2212848" cy="658368"/>
          </a:xfrm>
          <a:prstGeom prst="rect">
            <a:avLst/>
          </a:prstGeom>
          <a:noFill/>
          <a:ln/>
        </p:spPr>
        <p:txBody>
          <a:bodyPr wrap="square" lIns="0" tIns="0" rIns="0" bIns="0" rtlCol="0" anchor="ctr"/>
          <a:lstStyle/>
          <a:p>
            <a:pPr indent="0" marL="0">
              <a:lnSpc>
                <a:spcPts val="1300"/>
              </a:lnSpc>
              <a:buNone/>
            </a:pPr>
            <a:r>
              <a:rPr lang="en-US" sz="1050" dirty="0">
                <a:solidFill>
                  <a:srgbClr val="6B7C85"/>
                </a:solidFill>
                <a:latin typeface="Calibri" pitchFamily="34" charset="0"/>
                <a:ea typeface="Calibri" pitchFamily="34" charset="-122"/>
                <a:cs typeface="Calibri" pitchFamily="34" charset="-120"/>
              </a:rPr>
              <a:t>Standard policy, reviewed on the normal cycle.</a:t>
            </a:r>
            <a:endParaRPr lang="en-US" sz="1050" dirty="0"/>
          </a:p>
        </p:txBody>
      </p:sp>
      <p:sp>
        <p:nvSpPr>
          <p:cNvPr id="15" name="Shape 12"/>
          <p:cNvSpPr/>
          <p:nvPr/>
        </p:nvSpPr>
        <p:spPr>
          <a:xfrm>
            <a:off x="8503920" y="4242816"/>
            <a:ext cx="3108960" cy="1188720"/>
          </a:xfrm>
          <a:prstGeom prst="roundRect">
            <a:avLst>
              <a:gd name="adj" fmla="val 4615"/>
            </a:avLst>
          </a:prstGeom>
          <a:solidFill>
            <a:srgbClr val="F1F5F6"/>
          </a:solidFill>
          <a:ln w="9525">
            <a:solidFill>
              <a:srgbClr val="E2E9EB"/>
            </a:solidFill>
            <a:prstDash val="solid"/>
          </a:ln>
          <a:effectLst>
            <a:outerShdw sx="100000" sy="100000" kx="0" ky="0" algn="bl" rotWithShape="0" blurRad="127000" dist="25400" dir="5400000">
              <a:srgbClr val="9FB0B7">
                <a:alpha val="32000"/>
              </a:srgbClr>
            </a:outerShdw>
          </a:effectLst>
        </p:spPr>
      </p:sp>
      <p:sp>
        <p:nvSpPr>
          <p:cNvPr id="16" name="Shape 13"/>
          <p:cNvSpPr/>
          <p:nvPr/>
        </p:nvSpPr>
        <p:spPr>
          <a:xfrm>
            <a:off x="8732520" y="4462272"/>
            <a:ext cx="420624" cy="420624"/>
          </a:xfrm>
          <a:prstGeom prst="ellipse">
            <a:avLst/>
          </a:prstGeom>
          <a:solidFill>
            <a:srgbClr val="AFC0C6"/>
          </a:solidFill>
          <a:ln/>
        </p:spPr>
      </p:sp>
      <p:sp>
        <p:nvSpPr>
          <p:cNvPr id="17" name="Text 14"/>
          <p:cNvSpPr txBox="1"/>
          <p:nvPr/>
        </p:nvSpPr>
        <p:spPr>
          <a:xfrm>
            <a:off x="8732520" y="446227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8" name="Text 15"/>
          <p:cNvSpPr txBox="1"/>
          <p:nvPr/>
        </p:nvSpPr>
        <p:spPr>
          <a:xfrm>
            <a:off x="9253728" y="4425696"/>
            <a:ext cx="2194560" cy="256032"/>
          </a:xfrm>
          <a:prstGeom prst="rect">
            <a:avLst/>
          </a:prstGeom>
          <a:noFill/>
          <a:ln/>
        </p:spPr>
        <p:txBody>
          <a:bodyPr wrap="square" lIns="0" tIns="0" rIns="0" bIns="0" rtlCol="0" anchor="ctr"/>
          <a:lstStyle/>
          <a:p>
            <a:pPr indent="0" marL="0">
              <a:buNone/>
            </a:pPr>
            <a:r>
              <a:rPr lang="en-US" sz="1250" b="1" dirty="0">
                <a:solidFill>
                  <a:srgbClr val="0E2A33"/>
                </a:solidFill>
                <a:latin typeface="Calibri" pitchFamily="34" charset="0"/>
                <a:ea typeface="Calibri" pitchFamily="34" charset="-122"/>
                <a:cs typeface="Calibri" pitchFamily="34" charset="-120"/>
              </a:rPr>
              <a:t>6 SKUs · 5% of revenue</a:t>
            </a:r>
            <a:endParaRPr lang="en-US" sz="1250" dirty="0"/>
          </a:p>
        </p:txBody>
      </p:sp>
      <p:sp>
        <p:nvSpPr>
          <p:cNvPr id="19" name="Text 16"/>
          <p:cNvSpPr txBox="1"/>
          <p:nvPr/>
        </p:nvSpPr>
        <p:spPr>
          <a:xfrm>
            <a:off x="9253728" y="4681728"/>
            <a:ext cx="2212848" cy="658368"/>
          </a:xfrm>
          <a:prstGeom prst="rect">
            <a:avLst/>
          </a:prstGeom>
          <a:noFill/>
          <a:ln/>
        </p:spPr>
        <p:txBody>
          <a:bodyPr wrap="square" lIns="0" tIns="0" rIns="0" bIns="0" rtlCol="0" anchor="ctr"/>
          <a:lstStyle/>
          <a:p>
            <a:pPr indent="0" marL="0">
              <a:lnSpc>
                <a:spcPts val="1300"/>
              </a:lnSpc>
              <a:buNone/>
            </a:pPr>
            <a:r>
              <a:rPr lang="en-US" sz="1050" dirty="0">
                <a:solidFill>
                  <a:srgbClr val="6B7C85"/>
                </a:solidFill>
                <a:latin typeface="Calibri" pitchFamily="34" charset="0"/>
                <a:ea typeface="Calibri" pitchFamily="34" charset="-122"/>
                <a:cs typeface="Calibri" pitchFamily="34" charset="-120"/>
              </a:rPr>
              <a:t>Bigger buffer, less attention — cheaper than managing it closely.</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60" kern="0" dirty="0">
                <a:solidFill>
                  <a:srgbClr val="0F8A7E"/>
                </a:solidFill>
                <a:latin typeface="Calibri" pitchFamily="34" charset="0"/>
                <a:ea typeface="Calibri" pitchFamily="34" charset="-122"/>
                <a:cs typeface="Calibri" pitchFamily="34" charset="-120"/>
              </a:rPr>
              <a:t>LIVE POINT-OF-SALE FEED</a:t>
            </a:r>
            <a:endParaRPr lang="en-US" sz="1150" dirty="0"/>
          </a:p>
        </p:txBody>
      </p:sp>
      <p:sp>
        <p:nvSpPr>
          <p:cNvPr id="3" name="Text 1"/>
          <p:cNvSpPr txBox="1"/>
          <p:nvPr/>
        </p:nvSpPr>
        <p:spPr>
          <a:xfrm>
            <a:off x="566928" y="621792"/>
            <a:ext cx="11064240" cy="566928"/>
          </a:xfrm>
          <a:prstGeom prst="rect">
            <a:avLst/>
          </a:prstGeom>
          <a:noFill/>
          <a:ln/>
        </p:spPr>
        <p:txBody>
          <a:bodyPr wrap="square" lIns="0" tIns="0" rIns="0" bIns="0" rtlCol="0" anchor="ctr"/>
          <a:lstStyle/>
          <a:p>
            <a:pPr indent="0" marL="0">
              <a:buNone/>
            </a:pPr>
            <a:r>
              <a:rPr lang="en-US" sz="3200" b="1" dirty="0">
                <a:solidFill>
                  <a:srgbClr val="0E2A33"/>
                </a:solidFill>
                <a:latin typeface="Cambria" pitchFamily="34" charset="0"/>
                <a:ea typeface="Cambria" pitchFamily="34" charset="-122"/>
                <a:cs typeface="Cambria" pitchFamily="34" charset="-120"/>
              </a:rPr>
              <a:t>A daily plan does not tell you whether today is tracking it</a:t>
            </a:r>
            <a:endParaRPr lang="en-US" sz="3200" dirty="0"/>
          </a:p>
        </p:txBody>
      </p:sp>
      <p:sp>
        <p:nvSpPr>
          <p:cNvPr id="4" name="Shape 2"/>
          <p:cNvSpPr/>
          <p:nvPr/>
        </p:nvSpPr>
        <p:spPr>
          <a:xfrm>
            <a:off x="566928" y="1572768"/>
            <a:ext cx="384048" cy="384048"/>
          </a:xfrm>
          <a:prstGeom prst="ellipse">
            <a:avLst/>
          </a:prstGeom>
          <a:solidFill>
            <a:srgbClr val="0F8A7E"/>
          </a:solidFill>
          <a:ln/>
        </p:spPr>
      </p:sp>
      <p:sp>
        <p:nvSpPr>
          <p:cNvPr id="5" name="Text 3"/>
          <p:cNvSpPr txBox="1"/>
          <p:nvPr/>
        </p:nvSpPr>
        <p:spPr>
          <a:xfrm>
            <a:off x="566928" y="1572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133856" y="1545336"/>
            <a:ext cx="4828032"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Arrivals come from the forecast itself</a:t>
            </a:r>
            <a:endParaRPr lang="en-US" sz="1500" dirty="0"/>
          </a:p>
        </p:txBody>
      </p:sp>
      <p:sp>
        <p:nvSpPr>
          <p:cNvPr id="7" name="Text 5"/>
          <p:cNvSpPr txBox="1"/>
          <p:nvPr/>
        </p:nvSpPr>
        <p:spPr>
          <a:xfrm>
            <a:off x="1133856" y="1837944"/>
            <a:ext cx="4828032" cy="786384"/>
          </a:xfrm>
          <a:prstGeom prst="rect">
            <a:avLst/>
          </a:prstGeom>
          <a:noFill/>
          <a:ln/>
        </p:spPr>
        <p:txBody>
          <a:bodyPr wrap="square" lIns="0" tIns="0" rIns="0" bIns="0" rtlCol="0" anchor="ctr"/>
          <a:lstStyle/>
          <a:p>
            <a:pPr indent="0" marL="0">
              <a:lnSpc>
                <a:spcPts val="1600"/>
              </a:lnSpc>
              <a:buNone/>
            </a:pPr>
            <a:r>
              <a:rPr lang="en-US" sz="1250" dirty="0">
                <a:solidFill>
                  <a:srgbClr val="6B7C85"/>
                </a:solidFill>
                <a:latin typeface="Calibri" pitchFamily="34" charset="0"/>
                <a:ea typeface="Calibri" pitchFamily="34" charset="-122"/>
                <a:cs typeface="Calibri" pitchFamily="34" charset="-120"/>
              </a:rPr>
              <a:t>Each store × SKU takes its arrival rate from day 1 of its own forecast — an inhomogeneous Poisson process, spread over trading hours by a shared intraday curve.</a:t>
            </a:r>
            <a:endParaRPr lang="en-US" sz="1250" dirty="0"/>
          </a:p>
        </p:txBody>
      </p:sp>
      <p:sp>
        <p:nvSpPr>
          <p:cNvPr id="8" name="Shape 6"/>
          <p:cNvSpPr/>
          <p:nvPr/>
        </p:nvSpPr>
        <p:spPr>
          <a:xfrm>
            <a:off x="566928" y="2871216"/>
            <a:ext cx="384048" cy="384048"/>
          </a:xfrm>
          <a:prstGeom prst="ellipse">
            <a:avLst/>
          </a:prstGeom>
          <a:solidFill>
            <a:srgbClr val="0F8A7E"/>
          </a:solidFill>
          <a:ln/>
        </p:spPr>
      </p:sp>
      <p:sp>
        <p:nvSpPr>
          <p:cNvPr id="9" name="Text 7"/>
          <p:cNvSpPr txBox="1"/>
          <p:nvPr/>
        </p:nvSpPr>
        <p:spPr>
          <a:xfrm>
            <a:off x="566928" y="28712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133856" y="2843784"/>
            <a:ext cx="4828032"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So the stream and the plan are one model</a:t>
            </a:r>
            <a:endParaRPr lang="en-US" sz="1500" dirty="0"/>
          </a:p>
        </p:txBody>
      </p:sp>
      <p:sp>
        <p:nvSpPr>
          <p:cNvPr id="11" name="Text 9"/>
          <p:cNvSpPr txBox="1"/>
          <p:nvPr/>
        </p:nvSpPr>
        <p:spPr>
          <a:xfrm>
            <a:off x="1133856" y="3136392"/>
            <a:ext cx="4828032" cy="786384"/>
          </a:xfrm>
          <a:prstGeom prst="rect">
            <a:avLst/>
          </a:prstGeom>
          <a:noFill/>
          <a:ln/>
        </p:spPr>
        <p:txBody>
          <a:bodyPr wrap="square" lIns="0" tIns="0" rIns="0" bIns="0" rtlCol="0" anchor="ctr"/>
          <a:lstStyle/>
          <a:p>
            <a:pPr indent="0" marL="0">
              <a:lnSpc>
                <a:spcPts val="1600"/>
              </a:lnSpc>
              <a:buNone/>
            </a:pPr>
            <a:r>
              <a:rPr lang="en-US" sz="1250" dirty="0">
                <a:solidFill>
                  <a:srgbClr val="6B7C85"/>
                </a:solidFill>
                <a:latin typeface="Calibri" pitchFamily="34" charset="0"/>
                <a:ea typeface="Calibri" pitchFamily="34" charset="-122"/>
                <a:cs typeface="Calibri" pitchFamily="34" charset="-120"/>
              </a:rPr>
              <a:t>Aggregated over a full day the simulated transactions reproduce the daily forecast in expectation. It is not a mock bolted onto the side of a static chart.</a:t>
            </a:r>
            <a:endParaRPr lang="en-US" sz="1250" dirty="0"/>
          </a:p>
        </p:txBody>
      </p:sp>
      <p:sp>
        <p:nvSpPr>
          <p:cNvPr id="12" name="Shape 10"/>
          <p:cNvSpPr/>
          <p:nvPr/>
        </p:nvSpPr>
        <p:spPr>
          <a:xfrm>
            <a:off x="566928" y="4169664"/>
            <a:ext cx="384048" cy="384048"/>
          </a:xfrm>
          <a:prstGeom prst="ellipse">
            <a:avLst/>
          </a:prstGeom>
          <a:solidFill>
            <a:srgbClr val="0F8A7E"/>
          </a:solidFill>
          <a:ln/>
        </p:spPr>
      </p:sp>
      <p:sp>
        <p:nvSpPr>
          <p:cNvPr id="13" name="Text 11"/>
          <p:cNvSpPr txBox="1"/>
          <p:nvPr/>
        </p:nvSpPr>
        <p:spPr>
          <a:xfrm>
            <a:off x="566928" y="41696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133856" y="4142232"/>
            <a:ext cx="4828032"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And the whole board reacts</a:t>
            </a:r>
            <a:endParaRPr lang="en-US" sz="1500" dirty="0"/>
          </a:p>
        </p:txBody>
      </p:sp>
      <p:sp>
        <p:nvSpPr>
          <p:cNvPr id="15" name="Text 13"/>
          <p:cNvSpPr txBox="1"/>
          <p:nvPr/>
        </p:nvSpPr>
        <p:spPr>
          <a:xfrm>
            <a:off x="1133856" y="4434840"/>
            <a:ext cx="4828032" cy="786384"/>
          </a:xfrm>
          <a:prstGeom prst="rect">
            <a:avLst/>
          </a:prstGeom>
          <a:noFill/>
          <a:ln/>
        </p:spPr>
        <p:txBody>
          <a:bodyPr wrap="square" lIns="0" tIns="0" rIns="0" bIns="0" rtlCol="0" anchor="ctr"/>
          <a:lstStyle/>
          <a:p>
            <a:pPr indent="0" marL="0">
              <a:lnSpc>
                <a:spcPts val="1600"/>
              </a:lnSpc>
              <a:buNone/>
            </a:pPr>
            <a:r>
              <a:rPr lang="en-US" sz="1250" dirty="0">
                <a:solidFill>
                  <a:srgbClr val="6B7C85"/>
                </a:solidFill>
                <a:latin typeface="Calibri" pitchFamily="34" charset="0"/>
                <a:ea typeface="Calibri" pitchFamily="34" charset="-122"/>
                <a:cs typeface="Calibri" pitchFamily="34" charset="-120"/>
              </a:rPr>
              <a:t>Sales decrement on-hand, so pace against plan, reorder-point crossings and the exception queue all move while the day runs. Fourteen trading hours take about ninety seconds.</a:t>
            </a:r>
            <a:endParaRPr lang="en-US" sz="1250" dirty="0"/>
          </a:p>
        </p:txBody>
      </p:sp>
      <p:sp>
        <p:nvSpPr>
          <p:cNvPr id="16" name="Shape 14"/>
          <p:cNvSpPr/>
          <p:nvPr/>
        </p:nvSpPr>
        <p:spPr>
          <a:xfrm>
            <a:off x="6446520" y="1517904"/>
            <a:ext cx="5166360" cy="4023360"/>
          </a:xfrm>
          <a:prstGeom prst="roundRect">
            <a:avLst>
              <a:gd name="adj" fmla="val 1364"/>
            </a:avLst>
          </a:prstGeom>
          <a:solidFill>
            <a:srgbClr val="0E2A33"/>
          </a:solidFill>
          <a:ln w="9525">
            <a:solidFill>
              <a:srgbClr val="0E2A33"/>
            </a:solidFill>
            <a:prstDash val="solid"/>
          </a:ln>
          <a:effectLst>
            <a:outerShdw sx="100000" sy="100000" kx="0" ky="0" algn="bl" rotWithShape="0" blurRad="127000" dist="25400" dir="5400000">
              <a:srgbClr val="9FB0B7">
                <a:alpha val="32000"/>
              </a:srgbClr>
            </a:outerShdw>
          </a:effectLst>
        </p:spPr>
      </p:sp>
      <p:sp>
        <p:nvSpPr>
          <p:cNvPr id="17" name="Text 15"/>
          <p:cNvSpPr txBox="1"/>
          <p:nvPr/>
        </p:nvSpPr>
        <p:spPr>
          <a:xfrm>
            <a:off x="6748272" y="1773936"/>
            <a:ext cx="4572000" cy="237744"/>
          </a:xfrm>
          <a:prstGeom prst="rect">
            <a:avLst/>
          </a:prstGeom>
          <a:noFill/>
          <a:ln/>
        </p:spPr>
        <p:txBody>
          <a:bodyPr wrap="square" lIns="0" tIns="0" rIns="0" bIns="0" rtlCol="0" anchor="ctr"/>
          <a:lstStyle/>
          <a:p>
            <a:pPr indent="0" marL="0">
              <a:buNone/>
            </a:pPr>
            <a:r>
              <a:rPr lang="en-US" sz="1050" b="1" spc="130" kern="0" dirty="0">
                <a:solidFill>
                  <a:srgbClr val="39B7A4"/>
                </a:solidFill>
                <a:latin typeface="Calibri" pitchFamily="34" charset="0"/>
                <a:ea typeface="Calibri" pitchFamily="34" charset="-122"/>
                <a:cs typeface="Calibri" pitchFamily="34" charset="-120"/>
              </a:rPr>
              <a:t>WHAT A PLANNER WATCHES FOR</a:t>
            </a:r>
            <a:endParaRPr lang="en-US" sz="1050" dirty="0"/>
          </a:p>
        </p:txBody>
      </p:sp>
      <p:sp>
        <p:nvSpPr>
          <p:cNvPr id="18" name="Shape 16"/>
          <p:cNvSpPr/>
          <p:nvPr/>
        </p:nvSpPr>
        <p:spPr>
          <a:xfrm>
            <a:off x="6748272" y="2221992"/>
            <a:ext cx="155448" cy="155448"/>
          </a:xfrm>
          <a:prstGeom prst="ellipse">
            <a:avLst/>
          </a:prstGeom>
          <a:solidFill>
            <a:srgbClr val="39B7A4"/>
          </a:solidFill>
          <a:ln/>
        </p:spPr>
      </p:sp>
      <p:sp>
        <p:nvSpPr>
          <p:cNvPr id="19" name="Text 17"/>
          <p:cNvSpPr txBox="1"/>
          <p:nvPr/>
        </p:nvSpPr>
        <p:spPr>
          <a:xfrm>
            <a:off x="7022592" y="2157984"/>
            <a:ext cx="434340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Pace vs plan</a:t>
            </a:r>
            <a:endParaRPr lang="en-US" sz="1300" dirty="0"/>
          </a:p>
        </p:txBody>
      </p:sp>
      <p:sp>
        <p:nvSpPr>
          <p:cNvPr id="20" name="Text 18"/>
          <p:cNvSpPr txBox="1"/>
          <p:nvPr/>
        </p:nvSpPr>
        <p:spPr>
          <a:xfrm>
            <a:off x="7022592" y="2414016"/>
            <a:ext cx="4297680" cy="457200"/>
          </a:xfrm>
          <a:prstGeom prst="rect">
            <a:avLst/>
          </a:prstGeom>
          <a:noFill/>
          <a:ln/>
        </p:spPr>
        <p:txBody>
          <a:bodyPr wrap="square" lIns="0" tIns="0" rIns="0" bIns="0" rtlCol="0" anchor="ctr"/>
          <a:lstStyle/>
          <a:p>
            <a:pPr indent="0" marL="0">
              <a:lnSpc>
                <a:spcPts val="1500"/>
              </a:lnSpc>
              <a:buNone/>
            </a:pPr>
            <a:r>
              <a:rPr lang="en-US" sz="1150" dirty="0">
                <a:solidFill>
                  <a:srgbClr val="A0B6BD"/>
                </a:solidFill>
                <a:latin typeface="Calibri" pitchFamily="34" charset="0"/>
                <a:ea typeface="Calibri" pitchFamily="34" charset="-122"/>
                <a:cs typeface="Calibri" pitchFamily="34" charset="-120"/>
              </a:rPr>
              <a:t>cumulative sales against the expected intraday curve, as a single percentage</a:t>
            </a:r>
            <a:endParaRPr lang="en-US" sz="1150" dirty="0"/>
          </a:p>
        </p:txBody>
      </p:sp>
      <p:sp>
        <p:nvSpPr>
          <p:cNvPr id="21" name="Shape 19"/>
          <p:cNvSpPr/>
          <p:nvPr/>
        </p:nvSpPr>
        <p:spPr>
          <a:xfrm>
            <a:off x="6748272" y="3063240"/>
            <a:ext cx="155448" cy="155448"/>
          </a:xfrm>
          <a:prstGeom prst="ellipse">
            <a:avLst/>
          </a:prstGeom>
          <a:solidFill>
            <a:srgbClr val="39B7A4"/>
          </a:solidFill>
          <a:ln/>
        </p:spPr>
      </p:sp>
      <p:sp>
        <p:nvSpPr>
          <p:cNvPr id="22" name="Text 20"/>
          <p:cNvSpPr txBox="1"/>
          <p:nvPr/>
        </p:nvSpPr>
        <p:spPr>
          <a:xfrm>
            <a:off x="7022592" y="2999232"/>
            <a:ext cx="434340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Cover falling below lead time</a:t>
            </a:r>
            <a:endParaRPr lang="en-US" sz="1300" dirty="0"/>
          </a:p>
        </p:txBody>
      </p:sp>
      <p:sp>
        <p:nvSpPr>
          <p:cNvPr id="23" name="Text 21"/>
          <p:cNvSpPr txBox="1"/>
          <p:nvPr/>
        </p:nvSpPr>
        <p:spPr>
          <a:xfrm>
            <a:off x="7022592" y="3255264"/>
            <a:ext cx="4297680" cy="457200"/>
          </a:xfrm>
          <a:prstGeom prst="rect">
            <a:avLst/>
          </a:prstGeom>
          <a:noFill/>
          <a:ln/>
        </p:spPr>
        <p:txBody>
          <a:bodyPr wrap="square" lIns="0" tIns="0" rIns="0" bIns="0" rtlCol="0" anchor="ctr"/>
          <a:lstStyle/>
          <a:p>
            <a:pPr indent="0" marL="0">
              <a:lnSpc>
                <a:spcPts val="1500"/>
              </a:lnSpc>
              <a:buNone/>
            </a:pPr>
            <a:r>
              <a:rPr lang="en-US" sz="1150" dirty="0">
                <a:solidFill>
                  <a:srgbClr val="A0B6BD"/>
                </a:solidFill>
                <a:latin typeface="Calibri" pitchFamily="34" charset="0"/>
                <a:ea typeface="Calibri" pitchFamily="34" charset="-122"/>
                <a:cs typeface="Calibri" pitchFamily="34" charset="-120"/>
              </a:rPr>
              <a:t>the line will stock out before any purchase order can land</a:t>
            </a:r>
            <a:endParaRPr lang="en-US" sz="1150" dirty="0"/>
          </a:p>
        </p:txBody>
      </p:sp>
      <p:sp>
        <p:nvSpPr>
          <p:cNvPr id="24" name="Shape 22"/>
          <p:cNvSpPr/>
          <p:nvPr/>
        </p:nvSpPr>
        <p:spPr>
          <a:xfrm>
            <a:off x="6748272" y="3904488"/>
            <a:ext cx="155448" cy="155448"/>
          </a:xfrm>
          <a:prstGeom prst="ellipse">
            <a:avLst/>
          </a:prstGeom>
          <a:solidFill>
            <a:srgbClr val="39B7A4"/>
          </a:solidFill>
          <a:ln/>
        </p:spPr>
      </p:sp>
      <p:sp>
        <p:nvSpPr>
          <p:cNvPr id="25" name="Text 23"/>
          <p:cNvSpPr txBox="1"/>
          <p:nvPr/>
        </p:nvSpPr>
        <p:spPr>
          <a:xfrm>
            <a:off x="7022592" y="3840480"/>
            <a:ext cx="434340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Reorder crossings</a:t>
            </a:r>
            <a:endParaRPr lang="en-US" sz="1300" dirty="0"/>
          </a:p>
        </p:txBody>
      </p:sp>
      <p:sp>
        <p:nvSpPr>
          <p:cNvPr id="26" name="Text 24"/>
          <p:cNvSpPr txBox="1"/>
          <p:nvPr/>
        </p:nvSpPr>
        <p:spPr>
          <a:xfrm>
            <a:off x="7022592" y="4096512"/>
            <a:ext cx="4297680" cy="457200"/>
          </a:xfrm>
          <a:prstGeom prst="rect">
            <a:avLst/>
          </a:prstGeom>
          <a:noFill/>
          <a:ln/>
        </p:spPr>
        <p:txBody>
          <a:bodyPr wrap="square" lIns="0" tIns="0" rIns="0" bIns="0" rtlCol="0" anchor="ctr"/>
          <a:lstStyle/>
          <a:p>
            <a:pPr indent="0" marL="0">
              <a:lnSpc>
                <a:spcPts val="1500"/>
              </a:lnSpc>
              <a:buNone/>
            </a:pPr>
            <a:r>
              <a:rPr lang="en-US" sz="1150" dirty="0">
                <a:solidFill>
                  <a:srgbClr val="A0B6BD"/>
                </a:solidFill>
                <a:latin typeface="Calibri" pitchFamily="34" charset="0"/>
                <a:ea typeface="Calibri" pitchFamily="34" charset="-122"/>
                <a:cs typeface="Calibri" pitchFamily="34" charset="-120"/>
              </a:rPr>
              <a:t>position drops through s and the suggested order appears</a:t>
            </a:r>
            <a:endParaRPr lang="en-US" sz="1150" dirty="0"/>
          </a:p>
        </p:txBody>
      </p:sp>
      <p:sp>
        <p:nvSpPr>
          <p:cNvPr id="27" name="Shape 25"/>
          <p:cNvSpPr/>
          <p:nvPr/>
        </p:nvSpPr>
        <p:spPr>
          <a:xfrm>
            <a:off x="6748272" y="4745736"/>
            <a:ext cx="155448" cy="155448"/>
          </a:xfrm>
          <a:prstGeom prst="ellipse">
            <a:avLst/>
          </a:prstGeom>
          <a:solidFill>
            <a:srgbClr val="39B7A4"/>
          </a:solidFill>
          <a:ln/>
        </p:spPr>
      </p:sp>
      <p:sp>
        <p:nvSpPr>
          <p:cNvPr id="28" name="Text 26"/>
          <p:cNvSpPr txBox="1"/>
          <p:nvPr/>
        </p:nvSpPr>
        <p:spPr>
          <a:xfrm>
            <a:off x="7022592" y="4681728"/>
            <a:ext cx="434340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Exception queue re-ranking</a:t>
            </a:r>
            <a:endParaRPr lang="en-US" sz="1300" dirty="0"/>
          </a:p>
        </p:txBody>
      </p:sp>
      <p:sp>
        <p:nvSpPr>
          <p:cNvPr id="29" name="Text 27"/>
          <p:cNvSpPr txBox="1"/>
          <p:nvPr/>
        </p:nvSpPr>
        <p:spPr>
          <a:xfrm>
            <a:off x="7022592" y="4937760"/>
            <a:ext cx="4297680" cy="457200"/>
          </a:xfrm>
          <a:prstGeom prst="rect">
            <a:avLst/>
          </a:prstGeom>
          <a:noFill/>
          <a:ln/>
        </p:spPr>
        <p:txBody>
          <a:bodyPr wrap="square" lIns="0" tIns="0" rIns="0" bIns="0" rtlCol="0" anchor="ctr"/>
          <a:lstStyle/>
          <a:p>
            <a:pPr indent="0" marL="0">
              <a:lnSpc>
                <a:spcPts val="1500"/>
              </a:lnSpc>
              <a:buNone/>
            </a:pPr>
            <a:r>
              <a:rPr lang="en-US" sz="1150" dirty="0">
                <a:solidFill>
                  <a:srgbClr val="A0B6BD"/>
                </a:solidFill>
                <a:latin typeface="Calibri" pitchFamily="34" charset="0"/>
                <a:ea typeface="Calibri" pitchFamily="34" charset="-122"/>
                <a:cs typeface="Calibri" pitchFamily="34" charset="-120"/>
              </a:rPr>
              <a:t>worst lines first, by margin at risk rather than by unit count</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60" kern="0" dirty="0">
                <a:solidFill>
                  <a:srgbClr val="0F8A7E"/>
                </a:solidFill>
                <a:latin typeface="Calibri" pitchFamily="34" charset="0"/>
                <a:ea typeface="Calibri" pitchFamily="34" charset="-122"/>
                <a:cs typeface="Calibri" pitchFamily="34" charset="-120"/>
              </a:rPr>
              <a:t>ARCHITECTURE</a:t>
            </a:r>
            <a:endParaRPr lang="en-US" sz="1150" dirty="0"/>
          </a:p>
        </p:txBody>
      </p:sp>
      <p:sp>
        <p:nvSpPr>
          <p:cNvPr id="3" name="Text 1"/>
          <p:cNvSpPr txBox="1"/>
          <p:nvPr/>
        </p:nvSpPr>
        <p:spPr>
          <a:xfrm>
            <a:off x="566928" y="621792"/>
            <a:ext cx="11064240" cy="566928"/>
          </a:xfrm>
          <a:prstGeom prst="rect">
            <a:avLst/>
          </a:prstGeom>
          <a:noFill/>
          <a:ln/>
        </p:spPr>
        <p:txBody>
          <a:bodyPr wrap="square" lIns="0" tIns="0" rIns="0" bIns="0" rtlCol="0" anchor="ctr"/>
          <a:lstStyle/>
          <a:p>
            <a:pPr indent="0" marL="0">
              <a:buNone/>
            </a:pPr>
            <a:r>
              <a:rPr lang="en-US" sz="3200" b="1" dirty="0">
                <a:solidFill>
                  <a:srgbClr val="0E2A33"/>
                </a:solidFill>
                <a:latin typeface="Cambria" pitchFamily="34" charset="0"/>
                <a:ea typeface="Cambria" pitchFamily="34" charset="-122"/>
                <a:cs typeface="Cambria" pitchFamily="34" charset="-120"/>
              </a:rPr>
              <a:t>Offline where it should be, live where it matters</a:t>
            </a:r>
            <a:endParaRPr lang="en-US" sz="3200" dirty="0"/>
          </a:p>
        </p:txBody>
      </p:sp>
      <p:sp>
        <p:nvSpPr>
          <p:cNvPr id="4" name="Shape 2"/>
          <p:cNvSpPr/>
          <p:nvPr/>
        </p:nvSpPr>
        <p:spPr>
          <a:xfrm>
            <a:off x="566928" y="1572768"/>
            <a:ext cx="2487168" cy="2148840"/>
          </a:xfrm>
          <a:prstGeom prst="roundRect">
            <a:avLst>
              <a:gd name="adj" fmla="val 2553"/>
            </a:avLst>
          </a:prstGeom>
          <a:solidFill>
            <a:srgbClr val="F1F5F6"/>
          </a:solidFill>
          <a:ln w="9525">
            <a:solidFill>
              <a:srgbClr val="E2E9EB"/>
            </a:solidFill>
            <a:prstDash val="solid"/>
          </a:ln>
          <a:effectLst>
            <a:outerShdw sx="100000" sy="100000" kx="0" ky="0" algn="bl" rotWithShape="0" blurRad="127000" dist="25400" dir="5400000">
              <a:srgbClr val="9FB0B7">
                <a:alpha val="32000"/>
              </a:srgbClr>
            </a:outerShdw>
          </a:effectLst>
        </p:spPr>
      </p:sp>
      <p:sp>
        <p:nvSpPr>
          <p:cNvPr id="5" name="Shape 3"/>
          <p:cNvSpPr/>
          <p:nvPr/>
        </p:nvSpPr>
        <p:spPr>
          <a:xfrm>
            <a:off x="804672" y="1792224"/>
            <a:ext cx="402336" cy="402336"/>
          </a:xfrm>
          <a:prstGeom prst="ellipse">
            <a:avLst/>
          </a:prstGeom>
          <a:solidFill>
            <a:srgbClr val="0F8A7E"/>
          </a:solidFill>
          <a:ln/>
        </p:spPr>
      </p:sp>
      <p:sp>
        <p:nvSpPr>
          <p:cNvPr id="6" name="Text 4"/>
          <p:cNvSpPr txBox="1"/>
          <p:nvPr/>
        </p:nvSpPr>
        <p:spPr>
          <a:xfrm>
            <a:off x="804672" y="17922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804672" y="2304288"/>
            <a:ext cx="2011680"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Generate</a:t>
            </a:r>
            <a:endParaRPr lang="en-US" sz="1500" dirty="0"/>
          </a:p>
        </p:txBody>
      </p:sp>
      <p:sp>
        <p:nvSpPr>
          <p:cNvPr id="8" name="Text 6"/>
          <p:cNvSpPr txBox="1"/>
          <p:nvPr/>
        </p:nvSpPr>
        <p:spPr>
          <a:xfrm>
            <a:off x="804672" y="2578608"/>
            <a:ext cx="2103120" cy="237744"/>
          </a:xfrm>
          <a:prstGeom prst="rect">
            <a:avLst/>
          </a:prstGeom>
          <a:noFill/>
          <a:ln/>
        </p:spPr>
        <p:txBody>
          <a:bodyPr wrap="square" lIns="0" tIns="0" rIns="0" bIns="0" rtlCol="0" anchor="ctr"/>
          <a:lstStyle/>
          <a:p>
            <a:pPr indent="0" marL="0">
              <a:buNone/>
            </a:pPr>
            <a:r>
              <a:rPr lang="en-US" sz="950" dirty="0">
                <a:solidFill>
                  <a:srgbClr val="0F8A7E"/>
                </a:solidFill>
                <a:latin typeface="Courier New" pitchFamily="34" charset="0"/>
                <a:ea typeface="Courier New" pitchFamily="34" charset="-122"/>
                <a:cs typeface="Courier New" pitchFamily="34" charset="-120"/>
              </a:rPr>
              <a:t>pipeline/generate_data.py</a:t>
            </a:r>
            <a:endParaRPr lang="en-US" sz="950" dirty="0"/>
          </a:p>
        </p:txBody>
      </p:sp>
      <p:sp>
        <p:nvSpPr>
          <p:cNvPr id="9" name="Text 7"/>
          <p:cNvSpPr txBox="1"/>
          <p:nvPr/>
        </p:nvSpPr>
        <p:spPr>
          <a:xfrm>
            <a:off x="804672" y="2852928"/>
            <a:ext cx="2029968" cy="731520"/>
          </a:xfrm>
          <a:prstGeom prst="rect">
            <a:avLst/>
          </a:prstGeom>
          <a:noFill/>
          <a:ln/>
        </p:spPr>
        <p:txBody>
          <a:bodyPr wrap="square" lIns="0" tIns="0" rIns="0" bIns="0" rtlCol="0" anchor="ctr"/>
          <a:lstStyle/>
          <a:p>
            <a:pPr indent="0" marL="0">
              <a:lnSpc>
                <a:spcPts val="1400"/>
              </a:lnSpc>
              <a:buNone/>
            </a:pPr>
            <a:r>
              <a:rPr lang="en-US" sz="1100" dirty="0">
                <a:solidFill>
                  <a:srgbClr val="6B7C85"/>
                </a:solidFill>
                <a:latin typeface="Calibri" pitchFamily="34" charset="0"/>
                <a:ea typeface="Calibri" pitchFamily="34" charset="-122"/>
                <a:cs typeface="Calibri" pitchFamily="34" charset="-120"/>
              </a:rPr>
              <a:t>Seeded demand panel with an explicit data-generating process</a:t>
            </a:r>
            <a:endParaRPr lang="en-US" sz="1100" dirty="0"/>
          </a:p>
        </p:txBody>
      </p:sp>
      <p:sp>
        <p:nvSpPr>
          <p:cNvPr id="10" name="Text 8"/>
          <p:cNvSpPr txBox="1"/>
          <p:nvPr/>
        </p:nvSpPr>
        <p:spPr>
          <a:xfrm>
            <a:off x="3108960" y="2377440"/>
            <a:ext cx="292608" cy="274320"/>
          </a:xfrm>
          <a:prstGeom prst="rect">
            <a:avLst/>
          </a:prstGeom>
          <a:noFill/>
          <a:ln/>
        </p:spPr>
        <p:txBody>
          <a:bodyPr wrap="square" lIns="0" tIns="0" rIns="0" bIns="0" rtlCol="0" anchor="ctr"/>
          <a:lstStyle/>
          <a:p>
            <a:pPr algn="ctr" indent="0" marL="0">
              <a:buNone/>
            </a:pPr>
            <a:r>
              <a:rPr lang="en-US" sz="1700" dirty="0">
                <a:solidFill>
                  <a:srgbClr val="96A4AB"/>
                </a:solidFill>
                <a:latin typeface="Calibri" pitchFamily="34" charset="0"/>
                <a:ea typeface="Calibri" pitchFamily="34" charset="-122"/>
                <a:cs typeface="Calibri" pitchFamily="34" charset="-120"/>
              </a:rPr>
              <a:t>→</a:t>
            </a:r>
            <a:endParaRPr lang="en-US" sz="1700" dirty="0"/>
          </a:p>
        </p:txBody>
      </p:sp>
      <p:sp>
        <p:nvSpPr>
          <p:cNvPr id="11" name="Shape 9"/>
          <p:cNvSpPr/>
          <p:nvPr/>
        </p:nvSpPr>
        <p:spPr>
          <a:xfrm>
            <a:off x="3419856" y="1572768"/>
            <a:ext cx="2487168" cy="2148840"/>
          </a:xfrm>
          <a:prstGeom prst="roundRect">
            <a:avLst>
              <a:gd name="adj" fmla="val 2553"/>
            </a:avLst>
          </a:prstGeom>
          <a:solidFill>
            <a:srgbClr val="F1F5F6"/>
          </a:solidFill>
          <a:ln w="9525">
            <a:solidFill>
              <a:srgbClr val="E2E9EB"/>
            </a:solidFill>
            <a:prstDash val="solid"/>
          </a:ln>
          <a:effectLst>
            <a:outerShdw sx="100000" sy="100000" kx="0" ky="0" algn="bl" rotWithShape="0" blurRad="127000" dist="25400" dir="5400000">
              <a:srgbClr val="9FB0B7">
                <a:alpha val="32000"/>
              </a:srgbClr>
            </a:outerShdw>
          </a:effectLst>
        </p:spPr>
      </p:sp>
      <p:sp>
        <p:nvSpPr>
          <p:cNvPr id="12" name="Shape 10"/>
          <p:cNvSpPr/>
          <p:nvPr/>
        </p:nvSpPr>
        <p:spPr>
          <a:xfrm>
            <a:off x="3657600" y="1792224"/>
            <a:ext cx="402336" cy="402336"/>
          </a:xfrm>
          <a:prstGeom prst="ellipse">
            <a:avLst/>
          </a:prstGeom>
          <a:solidFill>
            <a:srgbClr val="0F8A7E"/>
          </a:solidFill>
          <a:ln/>
        </p:spPr>
      </p:sp>
      <p:sp>
        <p:nvSpPr>
          <p:cNvPr id="13" name="Text 11"/>
          <p:cNvSpPr txBox="1"/>
          <p:nvPr/>
        </p:nvSpPr>
        <p:spPr>
          <a:xfrm>
            <a:off x="3657600" y="17922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3657600" y="2304288"/>
            <a:ext cx="2011680"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Forecast</a:t>
            </a:r>
            <a:endParaRPr lang="en-US" sz="1500" dirty="0"/>
          </a:p>
        </p:txBody>
      </p:sp>
      <p:sp>
        <p:nvSpPr>
          <p:cNvPr id="15" name="Text 13"/>
          <p:cNvSpPr txBox="1"/>
          <p:nvPr/>
        </p:nvSpPr>
        <p:spPr>
          <a:xfrm>
            <a:off x="3657600" y="2578608"/>
            <a:ext cx="2103120" cy="237744"/>
          </a:xfrm>
          <a:prstGeom prst="rect">
            <a:avLst/>
          </a:prstGeom>
          <a:noFill/>
          <a:ln/>
        </p:spPr>
        <p:txBody>
          <a:bodyPr wrap="square" lIns="0" tIns="0" rIns="0" bIns="0" rtlCol="0" anchor="ctr"/>
          <a:lstStyle/>
          <a:p>
            <a:pPr indent="0" marL="0">
              <a:buNone/>
            </a:pPr>
            <a:r>
              <a:rPr lang="en-US" sz="950" dirty="0">
                <a:solidFill>
                  <a:srgbClr val="0F8A7E"/>
                </a:solidFill>
                <a:latin typeface="Courier New" pitchFamily="34" charset="0"/>
                <a:ea typeface="Courier New" pitchFamily="34" charset="-122"/>
                <a:cs typeface="Courier New" pitchFamily="34" charset="-120"/>
              </a:rPr>
              <a:t>pipeline/forecast.py</a:t>
            </a:r>
            <a:endParaRPr lang="en-US" sz="950" dirty="0"/>
          </a:p>
        </p:txBody>
      </p:sp>
      <p:sp>
        <p:nvSpPr>
          <p:cNvPr id="16" name="Text 14"/>
          <p:cNvSpPr txBox="1"/>
          <p:nvPr/>
        </p:nvSpPr>
        <p:spPr>
          <a:xfrm>
            <a:off x="3657600" y="2852928"/>
            <a:ext cx="2029968" cy="731520"/>
          </a:xfrm>
          <a:prstGeom prst="rect">
            <a:avLst/>
          </a:prstGeom>
          <a:noFill/>
          <a:ln/>
        </p:spPr>
        <p:txBody>
          <a:bodyPr wrap="square" lIns="0" tIns="0" rIns="0" bIns="0" rtlCol="0" anchor="ctr"/>
          <a:lstStyle/>
          <a:p>
            <a:pPr indent="0" marL="0">
              <a:lnSpc>
                <a:spcPts val="1400"/>
              </a:lnSpc>
              <a:buNone/>
            </a:pPr>
            <a:r>
              <a:rPr lang="en-US" sz="1100" dirty="0">
                <a:solidFill>
                  <a:srgbClr val="6B7C85"/>
                </a:solidFill>
                <a:latin typeface="Calibri" pitchFamily="34" charset="0"/>
                <a:ea typeface="Calibri" pitchFamily="34" charset="-122"/>
                <a:cs typeface="Calibri" pitchFamily="34" charset="-120"/>
              </a:rPr>
              <a:t>Ridge fit, rolling-origin backtest, horizon-specific intervals</a:t>
            </a:r>
            <a:endParaRPr lang="en-US" sz="1100" dirty="0"/>
          </a:p>
        </p:txBody>
      </p:sp>
      <p:sp>
        <p:nvSpPr>
          <p:cNvPr id="17" name="Text 15"/>
          <p:cNvSpPr txBox="1"/>
          <p:nvPr/>
        </p:nvSpPr>
        <p:spPr>
          <a:xfrm>
            <a:off x="5961888" y="2377440"/>
            <a:ext cx="292608" cy="274320"/>
          </a:xfrm>
          <a:prstGeom prst="rect">
            <a:avLst/>
          </a:prstGeom>
          <a:noFill/>
          <a:ln/>
        </p:spPr>
        <p:txBody>
          <a:bodyPr wrap="square" lIns="0" tIns="0" rIns="0" bIns="0" rtlCol="0" anchor="ctr"/>
          <a:lstStyle/>
          <a:p>
            <a:pPr algn="ctr" indent="0" marL="0">
              <a:buNone/>
            </a:pPr>
            <a:r>
              <a:rPr lang="en-US" sz="1700" dirty="0">
                <a:solidFill>
                  <a:srgbClr val="96A4AB"/>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6272784" y="1572768"/>
            <a:ext cx="2487168" cy="2148840"/>
          </a:xfrm>
          <a:prstGeom prst="roundRect">
            <a:avLst>
              <a:gd name="adj" fmla="val 2553"/>
            </a:avLst>
          </a:prstGeom>
          <a:solidFill>
            <a:srgbClr val="F1F5F6"/>
          </a:solidFill>
          <a:ln w="9525">
            <a:solidFill>
              <a:srgbClr val="E2E9EB"/>
            </a:solidFill>
            <a:prstDash val="solid"/>
          </a:ln>
          <a:effectLst>
            <a:outerShdw sx="100000" sy="100000" kx="0" ky="0" algn="bl" rotWithShape="0" blurRad="127000" dist="25400" dir="5400000">
              <a:srgbClr val="9FB0B7">
                <a:alpha val="32000"/>
              </a:srgbClr>
            </a:outerShdw>
          </a:effectLst>
        </p:spPr>
      </p:sp>
      <p:sp>
        <p:nvSpPr>
          <p:cNvPr id="19" name="Shape 17"/>
          <p:cNvSpPr/>
          <p:nvPr/>
        </p:nvSpPr>
        <p:spPr>
          <a:xfrm>
            <a:off x="6510528" y="1792224"/>
            <a:ext cx="402336" cy="402336"/>
          </a:xfrm>
          <a:prstGeom prst="ellipse">
            <a:avLst/>
          </a:prstGeom>
          <a:solidFill>
            <a:srgbClr val="0F8A7E"/>
          </a:solidFill>
          <a:ln/>
        </p:spPr>
      </p:sp>
      <p:sp>
        <p:nvSpPr>
          <p:cNvPr id="20" name="Text 18"/>
          <p:cNvSpPr txBox="1"/>
          <p:nvPr/>
        </p:nvSpPr>
        <p:spPr>
          <a:xfrm>
            <a:off x="6510528" y="17922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6510528" y="2304288"/>
            <a:ext cx="2011680"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Publish</a:t>
            </a:r>
            <a:endParaRPr lang="en-US" sz="1500" dirty="0"/>
          </a:p>
        </p:txBody>
      </p:sp>
      <p:sp>
        <p:nvSpPr>
          <p:cNvPr id="22" name="Text 20"/>
          <p:cNvSpPr txBox="1"/>
          <p:nvPr/>
        </p:nvSpPr>
        <p:spPr>
          <a:xfrm>
            <a:off x="6510528" y="2578608"/>
            <a:ext cx="2103120" cy="237744"/>
          </a:xfrm>
          <a:prstGeom prst="rect">
            <a:avLst/>
          </a:prstGeom>
          <a:noFill/>
          <a:ln/>
        </p:spPr>
        <p:txBody>
          <a:bodyPr wrap="square" lIns="0" tIns="0" rIns="0" bIns="0" rtlCol="0" anchor="ctr"/>
          <a:lstStyle/>
          <a:p>
            <a:pPr indent="0" marL="0">
              <a:buNone/>
            </a:pPr>
            <a:r>
              <a:rPr lang="en-US" sz="950" dirty="0">
                <a:solidFill>
                  <a:srgbClr val="0F8A7E"/>
                </a:solidFill>
                <a:latin typeface="Courier New" pitchFamily="34" charset="0"/>
                <a:ea typeface="Courier New" pitchFamily="34" charset="-122"/>
                <a:cs typeface="Courier New" pitchFamily="34" charset="-120"/>
              </a:rPr>
              <a:t>public/dashboard.json</a:t>
            </a:r>
            <a:endParaRPr lang="en-US" sz="950" dirty="0"/>
          </a:p>
        </p:txBody>
      </p:sp>
      <p:sp>
        <p:nvSpPr>
          <p:cNvPr id="23" name="Text 21"/>
          <p:cNvSpPr txBox="1"/>
          <p:nvPr/>
        </p:nvSpPr>
        <p:spPr>
          <a:xfrm>
            <a:off x="6510528" y="2852928"/>
            <a:ext cx="2029968" cy="731520"/>
          </a:xfrm>
          <a:prstGeom prst="rect">
            <a:avLst/>
          </a:prstGeom>
          <a:noFill/>
          <a:ln/>
        </p:spPr>
        <p:txBody>
          <a:bodyPr wrap="square" lIns="0" tIns="0" rIns="0" bIns="0" rtlCol="0" anchor="ctr"/>
          <a:lstStyle/>
          <a:p>
            <a:pPr indent="0" marL="0">
              <a:lnSpc>
                <a:spcPts val="1400"/>
              </a:lnSpc>
              <a:buNone/>
            </a:pPr>
            <a:r>
              <a:rPr lang="en-US" sz="1100" dirty="0">
                <a:solidFill>
                  <a:srgbClr val="6B7C85"/>
                </a:solidFill>
                <a:latin typeface="Calibri" pitchFamily="34" charset="0"/>
                <a:ea typeface="Calibri" pitchFamily="34" charset="-122"/>
                <a:cs typeface="Calibri" pitchFamily="34" charset="-120"/>
              </a:rPr>
              <a:t>One ~160 KB payload — refresh the data without a rebuild</a:t>
            </a:r>
            <a:endParaRPr lang="en-US" sz="1100" dirty="0"/>
          </a:p>
        </p:txBody>
      </p:sp>
      <p:sp>
        <p:nvSpPr>
          <p:cNvPr id="24" name="Text 22"/>
          <p:cNvSpPr txBox="1"/>
          <p:nvPr/>
        </p:nvSpPr>
        <p:spPr>
          <a:xfrm>
            <a:off x="8814816" y="2377440"/>
            <a:ext cx="292608" cy="274320"/>
          </a:xfrm>
          <a:prstGeom prst="rect">
            <a:avLst/>
          </a:prstGeom>
          <a:noFill/>
          <a:ln/>
        </p:spPr>
        <p:txBody>
          <a:bodyPr wrap="square" lIns="0" tIns="0" rIns="0" bIns="0" rtlCol="0" anchor="ctr"/>
          <a:lstStyle/>
          <a:p>
            <a:pPr algn="ctr" indent="0" marL="0">
              <a:buNone/>
            </a:pPr>
            <a:r>
              <a:rPr lang="en-US" sz="1700" dirty="0">
                <a:solidFill>
                  <a:srgbClr val="96A4AB"/>
                </a:solidFill>
                <a:latin typeface="Calibri" pitchFamily="34" charset="0"/>
                <a:ea typeface="Calibri" pitchFamily="34" charset="-122"/>
                <a:cs typeface="Calibri" pitchFamily="34" charset="-120"/>
              </a:rPr>
              <a:t>→</a:t>
            </a:r>
            <a:endParaRPr lang="en-US" sz="1700" dirty="0"/>
          </a:p>
        </p:txBody>
      </p:sp>
      <p:sp>
        <p:nvSpPr>
          <p:cNvPr id="25" name="Shape 23"/>
          <p:cNvSpPr/>
          <p:nvPr/>
        </p:nvSpPr>
        <p:spPr>
          <a:xfrm>
            <a:off x="9125712" y="1572768"/>
            <a:ext cx="2487168" cy="2148840"/>
          </a:xfrm>
          <a:prstGeom prst="roundRect">
            <a:avLst>
              <a:gd name="adj" fmla="val 2553"/>
            </a:avLst>
          </a:prstGeom>
          <a:solidFill>
            <a:srgbClr val="F1F5F6"/>
          </a:solidFill>
          <a:ln w="9525">
            <a:solidFill>
              <a:srgbClr val="E2E9EB"/>
            </a:solidFill>
            <a:prstDash val="solid"/>
          </a:ln>
          <a:effectLst>
            <a:outerShdw sx="100000" sy="100000" kx="0" ky="0" algn="bl" rotWithShape="0" blurRad="127000" dist="25400" dir="5400000">
              <a:srgbClr val="9FB0B7">
                <a:alpha val="32000"/>
              </a:srgbClr>
            </a:outerShdw>
          </a:effectLst>
        </p:spPr>
      </p:sp>
      <p:sp>
        <p:nvSpPr>
          <p:cNvPr id="26" name="Shape 24"/>
          <p:cNvSpPr/>
          <p:nvPr/>
        </p:nvSpPr>
        <p:spPr>
          <a:xfrm>
            <a:off x="9363456" y="1792224"/>
            <a:ext cx="402336" cy="402336"/>
          </a:xfrm>
          <a:prstGeom prst="ellipse">
            <a:avLst/>
          </a:prstGeom>
          <a:solidFill>
            <a:srgbClr val="0F8A7E"/>
          </a:solidFill>
          <a:ln/>
        </p:spPr>
      </p:sp>
      <p:sp>
        <p:nvSpPr>
          <p:cNvPr id="27" name="Text 25"/>
          <p:cNvSpPr txBox="1"/>
          <p:nvPr/>
        </p:nvSpPr>
        <p:spPr>
          <a:xfrm>
            <a:off x="9363456" y="17922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8" name="Text 26"/>
          <p:cNvSpPr txBox="1"/>
          <p:nvPr/>
        </p:nvSpPr>
        <p:spPr>
          <a:xfrm>
            <a:off x="9363456" y="2304288"/>
            <a:ext cx="2011680"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Optimise</a:t>
            </a:r>
            <a:endParaRPr lang="en-US" sz="1500" dirty="0"/>
          </a:p>
        </p:txBody>
      </p:sp>
      <p:sp>
        <p:nvSpPr>
          <p:cNvPr id="29" name="Text 27"/>
          <p:cNvSpPr txBox="1"/>
          <p:nvPr/>
        </p:nvSpPr>
        <p:spPr>
          <a:xfrm>
            <a:off x="9363456" y="2578608"/>
            <a:ext cx="2103120" cy="237744"/>
          </a:xfrm>
          <a:prstGeom prst="rect">
            <a:avLst/>
          </a:prstGeom>
          <a:noFill/>
          <a:ln/>
        </p:spPr>
        <p:txBody>
          <a:bodyPr wrap="square" lIns="0" tIns="0" rIns="0" bIns="0" rtlCol="0" anchor="ctr"/>
          <a:lstStyle/>
          <a:p>
            <a:pPr indent="0" marL="0">
              <a:buNone/>
            </a:pPr>
            <a:r>
              <a:rPr lang="en-US" sz="950" dirty="0">
                <a:solidFill>
                  <a:srgbClr val="0F8A7E"/>
                </a:solidFill>
                <a:latin typeface="Courier New" pitchFamily="34" charset="0"/>
                <a:ea typeface="Courier New" pitchFamily="34" charset="-122"/>
                <a:cs typeface="Courier New" pitchFamily="34" charset="-120"/>
              </a:rPr>
              <a:t>src/lib/inventory.ts</a:t>
            </a:r>
            <a:endParaRPr lang="en-US" sz="950" dirty="0"/>
          </a:p>
        </p:txBody>
      </p:sp>
      <p:sp>
        <p:nvSpPr>
          <p:cNvPr id="30" name="Text 28"/>
          <p:cNvSpPr txBox="1"/>
          <p:nvPr/>
        </p:nvSpPr>
        <p:spPr>
          <a:xfrm>
            <a:off x="9363456" y="2852928"/>
            <a:ext cx="2029968" cy="731520"/>
          </a:xfrm>
          <a:prstGeom prst="rect">
            <a:avLst/>
          </a:prstGeom>
          <a:noFill/>
          <a:ln/>
        </p:spPr>
        <p:txBody>
          <a:bodyPr wrap="square" lIns="0" tIns="0" rIns="0" bIns="0" rtlCol="0" anchor="ctr"/>
          <a:lstStyle/>
          <a:p>
            <a:pPr indent="0" marL="0">
              <a:lnSpc>
                <a:spcPts val="1400"/>
              </a:lnSpc>
              <a:buNone/>
            </a:pPr>
            <a:r>
              <a:rPr lang="en-US" sz="1100" dirty="0">
                <a:solidFill>
                  <a:srgbClr val="6B7C85"/>
                </a:solidFill>
                <a:latin typeface="Calibri" pitchFamily="34" charset="0"/>
                <a:ea typeface="Calibri" pitchFamily="34" charset="-122"/>
                <a:cs typeface="Calibri" pitchFamily="34" charset="-120"/>
              </a:rPr>
              <a:t>Policy maths in the browser, recomputed on every input change</a:t>
            </a:r>
            <a:endParaRPr lang="en-US" sz="1100" dirty="0"/>
          </a:p>
        </p:txBody>
      </p:sp>
      <p:sp>
        <p:nvSpPr>
          <p:cNvPr id="31" name="Text 29"/>
          <p:cNvSpPr txBox="1"/>
          <p:nvPr/>
        </p:nvSpPr>
        <p:spPr>
          <a:xfrm>
            <a:off x="566928" y="3977640"/>
            <a:ext cx="5394960" cy="274320"/>
          </a:xfrm>
          <a:prstGeom prst="rect">
            <a:avLst/>
          </a:prstGeom>
          <a:noFill/>
          <a:ln/>
        </p:spPr>
        <p:txBody>
          <a:bodyPr wrap="square" lIns="0" tIns="0" rIns="0" bIns="0" rtlCol="0" anchor="ctr"/>
          <a:lstStyle/>
          <a:p>
            <a:pPr indent="0" marL="0">
              <a:buNone/>
            </a:pPr>
            <a:r>
              <a:rPr lang="en-US" sz="1400" b="1" dirty="0">
                <a:solidFill>
                  <a:srgbClr val="0E2A33"/>
                </a:solidFill>
                <a:latin typeface="Calibri" pitchFamily="34" charset="0"/>
                <a:ea typeface="Calibri" pitchFamily="34" charset="-122"/>
                <a:cs typeface="Calibri" pitchFamily="34" charset="-120"/>
              </a:rPr>
              <a:t>Stack</a:t>
            </a:r>
            <a:endParaRPr lang="en-US" sz="1400" dirty="0"/>
          </a:p>
        </p:txBody>
      </p:sp>
      <p:sp>
        <p:nvSpPr>
          <p:cNvPr id="32" name="Text 30"/>
          <p:cNvSpPr txBox="1"/>
          <p:nvPr/>
        </p:nvSpPr>
        <p:spPr>
          <a:xfrm>
            <a:off x="566928" y="4297680"/>
            <a:ext cx="5394960" cy="155448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6B7C85"/>
                </a:solidFill>
                <a:latin typeface="Calibri" pitchFamily="34" charset="0"/>
                <a:ea typeface="Calibri" pitchFamily="34" charset="-122"/>
                <a:cs typeface="Calibri" pitchFamily="34" charset="-120"/>
              </a:rPr>
              <a:t>Python · NumPy · pandas — forecasting pipeline, no ML framework dependency</a:t>
            </a:r>
            <a:endParaRPr lang="en-US" sz="1250" dirty="0"/>
          </a:p>
          <a:p>
            <a:pPr marL="342900" indent="-342900">
              <a:spcAft>
                <a:spcPts val="600"/>
              </a:spcAft>
              <a:buSzPct val="100000"/>
              <a:buChar char="•"/>
            </a:pPr>
            <a:r>
              <a:rPr lang="en-US" sz="1250" dirty="0">
                <a:solidFill>
                  <a:srgbClr val="6B7C85"/>
                </a:solidFill>
                <a:latin typeface="Calibri" pitchFamily="34" charset="0"/>
                <a:ea typeface="Calibri" pitchFamily="34" charset="-122"/>
                <a:cs typeface="Calibri" pitchFamily="34" charset="-120"/>
              </a:rPr>
              <a:t>TypeScript · React · Vite · Recharts — dashboard, strict mode, no runtime backend</a:t>
            </a:r>
            <a:endParaRPr lang="en-US" sz="1250" dirty="0"/>
          </a:p>
          <a:p>
            <a:pPr marL="342900" indent="-342900">
              <a:spcAft>
                <a:spcPts val="600"/>
              </a:spcAft>
              <a:buSzPct val="100000"/>
              <a:buChar char="•"/>
            </a:pPr>
            <a:r>
              <a:rPr lang="en-US" sz="1250" dirty="0">
                <a:solidFill>
                  <a:srgbClr val="6B7C85"/>
                </a:solidFill>
                <a:latin typeface="Calibri" pitchFamily="34" charset="0"/>
                <a:ea typeface="Calibri" pitchFamily="34" charset="-122"/>
                <a:cs typeface="Calibri" pitchFamily="34" charset="-120"/>
              </a:rPr>
              <a:t>Netlify — static hosting; the JSON payload is fetched at load, not bundled</a:t>
            </a:r>
            <a:endParaRPr lang="en-US" sz="1250" dirty="0"/>
          </a:p>
        </p:txBody>
      </p:sp>
      <p:sp>
        <p:nvSpPr>
          <p:cNvPr id="33" name="Text 31"/>
          <p:cNvSpPr txBox="1"/>
          <p:nvPr/>
        </p:nvSpPr>
        <p:spPr>
          <a:xfrm>
            <a:off x="6217920" y="3977640"/>
            <a:ext cx="5394960" cy="274320"/>
          </a:xfrm>
          <a:prstGeom prst="rect">
            <a:avLst/>
          </a:prstGeom>
          <a:noFill/>
          <a:ln/>
        </p:spPr>
        <p:txBody>
          <a:bodyPr wrap="square" lIns="0" tIns="0" rIns="0" bIns="0" rtlCol="0" anchor="ctr"/>
          <a:lstStyle/>
          <a:p>
            <a:pPr indent="0" marL="0">
              <a:buNone/>
            </a:pPr>
            <a:r>
              <a:rPr lang="en-US" sz="1400" b="1" dirty="0">
                <a:solidFill>
                  <a:srgbClr val="0E2A33"/>
                </a:solidFill>
                <a:latin typeface="Calibri" pitchFamily="34" charset="0"/>
                <a:ea typeface="Calibri" pitchFamily="34" charset="-122"/>
                <a:cs typeface="Calibri" pitchFamily="34" charset="-120"/>
              </a:rPr>
              <a:t>Engineering decisions worth naming</a:t>
            </a:r>
            <a:endParaRPr lang="en-US" sz="1400" dirty="0"/>
          </a:p>
        </p:txBody>
      </p:sp>
      <p:sp>
        <p:nvSpPr>
          <p:cNvPr id="34" name="Text 32"/>
          <p:cNvSpPr txBox="1"/>
          <p:nvPr/>
        </p:nvSpPr>
        <p:spPr>
          <a:xfrm>
            <a:off x="6217920" y="4297680"/>
            <a:ext cx="5394960" cy="155448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6B7C85"/>
                </a:solidFill>
                <a:latin typeface="Calibri" pitchFamily="34" charset="0"/>
                <a:ea typeface="Calibri" pitchFamily="34" charset="-122"/>
                <a:cs typeface="Calibri" pitchFamily="34" charset="-120"/>
              </a:rPr>
              <a:t>Policy maths lives client-side so the network re-optimises instantly</a:t>
            </a:r>
            <a:endParaRPr lang="en-US" sz="1250" dirty="0"/>
          </a:p>
          <a:p>
            <a:pPr marL="342900" indent="-342900">
              <a:spcAft>
                <a:spcPts val="600"/>
              </a:spcAft>
              <a:buSzPct val="100000"/>
              <a:buChar char="•"/>
            </a:pPr>
            <a:r>
              <a:rPr lang="en-US" sz="1250" dirty="0">
                <a:solidFill>
                  <a:srgbClr val="6B7C85"/>
                </a:solidFill>
                <a:latin typeface="Calibri" pitchFamily="34" charset="0"/>
                <a:ea typeface="Calibri" pitchFamily="34" charset="-122"/>
                <a:cs typeface="Calibri" pitchFamily="34" charset="-120"/>
              </a:rPr>
              <a:t>Aggregating forecasts adds variances, never interval widths</a:t>
            </a:r>
            <a:endParaRPr lang="en-US" sz="1250" dirty="0"/>
          </a:p>
          <a:p>
            <a:pPr marL="342900" indent="-342900">
              <a:spcAft>
                <a:spcPts val="600"/>
              </a:spcAft>
              <a:buSzPct val="100000"/>
              <a:buChar char="•"/>
            </a:pPr>
            <a:r>
              <a:rPr lang="en-US" sz="1250" dirty="0">
                <a:solidFill>
                  <a:srgbClr val="6B7C85"/>
                </a:solidFill>
                <a:latin typeface="Calibri" pitchFamily="34" charset="0"/>
                <a:ea typeface="Calibri" pitchFamily="34" charset="-122"/>
                <a:cs typeface="Calibri" pitchFamily="34" charset="-120"/>
              </a:rPr>
              <a:t>Intervals come from backtest residuals by horizon, not from in-sample fit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2A33"/>
        </a:solidFill>
      </p:bgPr>
    </p:bg>
    <p:spTree>
      <p:nvGrpSpPr>
        <p:cNvPr id="1" name=""/>
        <p:cNvGrpSpPr/>
        <p:nvPr/>
      </p:nvGrpSpPr>
      <p:grpSpPr>
        <a:xfrm>
          <a:off x="0" y="0"/>
          <a:ext cx="0" cy="0"/>
          <a:chOff x="0" y="0"/>
          <a:chExt cx="0" cy="0"/>
        </a:xfrm>
      </p:grpSpPr>
      <p:sp>
        <p:nvSpPr>
          <p:cNvPr id="2" name="Shape 0"/>
          <p:cNvSpPr/>
          <p:nvPr/>
        </p:nvSpPr>
        <p:spPr>
          <a:xfrm>
            <a:off x="-1645920" y="3108960"/>
            <a:ext cx="4754880" cy="4754880"/>
          </a:xfrm>
          <a:prstGeom prst="ellipse">
            <a:avLst/>
          </a:prstGeom>
          <a:solidFill>
            <a:srgbClr val="0F8A7E">
              <a:alpha val="16000"/>
            </a:srgbClr>
          </a:solidFill>
          <a:ln/>
        </p:spPr>
      </p:sp>
      <p:sp>
        <p:nvSpPr>
          <p:cNvPr id="3" name="Text 1"/>
          <p:cNvSpPr txBox="1"/>
          <p:nvPr/>
        </p:nvSpPr>
        <p:spPr>
          <a:xfrm>
            <a:off x="566928" y="1097280"/>
            <a:ext cx="8229600" cy="5486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it demonstrates</a:t>
            </a:r>
            <a:endParaRPr lang="en-US" sz="3400" dirty="0"/>
          </a:p>
        </p:txBody>
      </p:sp>
      <p:sp>
        <p:nvSpPr>
          <p:cNvPr id="4" name="Text 2"/>
          <p:cNvSpPr txBox="1"/>
          <p:nvPr/>
        </p:nvSpPr>
        <p:spPr>
          <a:xfrm>
            <a:off x="566928" y="2011680"/>
            <a:ext cx="5120640" cy="292608"/>
          </a:xfrm>
          <a:prstGeom prst="rect">
            <a:avLst/>
          </a:prstGeom>
          <a:noFill/>
          <a:ln/>
        </p:spPr>
        <p:txBody>
          <a:bodyPr wrap="square" lIns="0" tIns="0" rIns="0" bIns="0" rtlCol="0" anchor="ctr"/>
          <a:lstStyle/>
          <a:p>
            <a:pPr indent="0" marL="0">
              <a:buNone/>
            </a:pPr>
            <a:r>
              <a:rPr lang="en-US" sz="1550" b="1" dirty="0">
                <a:solidFill>
                  <a:srgbClr val="39B7A4"/>
                </a:solidFill>
                <a:latin typeface="Calibri" pitchFamily="34" charset="0"/>
                <a:ea typeface="Calibri" pitchFamily="34" charset="-122"/>
                <a:cs typeface="Calibri" pitchFamily="34" charset="-120"/>
              </a:rPr>
              <a:t>Forecasting judgement</a:t>
            </a:r>
            <a:endParaRPr lang="en-US" sz="1550" dirty="0"/>
          </a:p>
        </p:txBody>
      </p:sp>
      <p:sp>
        <p:nvSpPr>
          <p:cNvPr id="5" name="Text 3"/>
          <p:cNvSpPr txBox="1"/>
          <p:nvPr/>
        </p:nvSpPr>
        <p:spPr>
          <a:xfrm>
            <a:off x="566928" y="2340864"/>
            <a:ext cx="5120640" cy="822960"/>
          </a:xfrm>
          <a:prstGeom prst="rect">
            <a:avLst/>
          </a:prstGeom>
          <a:noFill/>
          <a:ln/>
        </p:spPr>
        <p:txBody>
          <a:bodyPr wrap="square" lIns="0" tIns="0" rIns="0" bIns="0" rtlCol="0" anchor="ctr"/>
          <a:lstStyle/>
          <a:p>
            <a:pPr indent="0" marL="0">
              <a:lnSpc>
                <a:spcPts val="1800"/>
              </a:lnSpc>
              <a:buNone/>
            </a:pPr>
            <a:r>
              <a:rPr lang="en-US" sz="1250" dirty="0">
                <a:solidFill>
                  <a:srgbClr val="A9BDC4"/>
                </a:solidFill>
                <a:latin typeface="Calibri" pitchFamily="34" charset="0"/>
                <a:ea typeface="Calibri" pitchFamily="34" charset="-122"/>
                <a:cs typeface="Calibri" pitchFamily="34" charset="-120"/>
              </a:rPr>
              <a:t>A benchmark, an honest backtest, and intervals earned from residuals rather than assumed.</a:t>
            </a:r>
            <a:endParaRPr lang="en-US" sz="1250" dirty="0"/>
          </a:p>
        </p:txBody>
      </p:sp>
      <p:sp>
        <p:nvSpPr>
          <p:cNvPr id="6" name="Text 4"/>
          <p:cNvSpPr txBox="1"/>
          <p:nvPr/>
        </p:nvSpPr>
        <p:spPr>
          <a:xfrm>
            <a:off x="6236208" y="2011680"/>
            <a:ext cx="5120640" cy="292608"/>
          </a:xfrm>
          <a:prstGeom prst="rect">
            <a:avLst/>
          </a:prstGeom>
          <a:noFill/>
          <a:ln/>
        </p:spPr>
        <p:txBody>
          <a:bodyPr wrap="square" lIns="0" tIns="0" rIns="0" bIns="0" rtlCol="0" anchor="ctr"/>
          <a:lstStyle/>
          <a:p>
            <a:pPr indent="0" marL="0">
              <a:buNone/>
            </a:pPr>
            <a:r>
              <a:rPr lang="en-US" sz="1550" b="1" dirty="0">
                <a:solidFill>
                  <a:srgbClr val="39B7A4"/>
                </a:solidFill>
                <a:latin typeface="Calibri" pitchFamily="34" charset="0"/>
                <a:ea typeface="Calibri" pitchFamily="34" charset="-122"/>
                <a:cs typeface="Calibri" pitchFamily="34" charset="-120"/>
              </a:rPr>
              <a:t>Operations research</a:t>
            </a:r>
            <a:endParaRPr lang="en-US" sz="1550" dirty="0"/>
          </a:p>
        </p:txBody>
      </p:sp>
      <p:sp>
        <p:nvSpPr>
          <p:cNvPr id="7" name="Text 5"/>
          <p:cNvSpPr txBox="1"/>
          <p:nvPr/>
        </p:nvSpPr>
        <p:spPr>
          <a:xfrm>
            <a:off x="6236208" y="2340864"/>
            <a:ext cx="5120640" cy="822960"/>
          </a:xfrm>
          <a:prstGeom prst="rect">
            <a:avLst/>
          </a:prstGeom>
          <a:noFill/>
          <a:ln/>
        </p:spPr>
        <p:txBody>
          <a:bodyPr wrap="square" lIns="0" tIns="0" rIns="0" bIns="0" rtlCol="0" anchor="ctr"/>
          <a:lstStyle/>
          <a:p>
            <a:pPr indent="0" marL="0">
              <a:lnSpc>
                <a:spcPts val="1800"/>
              </a:lnSpc>
              <a:buNone/>
            </a:pPr>
            <a:r>
              <a:rPr lang="en-US" sz="1250" dirty="0">
                <a:solidFill>
                  <a:srgbClr val="A9BDC4"/>
                </a:solidFill>
                <a:latin typeface="Calibri" pitchFamily="34" charset="0"/>
                <a:ea typeface="Calibri" pitchFamily="34" charset="-122"/>
                <a:cs typeface="Calibri" pitchFamily="34" charset="-120"/>
              </a:rPr>
              <a:t>Textbook (s, Q) inventory theory applied correctly — including the distinction between service level and fill rate.</a:t>
            </a:r>
            <a:endParaRPr lang="en-US" sz="1250" dirty="0"/>
          </a:p>
        </p:txBody>
      </p:sp>
      <p:sp>
        <p:nvSpPr>
          <p:cNvPr id="8" name="Text 6"/>
          <p:cNvSpPr txBox="1"/>
          <p:nvPr/>
        </p:nvSpPr>
        <p:spPr>
          <a:xfrm>
            <a:off x="566928" y="3383280"/>
            <a:ext cx="5120640" cy="292608"/>
          </a:xfrm>
          <a:prstGeom prst="rect">
            <a:avLst/>
          </a:prstGeom>
          <a:noFill/>
          <a:ln/>
        </p:spPr>
        <p:txBody>
          <a:bodyPr wrap="square" lIns="0" tIns="0" rIns="0" bIns="0" rtlCol="0" anchor="ctr"/>
          <a:lstStyle/>
          <a:p>
            <a:pPr indent="0" marL="0">
              <a:buNone/>
            </a:pPr>
            <a:r>
              <a:rPr lang="en-US" sz="1550" b="1" dirty="0">
                <a:solidFill>
                  <a:srgbClr val="39B7A4"/>
                </a:solidFill>
                <a:latin typeface="Calibri" pitchFamily="34" charset="0"/>
                <a:ea typeface="Calibri" pitchFamily="34" charset="-122"/>
                <a:cs typeface="Calibri" pitchFamily="34" charset="-120"/>
              </a:rPr>
              <a:t>Product sense</a:t>
            </a:r>
            <a:endParaRPr lang="en-US" sz="1550" dirty="0"/>
          </a:p>
        </p:txBody>
      </p:sp>
      <p:sp>
        <p:nvSpPr>
          <p:cNvPr id="9" name="Text 7"/>
          <p:cNvSpPr txBox="1"/>
          <p:nvPr/>
        </p:nvSpPr>
        <p:spPr>
          <a:xfrm>
            <a:off x="566928" y="3712464"/>
            <a:ext cx="5120640" cy="822960"/>
          </a:xfrm>
          <a:prstGeom prst="rect">
            <a:avLst/>
          </a:prstGeom>
          <a:noFill/>
          <a:ln/>
        </p:spPr>
        <p:txBody>
          <a:bodyPr wrap="square" lIns="0" tIns="0" rIns="0" bIns="0" rtlCol="0" anchor="ctr"/>
          <a:lstStyle/>
          <a:p>
            <a:pPr indent="0" marL="0">
              <a:lnSpc>
                <a:spcPts val="1800"/>
              </a:lnSpc>
              <a:buNone/>
            </a:pPr>
            <a:r>
              <a:rPr lang="en-US" sz="1250" dirty="0">
                <a:solidFill>
                  <a:srgbClr val="A9BDC4"/>
                </a:solidFill>
                <a:latin typeface="Calibri" pitchFamily="34" charset="0"/>
                <a:ea typeface="Calibri" pitchFamily="34" charset="-122"/>
                <a:cs typeface="Calibri" pitchFamily="34" charset="-120"/>
              </a:rPr>
              <a:t>The output is a queue of decisions with quantities attached, not a wall of charts.</a:t>
            </a:r>
            <a:endParaRPr lang="en-US" sz="1250" dirty="0"/>
          </a:p>
        </p:txBody>
      </p:sp>
      <p:sp>
        <p:nvSpPr>
          <p:cNvPr id="10" name="Text 8"/>
          <p:cNvSpPr txBox="1"/>
          <p:nvPr/>
        </p:nvSpPr>
        <p:spPr>
          <a:xfrm>
            <a:off x="6236208" y="3383280"/>
            <a:ext cx="5120640" cy="292608"/>
          </a:xfrm>
          <a:prstGeom prst="rect">
            <a:avLst/>
          </a:prstGeom>
          <a:noFill/>
          <a:ln/>
        </p:spPr>
        <p:txBody>
          <a:bodyPr wrap="square" lIns="0" tIns="0" rIns="0" bIns="0" rtlCol="0" anchor="ctr"/>
          <a:lstStyle/>
          <a:p>
            <a:pPr indent="0" marL="0">
              <a:buNone/>
            </a:pPr>
            <a:r>
              <a:rPr lang="en-US" sz="1550" b="1" dirty="0">
                <a:solidFill>
                  <a:srgbClr val="39B7A4"/>
                </a:solidFill>
                <a:latin typeface="Calibri" pitchFamily="34" charset="0"/>
                <a:ea typeface="Calibri" pitchFamily="34" charset="-122"/>
                <a:cs typeface="Calibri" pitchFamily="34" charset="-120"/>
              </a:rPr>
              <a:t>Delivery</a:t>
            </a:r>
            <a:endParaRPr lang="en-US" sz="1550" dirty="0"/>
          </a:p>
        </p:txBody>
      </p:sp>
      <p:sp>
        <p:nvSpPr>
          <p:cNvPr id="11" name="Text 9"/>
          <p:cNvSpPr txBox="1"/>
          <p:nvPr/>
        </p:nvSpPr>
        <p:spPr>
          <a:xfrm>
            <a:off x="6236208" y="3712464"/>
            <a:ext cx="5120640" cy="822960"/>
          </a:xfrm>
          <a:prstGeom prst="rect">
            <a:avLst/>
          </a:prstGeom>
          <a:noFill/>
          <a:ln/>
        </p:spPr>
        <p:txBody>
          <a:bodyPr wrap="square" lIns="0" tIns="0" rIns="0" bIns="0" rtlCol="0" anchor="ctr"/>
          <a:lstStyle/>
          <a:p>
            <a:pPr indent="0" marL="0">
              <a:lnSpc>
                <a:spcPts val="1800"/>
              </a:lnSpc>
              <a:buNone/>
            </a:pPr>
            <a:r>
              <a:rPr lang="en-US" sz="1250" dirty="0">
                <a:solidFill>
                  <a:srgbClr val="A9BDC4"/>
                </a:solidFill>
                <a:latin typeface="Calibri" pitchFamily="34" charset="0"/>
                <a:ea typeface="Calibri" pitchFamily="34" charset="-122"/>
                <a:cs typeface="Calibri" pitchFamily="34" charset="-120"/>
              </a:rPr>
              <a:t>Pipeline, dashboard, repository and a public deployment, end to end.</a:t>
            </a:r>
            <a:endParaRPr lang="en-US" sz="1250" dirty="0"/>
          </a:p>
        </p:txBody>
      </p:sp>
      <p:sp>
        <p:nvSpPr>
          <p:cNvPr id="12" name="Text 10"/>
          <p:cNvSpPr txBox="1"/>
          <p:nvPr/>
        </p:nvSpPr>
        <p:spPr>
          <a:xfrm>
            <a:off x="566928" y="5212080"/>
            <a:ext cx="5486400" cy="640080"/>
          </a:xfrm>
          <a:prstGeom prst="rect">
            <a:avLst/>
          </a:prstGeom>
          <a:noFill/>
          <a:ln/>
        </p:spPr>
        <p:txBody>
          <a:bodyPr wrap="square" lIns="0" tIns="0" rIns="0" bIns="0" rtlCol="0" anchor="ctr"/>
          <a:lstStyle/>
          <a:p>
            <a:pPr indent="0" marL="0">
              <a:lnSpc>
                <a:spcPts val="2000"/>
              </a:lnSpc>
              <a:buNone/>
            </a:pPr>
            <a:r>
              <a:rPr lang="en-US" sz="1100" dirty="0">
                <a:solidFill>
                  <a:srgbClr val="7C959D"/>
                </a:solidFill>
                <a:latin typeface="Calibri" pitchFamily="34" charset="0"/>
                <a:ea typeface="Calibri" pitchFamily="34" charset="-122"/>
                <a:cs typeface="Calibri" pitchFamily="34" charset="-120"/>
              </a:rPr>
              <a:t>Live dashboard
</a:t>
            </a:r>
            <a:pPr indent="0" marL="0">
              <a:lnSpc>
                <a:spcPts val="2000"/>
              </a:lnSpc>
              <a:buNone/>
            </a:pPr>
            <a:r>
              <a:rPr lang="en-US" sz="1500" b="1" dirty="0">
                <a:solidFill>
                  <a:srgbClr val="FFFFFF"/>
                </a:solidFill>
                <a:latin typeface="Calibri" pitchFamily="34" charset="0"/>
                <a:ea typeface="Calibri" pitchFamily="34" charset="-122"/>
                <a:cs typeface="Calibri" pitchFamily="34" charset="-120"/>
              </a:rPr>
              <a:t>retail-demand-forecasting.netlify.app</a:t>
            </a:r>
            <a:endParaRPr lang="en-US" sz="1100" dirty="0"/>
          </a:p>
        </p:txBody>
      </p:sp>
      <p:sp>
        <p:nvSpPr>
          <p:cNvPr id="13" name="Text 11"/>
          <p:cNvSpPr txBox="1"/>
          <p:nvPr/>
        </p:nvSpPr>
        <p:spPr>
          <a:xfrm>
            <a:off x="6217920" y="5212080"/>
            <a:ext cx="5486400" cy="640080"/>
          </a:xfrm>
          <a:prstGeom prst="rect">
            <a:avLst/>
          </a:prstGeom>
          <a:noFill/>
          <a:ln/>
        </p:spPr>
        <p:txBody>
          <a:bodyPr wrap="square" lIns="0" tIns="0" rIns="0" bIns="0" rtlCol="0" anchor="ctr"/>
          <a:lstStyle/>
          <a:p>
            <a:pPr indent="0" marL="0">
              <a:lnSpc>
                <a:spcPts val="2000"/>
              </a:lnSpc>
              <a:buNone/>
            </a:pPr>
            <a:r>
              <a:rPr lang="en-US" sz="1100" dirty="0">
                <a:solidFill>
                  <a:srgbClr val="7C959D"/>
                </a:solidFill>
                <a:latin typeface="Calibri" pitchFamily="34" charset="0"/>
                <a:ea typeface="Calibri" pitchFamily="34" charset="-122"/>
                <a:cs typeface="Calibri" pitchFamily="34" charset="-120"/>
              </a:rPr>
              <a:t>Source
</a:t>
            </a:r>
            <a:pPr indent="0" marL="0">
              <a:lnSpc>
                <a:spcPts val="2000"/>
              </a:lnSpc>
              <a:buNone/>
            </a:pPr>
            <a:r>
              <a:rPr lang="en-US" sz="1500" b="1" dirty="0">
                <a:solidFill>
                  <a:srgbClr val="FFFFFF"/>
                </a:solidFill>
                <a:latin typeface="Calibri" pitchFamily="34" charset="0"/>
                <a:ea typeface="Calibri" pitchFamily="34" charset="-122"/>
                <a:cs typeface="Calibri" pitchFamily="34" charset="-120"/>
              </a:rPr>
              <a:t>github.com/Arnavmishra002/retail-demand-forecasting</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Demand Forecasting &amp; Inventory Optimization</dc:title>
  <dc:subject>PptxGenJS Presentation</dc:subject>
  <dc:creator>Arnav Mishra</dc:creator>
  <cp:lastModifiedBy>Arnav Mishra</cp:lastModifiedBy>
  <cp:revision>1</cp:revision>
  <dcterms:created xsi:type="dcterms:W3CDTF">2026-09-16T05:59:32Z</dcterms:created>
  <dcterms:modified xsi:type="dcterms:W3CDTF">2026-09-16T05:59:32Z</dcterms:modified>
</cp:coreProperties>
</file>